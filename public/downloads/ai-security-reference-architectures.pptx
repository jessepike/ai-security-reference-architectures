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0a2fc2cb2847e7" /><Relationship Type="http://schemas.openxmlformats.org/officeDocument/2006/relationships/extended-properties" Target="/docProps/app.xml" Id="Rbea1e7687c8e4514" /><Relationship Type="http://schemas.openxmlformats.org/officeDocument/2006/relationships/officeDocument" Target="/ppt/presentation.xml" Id="R6bd2732103d14646" /></Relationships>
</file>

<file path=ppt/presentation.xml><?xml version="1.0" encoding="utf-8"?>
<p:presentation xmlns:p="http://schemas.openxmlformats.org/presentationml/2006/main">
  <p:sldMasterIdLst>
    <p:sldMasterId xmlns:r="http://schemas.openxmlformats.org/officeDocument/2006/relationships" id="2147483648" r:id="Ra4f8959413394c26"/>
  </p:sldMasterIdLst>
  <p:notesMasterIdLst>
    <p:notesMasterId xmlns:r="http://schemas.openxmlformats.org/officeDocument/2006/relationships" r:id="R1c3573b45d0044ef"/>
  </p:notesMasterIdLst>
  <p:sldIdLst>
    <p:sldId xmlns:r="http://schemas.openxmlformats.org/officeDocument/2006/relationships" id="256" r:id="R95e231bf91204a4a"/>
    <p:sldId xmlns:r="http://schemas.openxmlformats.org/officeDocument/2006/relationships" id="257" r:id="R5056d4cfe98044a2"/>
    <p:sldId xmlns:r="http://schemas.openxmlformats.org/officeDocument/2006/relationships" id="258" r:id="Ref9f8782c5cb4c1c"/>
    <p:sldId xmlns:r="http://schemas.openxmlformats.org/officeDocument/2006/relationships" id="259" r:id="R218f1911f15a4e3c"/>
    <p:sldId xmlns:r="http://schemas.openxmlformats.org/officeDocument/2006/relationships" id="260" r:id="Ra68451725b8c420f"/>
    <p:sldId xmlns:r="http://schemas.openxmlformats.org/officeDocument/2006/relationships" id="261" r:id="R1f58d30e72a148c4"/>
    <p:sldId xmlns:r="http://schemas.openxmlformats.org/officeDocument/2006/relationships" id="262" r:id="R28ba022bf3bc4e77"/>
    <p:sldId xmlns:r="http://schemas.openxmlformats.org/officeDocument/2006/relationships" id="263" r:id="R9f48b88af5ca4b02"/>
    <p:sldId xmlns:r="http://schemas.openxmlformats.org/officeDocument/2006/relationships" id="264" r:id="R7af46eb197164763"/>
    <p:sldId xmlns:r="http://schemas.openxmlformats.org/officeDocument/2006/relationships" id="265" r:id="R40cb463b0edf4683"/>
    <p:sldId xmlns:r="http://schemas.openxmlformats.org/officeDocument/2006/relationships" id="266" r:id="R5f5c8cf179634b75"/>
    <p:sldId xmlns:r="http://schemas.openxmlformats.org/officeDocument/2006/relationships" id="267" r:id="Ra9027a84e68a4f3e"/>
    <p:sldId xmlns:r="http://schemas.openxmlformats.org/officeDocument/2006/relationships" id="268" r:id="R823b20012c9444f1"/>
    <p:sldId xmlns:r="http://schemas.openxmlformats.org/officeDocument/2006/relationships" id="269" r:id="Ra5c36183877b4653"/>
    <p:sldId xmlns:r="http://schemas.openxmlformats.org/officeDocument/2006/relationships" id="270" r:id="R47ffef58eaf1445f"/>
    <p:sldId xmlns:r="http://schemas.openxmlformats.org/officeDocument/2006/relationships" id="271" r:id="R79643c121fbf485f"/>
    <p:sldId xmlns:r="http://schemas.openxmlformats.org/officeDocument/2006/relationships" id="272" r:id="R312a97a713cb4d79"/>
    <p:sldId xmlns:r="http://schemas.openxmlformats.org/officeDocument/2006/relationships" id="273" r:id="R264451c98ef24a2b"/>
    <p:sldId xmlns:r="http://schemas.openxmlformats.org/officeDocument/2006/relationships" id="274" r:id="Rb081f2367a4b4050"/>
    <p:sldId xmlns:r="http://schemas.openxmlformats.org/officeDocument/2006/relationships" id="275" r:id="R6682fbfd1bcd409e"/>
    <p:sldId xmlns:r="http://schemas.openxmlformats.org/officeDocument/2006/relationships" id="276" r:id="Rc4c684ce92d34b08"/>
    <p:sldId xmlns:r="http://schemas.openxmlformats.org/officeDocument/2006/relationships" id="277" r:id="R853cbec6474e4ad8"/>
    <p:sldId xmlns:r="http://schemas.openxmlformats.org/officeDocument/2006/relationships" id="278" r:id="R45627a66d8fe42ed"/>
    <p:sldId xmlns:r="http://schemas.openxmlformats.org/officeDocument/2006/relationships" id="279" r:id="R4c778dc2d7c04904"/>
    <p:sldId xmlns:r="http://schemas.openxmlformats.org/officeDocument/2006/relationships" id="280" r:id="R6645758b80324557"/>
    <p:sldId xmlns:r="http://schemas.openxmlformats.org/officeDocument/2006/relationships" id="281" r:id="R60e62bf8743e42b7"/>
    <p:sldId xmlns:r="http://schemas.openxmlformats.org/officeDocument/2006/relationships" id="282" r:id="Rc5f10dac2ca94008"/>
    <p:sldId xmlns:r="http://schemas.openxmlformats.org/officeDocument/2006/relationships" id="283" r:id="R54bb7df751d6433d"/>
    <p:sldId xmlns:r="http://schemas.openxmlformats.org/officeDocument/2006/relationships" id="284" r:id="R325301e4d324408c"/>
    <p:sldId xmlns:r="http://schemas.openxmlformats.org/officeDocument/2006/relationships" id="285" r:id="Rf5787a631ae04df8"/>
    <p:sldId xmlns:r="http://schemas.openxmlformats.org/officeDocument/2006/relationships" id="286" r:id="R9556de97aae14d05"/>
    <p:sldId xmlns:r="http://schemas.openxmlformats.org/officeDocument/2006/relationships" id="287" r:id="R26b198c1c9dd444b"/>
    <p:sldId xmlns:r="http://schemas.openxmlformats.org/officeDocument/2006/relationships" id="288" r:id="R6e90ace579ab4ca6"/>
    <p:sldId xmlns:r="http://schemas.openxmlformats.org/officeDocument/2006/relationships" id="289" r:id="R566a2070a6824863"/>
    <p:sldId xmlns:r="http://schemas.openxmlformats.org/officeDocument/2006/relationships" id="290" r:id="R13afdb3956264a70"/>
    <p:sldId xmlns:r="http://schemas.openxmlformats.org/officeDocument/2006/relationships" id="291" r:id="R169da4dd93d541f6"/>
    <p:sldId xmlns:r="http://schemas.openxmlformats.org/officeDocument/2006/relationships" id="292" r:id="Rec796ddbdcbe4f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91b2be84204348" /><Relationship Type="http://schemas.openxmlformats.org/officeDocument/2006/relationships/slideMaster" Target="/ppt/slideMasters/slideMaster1.xml" Id="Ra4f8959413394c26" /><Relationship Type="http://schemas.openxmlformats.org/officeDocument/2006/relationships/notesMaster" Target="/ppt/notesMasters/notesMaster1.xml" Id="R1c3573b45d0044ef" /><Relationship Type="http://schemas.openxmlformats.org/officeDocument/2006/relationships/presProps" Target="/ppt/presProps.xml" Id="Rfd9ba54fd9c84502" /><Relationship Type="http://schemas.openxmlformats.org/officeDocument/2006/relationships/tableStyles" Target="/ppt/tableStyles.xml" Id="R5e569fbff9bf444d" /><Relationship Type="http://schemas.openxmlformats.org/officeDocument/2006/relationships/slide" Target="/ppt/slides/slide1.xml" Id="R95e231bf91204a4a" /><Relationship Type="http://schemas.openxmlformats.org/officeDocument/2006/relationships/slide" Target="/ppt/slides/slide2.xml" Id="R5056d4cfe98044a2" /><Relationship Type="http://schemas.openxmlformats.org/officeDocument/2006/relationships/slide" Target="/ppt/slides/slide3.xml" Id="Ref9f8782c5cb4c1c" /><Relationship Type="http://schemas.openxmlformats.org/officeDocument/2006/relationships/slide" Target="/ppt/slides/slide4.xml" Id="R218f1911f15a4e3c" /><Relationship Type="http://schemas.openxmlformats.org/officeDocument/2006/relationships/slide" Target="/ppt/slides/slide5.xml" Id="Ra68451725b8c420f" /><Relationship Type="http://schemas.openxmlformats.org/officeDocument/2006/relationships/slide" Target="/ppt/slides/slide6.xml" Id="R1f58d30e72a148c4" /><Relationship Type="http://schemas.openxmlformats.org/officeDocument/2006/relationships/slide" Target="/ppt/slides/slide7.xml" Id="R28ba022bf3bc4e77" /><Relationship Type="http://schemas.openxmlformats.org/officeDocument/2006/relationships/slide" Target="/ppt/slides/slide8.xml" Id="R9f48b88af5ca4b02" /><Relationship Type="http://schemas.openxmlformats.org/officeDocument/2006/relationships/slide" Target="/ppt/slides/slide9.xml" Id="R7af46eb197164763" /><Relationship Type="http://schemas.openxmlformats.org/officeDocument/2006/relationships/slide" Target="/ppt/slides/slide10.xml" Id="R40cb463b0edf4683" /><Relationship Type="http://schemas.openxmlformats.org/officeDocument/2006/relationships/slide" Target="/ppt/slides/slide11.xml" Id="R5f5c8cf179634b75" /><Relationship Type="http://schemas.openxmlformats.org/officeDocument/2006/relationships/slide" Target="/ppt/slides/slide12.xml" Id="Ra9027a84e68a4f3e" /><Relationship Type="http://schemas.openxmlformats.org/officeDocument/2006/relationships/slide" Target="/ppt/slides/slide13.xml" Id="R823b20012c9444f1" /><Relationship Type="http://schemas.openxmlformats.org/officeDocument/2006/relationships/slide" Target="/ppt/slides/slide14.xml" Id="Ra5c36183877b4653" /><Relationship Type="http://schemas.openxmlformats.org/officeDocument/2006/relationships/slide" Target="/ppt/slides/slide15.xml" Id="R47ffef58eaf1445f" /><Relationship Type="http://schemas.openxmlformats.org/officeDocument/2006/relationships/slide" Target="/ppt/slides/slide16.xml" Id="R79643c121fbf485f" /><Relationship Type="http://schemas.openxmlformats.org/officeDocument/2006/relationships/slide" Target="/ppt/slides/slide17.xml" Id="R312a97a713cb4d79" /><Relationship Type="http://schemas.openxmlformats.org/officeDocument/2006/relationships/slide" Target="/ppt/slides/slide18.xml" Id="R264451c98ef24a2b" /><Relationship Type="http://schemas.openxmlformats.org/officeDocument/2006/relationships/slide" Target="/ppt/slides/slide19.xml" Id="Rb081f2367a4b4050" /><Relationship Type="http://schemas.openxmlformats.org/officeDocument/2006/relationships/slide" Target="/ppt/slides/slide20.xml" Id="R6682fbfd1bcd409e" /><Relationship Type="http://schemas.openxmlformats.org/officeDocument/2006/relationships/slide" Target="/ppt/slides/slide21.xml" Id="Rc4c684ce92d34b08" /><Relationship Type="http://schemas.openxmlformats.org/officeDocument/2006/relationships/slide" Target="/ppt/slides/slide22.xml" Id="R853cbec6474e4ad8" /><Relationship Type="http://schemas.openxmlformats.org/officeDocument/2006/relationships/slide" Target="/ppt/slides/slide23.xml" Id="R45627a66d8fe42ed" /><Relationship Type="http://schemas.openxmlformats.org/officeDocument/2006/relationships/slide" Target="/ppt/slides/slide24.xml" Id="R4c778dc2d7c04904" /><Relationship Type="http://schemas.openxmlformats.org/officeDocument/2006/relationships/slide" Target="/ppt/slides/slide25.xml" Id="R6645758b80324557" /><Relationship Type="http://schemas.openxmlformats.org/officeDocument/2006/relationships/slide" Target="/ppt/slides/slide26.xml" Id="R60e62bf8743e42b7" /><Relationship Type="http://schemas.openxmlformats.org/officeDocument/2006/relationships/slide" Target="/ppt/slides/slide27.xml" Id="Rc5f10dac2ca94008" /><Relationship Type="http://schemas.openxmlformats.org/officeDocument/2006/relationships/slide" Target="/ppt/slides/slide28.xml" Id="R54bb7df751d6433d" /><Relationship Type="http://schemas.openxmlformats.org/officeDocument/2006/relationships/slide" Target="/ppt/slides/slide29.xml" Id="R325301e4d324408c" /><Relationship Type="http://schemas.openxmlformats.org/officeDocument/2006/relationships/slide" Target="/ppt/slides/slide30.xml" Id="Rf5787a631ae04df8" /><Relationship Type="http://schemas.openxmlformats.org/officeDocument/2006/relationships/slide" Target="/ppt/slides/slide31.xml" Id="R9556de97aae14d05" /><Relationship Type="http://schemas.openxmlformats.org/officeDocument/2006/relationships/slide" Target="/ppt/slides/slide32.xml" Id="R26b198c1c9dd444b" /><Relationship Type="http://schemas.openxmlformats.org/officeDocument/2006/relationships/slide" Target="/ppt/slides/slide33.xml" Id="R6e90ace579ab4ca6" /><Relationship Type="http://schemas.openxmlformats.org/officeDocument/2006/relationships/slide" Target="/ppt/slides/slide34.xml" Id="R566a2070a6824863" /><Relationship Type="http://schemas.openxmlformats.org/officeDocument/2006/relationships/slide" Target="/ppt/slides/slide35.xml" Id="R13afdb3956264a70" /><Relationship Type="http://schemas.openxmlformats.org/officeDocument/2006/relationships/slide" Target="/ppt/slides/slide36.xml" Id="R169da4dd93d541f6" /><Relationship Type="http://schemas.openxmlformats.org/officeDocument/2006/relationships/slide" Target="/ppt/slides/slide37.xml" Id="Rec796ddbdcbe4f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7fbc0914f84b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68003171ef48de" /><Relationship Type="http://schemas.openxmlformats.org/officeDocument/2006/relationships/notesMaster" Target="/ppt/notesMasters/notesMaster1.xml" Id="R1953cd346a2949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bb0614412241ba" /><Relationship Type="http://schemas.openxmlformats.org/officeDocument/2006/relationships/notesMaster" Target="/ppt/notesMasters/notesMaster1.xml" Id="R7967876d11814c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862cb15b8b42c7" /><Relationship Type="http://schemas.openxmlformats.org/officeDocument/2006/relationships/notesMaster" Target="/ppt/notesMasters/notesMaster1.xml" Id="R09d5728b30ae47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db5414f19a4abe" /><Relationship Type="http://schemas.openxmlformats.org/officeDocument/2006/relationships/notesMaster" Target="/ppt/notesMasters/notesMaster1.xml" Id="R7d9c0517e24a40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8b25d86fb94356" /><Relationship Type="http://schemas.openxmlformats.org/officeDocument/2006/relationships/notesMaster" Target="/ppt/notesMasters/notesMaster1.xml" Id="Rf415b97640f44fc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0cc05c2c2a424a" /><Relationship Type="http://schemas.openxmlformats.org/officeDocument/2006/relationships/notesMaster" Target="/ppt/notesMasters/notesMaster1.xml" Id="R3006ae80068746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91511f92ee4be8" /><Relationship Type="http://schemas.openxmlformats.org/officeDocument/2006/relationships/notesMaster" Target="/ppt/notesMasters/notesMaster1.xml" Id="R4eafe033163e4b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fb39bcaeea483b" /><Relationship Type="http://schemas.openxmlformats.org/officeDocument/2006/relationships/notesMaster" Target="/ppt/notesMasters/notesMaster1.xml" Id="R4e16ae2a1d704363"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365ca38a604aca" /><Relationship Type="http://schemas.openxmlformats.org/officeDocument/2006/relationships/notesMaster" Target="/ppt/notesMasters/notesMaster1.xml" Id="R836a72e70aeb40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25eb3e20c24f27" /><Relationship Type="http://schemas.openxmlformats.org/officeDocument/2006/relationships/notesMaster" Target="/ppt/notesMasters/notesMaster1.xml" Id="Rbf17c44ca7c14e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039fadcb0f48bf" /><Relationship Type="http://schemas.openxmlformats.org/officeDocument/2006/relationships/notesMaster" Target="/ppt/notesMasters/notesMaster1.xml" Id="R49bf27c2747147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92f92af3c44ed7" /><Relationship Type="http://schemas.openxmlformats.org/officeDocument/2006/relationships/notesMaster" Target="/ppt/notesMasters/notesMaster1.xml" Id="Ra398984b4a5145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006eeb222014761" /><Relationship Type="http://schemas.openxmlformats.org/officeDocument/2006/relationships/notesMaster" Target="/ppt/notesMasters/notesMaster1.xml" Id="R2da4178fd76f4d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c51aa61b144e86" /><Relationship Type="http://schemas.openxmlformats.org/officeDocument/2006/relationships/notesMaster" Target="/ppt/notesMasters/notesMaster1.xml" Id="R4428d91f5d4f47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627e97abbd47ab" /><Relationship Type="http://schemas.openxmlformats.org/officeDocument/2006/relationships/notesMaster" Target="/ppt/notesMasters/notesMaster1.xml" Id="R3caa9ae9ac094b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c839a79ac54405e" /><Relationship Type="http://schemas.openxmlformats.org/officeDocument/2006/relationships/notesMaster" Target="/ppt/notesMasters/notesMaster1.xml" Id="R0ce0f87d556f40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ba456e50404ee2" /><Relationship Type="http://schemas.openxmlformats.org/officeDocument/2006/relationships/notesMaster" Target="/ppt/notesMasters/notesMaster1.xml" Id="Re96ecc20fa754a7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05904362134461b" /><Relationship Type="http://schemas.openxmlformats.org/officeDocument/2006/relationships/notesMaster" Target="/ppt/notesMasters/notesMaster1.xml" Id="R565c2b9525a0427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a686849716b42d2" /><Relationship Type="http://schemas.openxmlformats.org/officeDocument/2006/relationships/notesMaster" Target="/ppt/notesMasters/notesMaster1.xml" Id="R3becbe077aba439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cdedcb5e4b84506" /><Relationship Type="http://schemas.openxmlformats.org/officeDocument/2006/relationships/notesMaster" Target="/ppt/notesMasters/notesMaster1.xml" Id="R95e009c81f214b1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bb5def010042e0" /><Relationship Type="http://schemas.openxmlformats.org/officeDocument/2006/relationships/notesMaster" Target="/ppt/notesMasters/notesMaster1.xml" Id="R751bddddbf074ea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be6aa2b8ccd4b4f" /><Relationship Type="http://schemas.openxmlformats.org/officeDocument/2006/relationships/notesMaster" Target="/ppt/notesMasters/notesMaster1.xml" Id="R758524bc2069409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678655cb434447c" /><Relationship Type="http://schemas.openxmlformats.org/officeDocument/2006/relationships/notesMaster" Target="/ppt/notesMasters/notesMaster1.xml" Id="R27fd1446945543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6e4e9edefa5477a" /><Relationship Type="http://schemas.openxmlformats.org/officeDocument/2006/relationships/notesMaster" Target="/ppt/notesMasters/notesMaster1.xml" Id="Rc8d312e9fb784f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77c60501074b18" /><Relationship Type="http://schemas.openxmlformats.org/officeDocument/2006/relationships/notesMaster" Target="/ppt/notesMasters/notesMaster1.xml" Id="R7878ca418552404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6116bd941f645d6" /><Relationship Type="http://schemas.openxmlformats.org/officeDocument/2006/relationships/notesMaster" Target="/ppt/notesMasters/notesMaster1.xml" Id="Rde0bb1efb8be438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6fa057dfb0a4bf7" /><Relationship Type="http://schemas.openxmlformats.org/officeDocument/2006/relationships/notesMaster" Target="/ppt/notesMasters/notesMaster1.xml" Id="R1ea1d2bfe7bb445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b2977c09d014fb1" /><Relationship Type="http://schemas.openxmlformats.org/officeDocument/2006/relationships/notesMaster" Target="/ppt/notesMasters/notesMaster1.xml" Id="R31dac5610e9b496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d46cb32a8d14951" /><Relationship Type="http://schemas.openxmlformats.org/officeDocument/2006/relationships/notesMaster" Target="/ppt/notesMasters/notesMaster1.xml" Id="R0b8e816812fa4e5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0dd5a14c68c430c" /><Relationship Type="http://schemas.openxmlformats.org/officeDocument/2006/relationships/notesMaster" Target="/ppt/notesMasters/notesMaster1.xml" Id="R2ec8f25facc94e5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571f72fd9e84500" /><Relationship Type="http://schemas.openxmlformats.org/officeDocument/2006/relationships/notesMaster" Target="/ppt/notesMasters/notesMaster1.xml" Id="Rfa6e8f1393414f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94d739665c24104" /><Relationship Type="http://schemas.openxmlformats.org/officeDocument/2006/relationships/notesMaster" Target="/ppt/notesMasters/notesMaster1.xml" Id="R59f6631ba230486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752013aead1493e" /><Relationship Type="http://schemas.openxmlformats.org/officeDocument/2006/relationships/notesMaster" Target="/ppt/notesMasters/notesMaster1.xml" Id="R528d6baf653941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5b9bf1796414b0f" /><Relationship Type="http://schemas.openxmlformats.org/officeDocument/2006/relationships/notesMaster" Target="/ppt/notesMasters/notesMaster1.xml" Id="Rce22bc66f4d3454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8700eea3e674b74" /><Relationship Type="http://schemas.openxmlformats.org/officeDocument/2006/relationships/notesMaster" Target="/ppt/notesMasters/notesMaster1.xml" Id="R903db6613226445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741ee145e6a43f5" /><Relationship Type="http://schemas.openxmlformats.org/officeDocument/2006/relationships/notesMaster" Target="/ppt/notesMasters/notesMaster1.xml" Id="R8d1a91d50e6c4b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77915a905d74d13" /><Relationship Type="http://schemas.openxmlformats.org/officeDocument/2006/relationships/notesMaster" Target="/ppt/notesMasters/notesMaster1.xml" Id="R52716104fbd949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Open by framing this as a teaching and architecture-discussion package. The deck makes proposed responsibilities and questions visible. It does not select products or approve an implementation.</a:t>
            </a:r>
          </a:p>
          <a:p xmlns:a="http://schemas.openxmlformats.org/drawingml/2006/main">
            <a:r>
              <a:t/>
            </a:r>
          </a:p>
          <a:p xmlns:a="http://schemas.openxmlformats.org/drawingml/2006/main">
            <a:r>
              <a:t>Sources: Series source: https://ai.jessepike.dev/ | NIST Cyber AI Profile: https://www.nccoe.nist.gov/projects/cyber-ai-profile;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Use this sequence to avoid starting with products or unexplained AI terms. The deck keeps the introductory reader and architect reader connected.</a:t>
            </a:r>
          </a:p>
          <a:p xmlns:a="http://schemas.openxmlformats.org/drawingml/2006/main">
            <a:r>
              <a:t/>
            </a:r>
          </a:p>
          <a:p xmlns:a="http://schemas.openxmlformats.org/drawingml/2006/main">
            <a:r>
              <a:t>Sources: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Pause here to keep the authority boundary clear. Readers can use the package to prepare choices and tests, but a real enterprise still needs owners, systems, requirements and acceptance evidence.</a:t>
            </a:r>
          </a:p>
          <a:p xmlns:a="http://schemas.openxmlformats.org/drawingml/2006/main">
            <a:r>
              <a:t/>
            </a:r>
          </a:p>
          <a:p xmlns:a="http://schemas.openxmlformats.org/drawingml/2006/main">
            <a:r>
              <a:t>Sources: Series source: https://ai.jessepike.dev/ | NIST Cyber AI Profile: https://www.nccoe.nist.gov/projects/cyber-ai-profile; CANONICAL-SOURCES.md;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Introduce an AI agent in ordinary terms: an AI-based workflow that can use tools to carry out parts of a task. It has no independent business authority or human accountability.</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Each architecture answers a different question about the same security program. Repeated capabilities across views require explicit interfaces and ownership; they are not duplicate products or teams.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Call out that these are common concerns rather than a centrally prescribed platform. The detailed implementation must assign real owners, systems and measurable acceptance conditions.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Use this visual as an orientation map. Its relationship arrows mean responsibility dependencies, not network traffic, access rights, central ownership or automatic response.</a:t>
            </a:r>
          </a:p>
          <a:p xmlns:a="http://schemas.openxmlformats.org/drawingml/2006/main">
            <a:r>
              <a:t/>
            </a:r>
          </a:p>
          <a:p xmlns:a="http://schemas.openxmlformats.org/drawingml/2006/main">
            <a:r>
              <a:t>Sources: Series source: https://ai.jessepike.dev/ | NIST Cyber AI Profile: https://www.nccoe.nist.gov/projects/cyber-ai-profile; 00-ai-security.png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Keep the business outcome fixed across all three views: pay the right supplier and keep the business running. The views reveal different protections and decisions around that goal.</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familiar anchor is application security and access control. The AI-specific concern is that a workflow can reason over untrusted content and propose actions, so its output needs separate enforcement.</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Read from request through scoped task, restricted runtime, enforcement and resources. The bands are cross-cutting responsibilities, not a sequence. The dashed box marks the agent runtime boundary; enforcement remains outside it.</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01-secure-business-ai.png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This native teaching diagram elaborates the logical view. The real design must determine which calls can be intercepted, where final enforcement lives, how alternate paths are denied, and how controls reduce misuse within granted permissions.</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action check may represent several services. A content classifier can flag risk, but it cannot expand permissions. The receiving resource still needs a final access check.</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A hold and a denial have different operating meanings. Hold preserves a request for a valid decision or missing prerequisite. Denial terminates a prohibited attempt. Both need evidence and a defined disposition.</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architecture does not treat AI as an adversary with intent. It focuses on observable attempts, defensive intervention and verified business recovery.</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Read each row across. Amber represents an attack attempt, teal represents an interrupting boundary, and blue represents a protected asset class. The rows are parallel examples, not a full taxonomy or incident sequence.</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02-defend-against-ai.png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Use MITRE ATT&amp;CK and ATLAS to select scenarios for detailed design. They help name possible behavior; they do not prove local occurrence or control effectiveness.</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decision does not depend on whether a detector labels a message synthetic. Phishing-resistant sign-in helps protect login but does not substitute for transaction authority and independent business verification.</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review calls for explicit interfaces between Architecture 02 and Architecture 01 enforcement decisions, including decision telemetry. Recovery must preserve access to response capabilities and recovery material where feasible.</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Security AI itself needs the protections described in Architecture 01: identity, data, tools, runtime, audit and controlled changes. Architecture 03 adds the flow from evidence through verified outcome.</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Read the main flow left to right. The lower path returns tested updates to analysis only; it does not change authorization or execution controls. The dashed analysis boundary is a separation of responsibility, not an enforcement mechanism by itself.</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03-defend-with-ai.png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output of analysis is a proposal, not an executable command. Authorization is bound to an operation, target, scope, identity, validity and limits. Verification checks the destination system and service condition.</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Mode selection belongs in the use-case record. A useful analytical result does not authorize later autonomous action.</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Two High findings in the independent review concern recovery/rollback authorization and execution identity/delegation. This deck preserves them as open design questions; it does not claim they are resolved by the logical architecture.</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overview identifies shared responsibilities. The reviewer asks for a series-level reconciliation of delegated authority, approval records, enforcement telemetry and controlled recovery.</a:t>
            </a:r>
          </a:p>
          <a:p xmlns:a="http://schemas.openxmlformats.org/drawingml/2006/main">
            <a:r>
              <a:t/>
            </a:r>
          </a:p>
          <a:p xmlns:a="http://schemas.openxmlformats.org/drawingml/2006/main">
            <a:r>
              <a:t>Sources: Series source: https://ai.jessepike.dev/ | NIST Cyber AI Profile: https://www.nccoe.nist.gov/projects/cyber-ai-profile;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An architect should model the approval as a record tied to the actual action rather than a narrative summary. Holds and denials also need records that support later investigation and operational disposition.</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Avoid shared unrestricted service identities. A detailed design needs correlation between the initiator, workflow, delegation, authorization artifact and destination execution identity.</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Telemetry should include control-boundary decisions as well as assets and detections. The detailed design must decide availability, access, provenance, buffering and loss behavior for evidence.</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Use this slide to show why one business event needs several architecture perspectives. It is illustrative, and the exact approval, separation-of-duties and recovery process depend on the enterprise.</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These questions turn a logical reference into detailed architecture work. The architecture does not supply universal thresholds, assigned owners or product selections.</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This is a design sequence, not an adoption timeline. A real deployment needs its own security, business, privacy, continuity and change decisions.</a:t>
            </a:r>
          </a:p>
          <a:p xmlns:a="http://schemas.openxmlformats.org/drawingml/2006/main">
            <a:r>
              <a:t/>
            </a:r>
          </a:p>
          <a:p xmlns:a="http://schemas.openxmlformats.org/drawingml/2006/main">
            <a:r>
              <a:t>Sources: Series authoring standard: https://ai.jessepike.dev/authoring-standard;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These are example acceptance checks to adapt to business consequence and technical behavior. Passing a test does not create general assurance outside the tested scope. Within-permission misuse remains a design question for task constraints and review.</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This was a model-assisted review by Fable 5.1. Treat it as input to a subsequent series-level reconciliation. It is not an acceptance decision or deployment-ready certification.</a:t>
            </a:r>
          </a:p>
          <a:p xmlns:a="http://schemas.openxmlformats.org/drawingml/2006/main">
            <a:r>
              <a:t/>
            </a:r>
          </a:p>
          <a:p xmlns:a="http://schemas.openxmlformats.org/drawingml/2006/main">
            <a:r>
              <a:t>Sources: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These questions include the two High Architecture 03 review findings and the cross-architecture interface work named in the review summary. They remain open for detailed design and owner decision.</a:t>
            </a:r>
          </a:p>
          <a:p xmlns:a="http://schemas.openxmlformats.org/drawingml/2006/main">
            <a:r>
              <a:t/>
            </a:r>
          </a:p>
          <a:p xmlns:a="http://schemas.openxmlformats.org/drawingml/2006/main">
            <a:r>
              <a:t>Sources: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Restate the practical boundary: technical authorization can still lead to an inaccurate, inappropriate or harmful business action. Business purpose and consequences inform the controls.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Use plain language first. These definitions help readers connect ordinary security practice to the architecture vocabulary.</a:t>
            </a:r>
          </a:p>
          <a:p xmlns:a="http://schemas.openxmlformats.org/drawingml/2006/main">
            <a:r>
              <a:t/>
            </a:r>
          </a:p>
          <a:p xmlns:a="http://schemas.openxmlformats.org/drawingml/2006/main">
            <a:r>
              <a:t>Sources: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The canonical sources identify the date and status of each source. Examples and component arrangements in this deck are a proposed synthesis rather than a NIST, MITRE, NCSC, OWASP or CISA reference architecture.</a:t>
            </a:r>
          </a:p>
          <a:p xmlns:a="http://schemas.openxmlformats.org/drawingml/2006/main">
            <a:r>
              <a:t/>
            </a:r>
          </a:p>
          <a:p xmlns:a="http://schemas.openxmlformats.org/drawingml/2006/main">
            <a:r>
              <a:t>Sources: Series source: https://ai.jessepike.dev/ | NIST Cyber AI Profile: https://www.nccoe.nist.gov/projects/cyber-ai-profile;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overview has not received independent review. No slide asserts deployment approval, certification, or demonstrated effectiveness.</a:t>
            </a:r>
          </a:p>
          <a:p xmlns:a="http://schemas.openxmlformats.org/drawingml/2006/main">
            <a:r>
              <a:t/>
            </a:r>
          </a:p>
          <a:p xmlns:a="http://schemas.openxmlformats.org/drawingml/2006/main">
            <a:r>
              <a:t>Close by moving from the reference series to a bounded, accountable design conversation. No deployment decision follows from this deck alone.</a:t>
            </a:r>
          </a:p>
          <a:p xmlns:a="http://schemas.openxmlformats.org/drawingml/2006/main">
            <a:r>
              <a:t/>
            </a:r>
          </a:p>
          <a:p xmlns:a="http://schemas.openxmlformats.org/drawingml/2006/main">
            <a:r>
              <a:t>Sources: Series source: https://ai.jessepike.dev/ | NIST Cyber AI Profile: https://www.nccoe.nist.gov/projects/cyber-ai-profile;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5440d1e3fe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6f6d3fd56748f0" /><Relationship Type="http://schemas.openxmlformats.org/officeDocument/2006/relationships/slideLayout" Target="/ppt/slideLayouts/slideLayout1.xml" Id="R7cb9be7739d747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b9be7739d747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976c635d0294d36" /><Relationship Type="http://schemas.openxmlformats.org/officeDocument/2006/relationships/notesSlide" Target="/ppt/notesSlides/notesSlide1.xml" Id="Rfa1e88856a3048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358fab5d394be8" /><Relationship Type="http://schemas.openxmlformats.org/officeDocument/2006/relationships/notesSlide" Target="/ppt/notesSlides/notesSlide2.xml" Id="R0eba3b640c6940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bdcb8cf8d44f2b" /><Relationship Type="http://schemas.openxmlformats.org/officeDocument/2006/relationships/notesSlide" Target="/ppt/notesSlides/notesSlide3.xml" Id="R8e33e3bedf9440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acd1cfefbb4e5e" /><Relationship Type="http://schemas.openxmlformats.org/officeDocument/2006/relationships/notesSlide" Target="/ppt/notesSlides/notesSlide4.xml" Id="Rdb2f3c1e0d6447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9f5ee1b4db04693" /><Relationship Type="http://schemas.openxmlformats.org/officeDocument/2006/relationships/notesSlide" Target="/ppt/notesSlides/notesSlide5.xml" Id="Rdae322059c5249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53a6a0999044492" /><Relationship Type="http://schemas.openxmlformats.org/officeDocument/2006/relationships/notesSlide" Target="/ppt/notesSlides/notesSlide6.xml" Id="Ra7fe5f7668ea4b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58cabc8ce4645d7" /><Relationship Type="http://schemas.openxmlformats.org/officeDocument/2006/relationships/image" Target="/ppt/media/image.png" Id="R41e51adb105043b4" /><Relationship Type="http://schemas.openxmlformats.org/officeDocument/2006/relationships/notesSlide" Target="/ppt/notesSlides/notesSlide7.xml" Id="Re5171fdeb1014a3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361b7b61d734b38" /><Relationship Type="http://schemas.openxmlformats.org/officeDocument/2006/relationships/notesSlide" Target="/ppt/notesSlides/notesSlide8.xml" Id="R75db3810203a474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918966e4b594a70" /><Relationship Type="http://schemas.openxmlformats.org/officeDocument/2006/relationships/notesSlide" Target="/ppt/notesSlides/notesSlide9.xml" Id="Rb1451fc489c9434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07b859476d4c36" /><Relationship Type="http://schemas.openxmlformats.org/officeDocument/2006/relationships/image" Target="/ppt/media/image2.png" Id="Ra5c78c5160b0401e" /><Relationship Type="http://schemas.openxmlformats.org/officeDocument/2006/relationships/notesSlide" Target="/ppt/notesSlides/notesSlide10.xml" Id="R9363f66762d54c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913a623ad0748f9" /><Relationship Type="http://schemas.openxmlformats.org/officeDocument/2006/relationships/notesSlide" Target="/ppt/notesSlides/notesSlide11.xml" Id="R0a3cc4eee7454c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24ac1107d04d97" /><Relationship Type="http://schemas.openxmlformats.org/officeDocument/2006/relationships/notesSlide" Target="/ppt/notesSlides/notesSlide12.xml" Id="R30919699ebf54f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dac9ec92b404ba9" /><Relationship Type="http://schemas.openxmlformats.org/officeDocument/2006/relationships/notesSlide" Target="/ppt/notesSlides/notesSlide13.xml" Id="Rae03a807272c4d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f9a14d59a1346d1" /><Relationship Type="http://schemas.openxmlformats.org/officeDocument/2006/relationships/notesSlide" Target="/ppt/notesSlides/notesSlide14.xml" Id="R0362f8e7ee6b4fa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db1c4b4d7054637" /><Relationship Type="http://schemas.openxmlformats.org/officeDocument/2006/relationships/image" Target="/ppt/media/image3.png" Id="Rc858366d47c04cec" /><Relationship Type="http://schemas.openxmlformats.org/officeDocument/2006/relationships/notesSlide" Target="/ppt/notesSlides/notesSlide15.xml" Id="R4d6160d1190e428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74da6ba11e44d0c" /><Relationship Type="http://schemas.openxmlformats.org/officeDocument/2006/relationships/notesSlide" Target="/ppt/notesSlides/notesSlide16.xml" Id="Rc1f84393c6ca407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95e01f266bc4a61" /><Relationship Type="http://schemas.openxmlformats.org/officeDocument/2006/relationships/notesSlide" Target="/ppt/notesSlides/notesSlide17.xml" Id="R07602f784b7c46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8d7080c79a94361" /><Relationship Type="http://schemas.openxmlformats.org/officeDocument/2006/relationships/notesSlide" Target="/ppt/notesSlides/notesSlide18.xml" Id="R7b55aa9cbbb840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778bc5f5d5d431d" /><Relationship Type="http://schemas.openxmlformats.org/officeDocument/2006/relationships/notesSlide" Target="/ppt/notesSlides/notesSlide19.xml" Id="R97175179dd5d4fb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f6f1f4e17984871" /><Relationship Type="http://schemas.openxmlformats.org/officeDocument/2006/relationships/image" Target="/ppt/media/image4.png" Id="Rb5aee4acc1234d6b" /><Relationship Type="http://schemas.openxmlformats.org/officeDocument/2006/relationships/notesSlide" Target="/ppt/notesSlides/notesSlide20.xml" Id="R8db50a526580477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d3938e18cc54c13" /><Relationship Type="http://schemas.openxmlformats.org/officeDocument/2006/relationships/notesSlide" Target="/ppt/notesSlides/notesSlide21.xml" Id="R2d7266d91e9941d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8fbc767bdb944c1" /><Relationship Type="http://schemas.openxmlformats.org/officeDocument/2006/relationships/notesSlide" Target="/ppt/notesSlides/notesSlide22.xml" Id="R655dbc0f12974f1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6bcc2a585f04179" /><Relationship Type="http://schemas.openxmlformats.org/officeDocument/2006/relationships/notesSlide" Target="/ppt/notesSlides/notesSlide23.xml" Id="Ra07585975e31449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afb0094c4ae43e2" /><Relationship Type="http://schemas.openxmlformats.org/officeDocument/2006/relationships/notesSlide" Target="/ppt/notesSlides/notesSlide24.xml" Id="Rc0e6b8209e964f4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4f6ac93477546dc" /><Relationship Type="http://schemas.openxmlformats.org/officeDocument/2006/relationships/notesSlide" Target="/ppt/notesSlides/notesSlide25.xml" Id="R9b313d806c6d428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7f18427f79c44a0" /><Relationship Type="http://schemas.openxmlformats.org/officeDocument/2006/relationships/notesSlide" Target="/ppt/notesSlides/notesSlide26.xml" Id="Rdc5f731542cf444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d953c48e7bf4f6e" /><Relationship Type="http://schemas.openxmlformats.org/officeDocument/2006/relationships/notesSlide" Target="/ppt/notesSlides/notesSlide27.xml" Id="R38a61d257e0b4a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2b721de77e64486" /><Relationship Type="http://schemas.openxmlformats.org/officeDocument/2006/relationships/notesSlide" Target="/ppt/notesSlides/notesSlide28.xml" Id="R45b56bc3210f4a4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bc29b009115413f" /><Relationship Type="http://schemas.openxmlformats.org/officeDocument/2006/relationships/notesSlide" Target="/ppt/notesSlides/notesSlide29.xml" Id="Rc5e9c942ffe542f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570aac7cb2d4c01" /><Relationship Type="http://schemas.openxmlformats.org/officeDocument/2006/relationships/notesSlide" Target="/ppt/notesSlides/notesSlide30.xml" Id="R3f812345f0a648b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2694fcc2da9450f" /><Relationship Type="http://schemas.openxmlformats.org/officeDocument/2006/relationships/notesSlide" Target="/ppt/notesSlides/notesSlide31.xml" Id="R5f1323431fa3478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bbd1aa7fd8c402b" /><Relationship Type="http://schemas.openxmlformats.org/officeDocument/2006/relationships/notesSlide" Target="/ppt/notesSlides/notesSlide32.xml" Id="Raca37ef7ecf14ac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28950867e7342aa" /><Relationship Type="http://schemas.openxmlformats.org/officeDocument/2006/relationships/notesSlide" Target="/ppt/notesSlides/notesSlide33.xml" Id="R1e5ee10c6e4e46e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a8bf29368c84679" /><Relationship Type="http://schemas.openxmlformats.org/officeDocument/2006/relationships/notesSlide" Target="/ppt/notesSlides/notesSlide34.xml" Id="R50be2d300cf3402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a3be4f63e084506" /><Relationship Type="http://schemas.openxmlformats.org/officeDocument/2006/relationships/notesSlide" Target="/ppt/notesSlides/notesSlide35.xml" Id="Re6b885466987457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3c5486551fe4ec5" /><Relationship Type="http://schemas.openxmlformats.org/officeDocument/2006/relationships/notesSlide" Target="/ppt/notesSlides/notesSlide36.xml" Id="R0597f1750ef04a8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d0f81aa779a4c52" /><Relationship Type="http://schemas.openxmlformats.org/officeDocument/2006/relationships/notesSlide" Target="/ppt/notesSlides/notesSlide37.xml" Id="R5d99857645ac4e7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0675CC-2648-4B3D-AEC1-8C669E617A7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958A13-DC7C-4C00-8FAC-C58C3A827F09}"/>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D48686-538C-43B2-84BF-D11002244767}"/>
              </a:ext>
            </a:extLst>
          </p:cNvPr>
          <p:cNvSpPr>
            <a:spLocks xmlns:a="http://schemas.openxmlformats.org/drawingml/2006/main" noGrp="1"/>
          </p:cNvSpPr>
          <p:nvPr/>
        </p:nvSpPr>
        <p:spPr>
          <a:xfrm xmlns:a="http://schemas.openxmlformats.org/drawingml/2006/main">
            <a:off x="819150" y="1562100"/>
            <a:ext cx="7810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DejaVu Sans"/>
                <a:ea typeface="DejaVu Sans"/>
                <a:cs typeface="DejaVu Sans"/>
              </a:defRPr>
            </a:pPr>
            <a:r>
              <a:rPr sz="3600" b="1">
                <a:solidFill>
                  <a:srgbClr val="FFFFFF"/>
                </a:solidFill>
                <a:latin typeface="DejaVu Sans"/>
                <a:ea typeface="DejaVu Sans"/>
                <a:cs typeface="DejaVu Sans"/>
              </a:rPr>
              <a:t>AI Security</a:t>
            </a:r>
          </a:p>
          <a:p xmlns:a="http://schemas.openxmlformats.org/drawingml/2006/main">
            <a:pPr>
              <a:defRPr sz="3600" b="1">
                <a:solidFill>
                  <a:srgbClr val="FFFFFF"/>
                </a:solidFill>
                <a:latin typeface="DejaVu Sans"/>
                <a:ea typeface="DejaVu Sans"/>
                <a:cs typeface="DejaVu Sans"/>
              </a:defRPr>
            </a:pPr>
            <a:r>
              <a:rPr sz="3600" b="1">
                <a:solidFill>
                  <a:srgbClr val="FFFFFF"/>
                </a:solidFill>
                <a:latin typeface="DejaVu Sans"/>
                <a:ea typeface="DejaVu Sans"/>
                <a:cs typeface="DejaVu Sans"/>
              </a:rPr>
              <a:t>Reference Architectures</a:t>
            </a:r>
          </a:p>
        </p:txBody>
      </p:sp>
      <p:sp>
        <p:nvSpPr>
          <p:cNvPr id="4" name="">
            <a:extLst xmlns:a="http://schemas.openxmlformats.org/drawingml/2006/main">
              <a:ext uri="{FF2B5EF4-FFF2-40B4-BE49-F238E27FC236}">
                <a16:creationId xmlns:a16="http://schemas.microsoft.com/office/drawing/2014/main" id="{60D62B28-2308-4AE4-8D18-C09C93FE7F77}"/>
              </a:ext>
            </a:extLst>
          </p:cNvPr>
          <p:cNvSpPr>
            <a:spLocks xmlns:a="http://schemas.openxmlformats.org/drawingml/2006/main" noGrp="1"/>
          </p:cNvSpPr>
          <p:nvPr/>
        </p:nvSpPr>
        <p:spPr>
          <a:xfrm xmlns:a="http://schemas.openxmlformats.org/drawingml/2006/main">
            <a:off x="876300" y="3276600"/>
            <a:ext cx="733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a:solidFill>
                  <a:srgbClr val="D9E8F1"/>
                </a:solidFill>
                <a:latin typeface="DejaVu Sans"/>
                <a:ea typeface="DejaVu Sans"/>
                <a:cs typeface="DejaVu Sans"/>
              </a:defRPr>
            </a:pPr>
            <a:r>
              <a:rPr sz="1800">
                <a:solidFill>
                  <a:srgbClr val="D9E8F1"/>
                </a:solidFill>
                <a:latin typeface="DejaVu Sans"/>
                <a:ea typeface="DejaVu Sans"/>
                <a:cs typeface="DejaVu Sans"/>
              </a:rPr>
              <a:t>A proposed series for discussing how AI changes what we protect, how we are attacked, and how we defend</a:t>
            </a:r>
          </a:p>
        </p:txBody>
      </p:sp>
      <p:sp>
        <p:nvSpPr>
          <p:cNvPr id="5" name="">
            <a:extLst xmlns:a="http://schemas.openxmlformats.org/drawingml/2006/main">
              <a:ext uri="{FF2B5EF4-FFF2-40B4-BE49-F238E27FC236}">
                <a16:creationId xmlns:a16="http://schemas.microsoft.com/office/drawing/2014/main" id="{DF981DFC-9F63-4530-8F20-201916775240}"/>
              </a:ext>
            </a:extLst>
          </p:cNvPr>
          <p:cNvSpPr>
            <a:spLocks xmlns:a="http://schemas.openxmlformats.org/drawingml/2006/main" noGrp="1"/>
          </p:cNvSpPr>
          <p:nvPr/>
        </p:nvSpPr>
        <p:spPr>
          <a:xfrm xmlns:a="http://schemas.openxmlformats.org/drawingml/2006/main">
            <a:off x="876300" y="5314950"/>
            <a:ext cx="695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A9C6D9"/>
                </a:solidFill>
                <a:latin typeface="DejaVu Sans"/>
                <a:ea typeface="DejaVu Sans"/>
                <a:cs typeface="DejaVu Sans"/>
              </a:defRPr>
            </a:pPr>
            <a:r>
              <a:rPr sz="1200">
                <a:solidFill>
                  <a:srgbClr val="A9C6D9"/>
                </a:solidFill>
                <a:latin typeface="DejaVu Sans"/>
                <a:ea typeface="DejaVu Sans"/>
                <a:cs typeface="DejaVu Sans"/>
              </a:rPr>
              <a:t>Conceptual reference  |  Version 0.1  |  9 September 2026</a:t>
            </a:r>
          </a:p>
        </p:txBody>
      </p:sp>
    </p:spTree>
    <p:extLst>
      <p:ext uri="{BB962C8B-B14F-4D97-AF65-F5344CB8AC3E}">
        <p14:creationId xmlns:p14="http://schemas.microsoft.com/office/powerpoint/2010/main" val="14364474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499AC87-0105-4F47-A1DA-351AEC27A33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1A267E09-F3D1-4727-AAB9-D64F74CA5D7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How to use this deck</a:t>
            </a:r>
          </a:p>
        </p:txBody>
      </p:sp>
      <p:sp>
        <p:nvSpPr>
          <p:cNvPr id="3" name="">
            <a:extLst xmlns:a="http://schemas.openxmlformats.org/drawingml/2006/main">
              <a:ext uri="{FF2B5EF4-FFF2-40B4-BE49-F238E27FC236}">
                <a16:creationId xmlns:a16="http://schemas.microsoft.com/office/drawing/2014/main" id="{CA7CD844-CE86-4711-AA67-FC154B74038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AF8707-E60F-4B79-9316-D9DD23AB08BE}"/>
              </a:ext>
            </a:extLst>
          </p:cNvPr>
          <p:cNvSpPr>
            <a:spLocks xmlns:a="http://schemas.openxmlformats.org/drawingml/2006/main" noGrp="1"/>
          </p:cNvSpPr>
          <p:nvPr/>
        </p:nvSpPr>
        <p:spPr>
          <a:xfrm xmlns:a="http://schemas.openxmlformats.org/drawingml/2006/main">
            <a:off x="723900"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D9003E06-7DA4-4BCD-98E4-A8CCF215453F}"/>
              </a:ext>
            </a:extLst>
          </p:cNvPr>
          <p:cNvSpPr>
            <a:spLocks xmlns:a="http://schemas.openxmlformats.org/drawingml/2006/main" noGrp="1"/>
          </p:cNvSpPr>
          <p:nvPr/>
        </p:nvSpPr>
        <p:spPr>
          <a:xfrm xmlns:a="http://schemas.openxmlformats.org/drawingml/2006/main">
            <a:off x="857250"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Familiar situation</a:t>
            </a:r>
          </a:p>
        </p:txBody>
      </p:sp>
      <p:sp>
        <p:nvSpPr>
          <p:cNvPr id="6" name="">
            <a:extLst xmlns:a="http://schemas.openxmlformats.org/drawingml/2006/main">
              <a:ext uri="{FF2B5EF4-FFF2-40B4-BE49-F238E27FC236}">
                <a16:creationId xmlns:a16="http://schemas.microsoft.com/office/drawing/2014/main" id="{53A9A9DA-6172-4C4D-B94D-E98D218BBAE0}"/>
              </a:ext>
            </a:extLst>
          </p:cNvPr>
          <p:cNvSpPr>
            <a:spLocks xmlns:a="http://schemas.openxmlformats.org/drawingml/2006/main" noGrp="1"/>
          </p:cNvSpPr>
          <p:nvPr/>
        </p:nvSpPr>
        <p:spPr>
          <a:xfrm xmlns:a="http://schemas.openxmlformats.org/drawingml/2006/main">
            <a:off x="857250"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Start with a business process, sensitive decision or security event.</a:t>
            </a:r>
          </a:p>
        </p:txBody>
      </p:sp>
      <p:sp>
        <p:nvSpPr>
          <p:cNvPr id="7" name="">
            <a:extLst xmlns:a="http://schemas.openxmlformats.org/drawingml/2006/main">
              <a:ext uri="{FF2B5EF4-FFF2-40B4-BE49-F238E27FC236}">
                <a16:creationId xmlns:a16="http://schemas.microsoft.com/office/drawing/2014/main" id="{7919E835-E41F-47EB-8E21-B90F99FE2C49}"/>
              </a:ext>
            </a:extLst>
          </p:cNvPr>
          <p:cNvSpPr>
            <a:spLocks xmlns:a="http://schemas.openxmlformats.org/drawingml/2006/main" noGrp="1"/>
          </p:cNvSpPr>
          <p:nvPr/>
        </p:nvSpPr>
        <p:spPr>
          <a:xfrm xmlns:a="http://schemas.openxmlformats.org/drawingml/2006/main">
            <a:off x="3281363"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856A958B-E211-4B91-9B4E-32D35D04459C}"/>
              </a:ext>
            </a:extLst>
          </p:cNvPr>
          <p:cNvSpPr>
            <a:spLocks xmlns:a="http://schemas.openxmlformats.org/drawingml/2006/main" noGrp="1"/>
          </p:cNvSpPr>
          <p:nvPr/>
        </p:nvSpPr>
        <p:spPr>
          <a:xfrm xmlns:a="http://schemas.openxmlformats.org/drawingml/2006/main">
            <a:off x="3433763"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4A295CCD-0CC8-4041-ABDB-C8729BC2841A}"/>
              </a:ext>
            </a:extLst>
          </p:cNvPr>
          <p:cNvSpPr>
            <a:spLocks xmlns:a="http://schemas.openxmlformats.org/drawingml/2006/main" noGrp="1"/>
          </p:cNvSpPr>
          <p:nvPr/>
        </p:nvSpPr>
        <p:spPr>
          <a:xfrm xmlns:a="http://schemas.openxmlformats.org/drawingml/2006/main">
            <a:off x="3567113"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What AI changes</a:t>
            </a:r>
          </a:p>
        </p:txBody>
      </p:sp>
      <p:sp>
        <p:nvSpPr>
          <p:cNvPr id="10" name="">
            <a:extLst xmlns:a="http://schemas.openxmlformats.org/drawingml/2006/main">
              <a:ext uri="{FF2B5EF4-FFF2-40B4-BE49-F238E27FC236}">
                <a16:creationId xmlns:a16="http://schemas.microsoft.com/office/drawing/2014/main" id="{C557EAC9-D96B-4229-A0D7-6A29A7CBC444}"/>
              </a:ext>
            </a:extLst>
          </p:cNvPr>
          <p:cNvSpPr>
            <a:spLocks xmlns:a="http://schemas.openxmlformats.org/drawingml/2006/main" noGrp="1"/>
          </p:cNvSpPr>
          <p:nvPr/>
        </p:nvSpPr>
        <p:spPr>
          <a:xfrm xmlns:a="http://schemas.openxmlformats.org/drawingml/2006/main">
            <a:off x="3567113"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AI may interpret content, use tools, or help an attacker or defender.</a:t>
            </a:r>
          </a:p>
        </p:txBody>
      </p:sp>
      <p:sp>
        <p:nvSpPr>
          <p:cNvPr id="11" name="">
            <a:extLst xmlns:a="http://schemas.openxmlformats.org/drawingml/2006/main">
              <a:ext uri="{FF2B5EF4-FFF2-40B4-BE49-F238E27FC236}">
                <a16:creationId xmlns:a16="http://schemas.microsoft.com/office/drawing/2014/main" id="{CF6501E0-27C7-4922-90D8-2D0D4EACEB62}"/>
              </a:ext>
            </a:extLst>
          </p:cNvPr>
          <p:cNvSpPr>
            <a:spLocks xmlns:a="http://schemas.openxmlformats.org/drawingml/2006/main" noGrp="1"/>
          </p:cNvSpPr>
          <p:nvPr/>
        </p:nvSpPr>
        <p:spPr>
          <a:xfrm xmlns:a="http://schemas.openxmlformats.org/drawingml/2006/main">
            <a:off x="5991225"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2A0AAD6A-8575-426C-AA62-38A35A46F2CB}"/>
              </a:ext>
            </a:extLst>
          </p:cNvPr>
          <p:cNvSpPr>
            <a:spLocks xmlns:a="http://schemas.openxmlformats.org/drawingml/2006/main" noGrp="1"/>
          </p:cNvSpPr>
          <p:nvPr/>
        </p:nvSpPr>
        <p:spPr>
          <a:xfrm xmlns:a="http://schemas.openxmlformats.org/drawingml/2006/main">
            <a:off x="6143625"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DA4700DF-D8EC-4028-9286-417FF805ADFC}"/>
              </a:ext>
            </a:extLst>
          </p:cNvPr>
          <p:cNvSpPr>
            <a:spLocks xmlns:a="http://schemas.openxmlformats.org/drawingml/2006/main" noGrp="1"/>
          </p:cNvSpPr>
          <p:nvPr/>
        </p:nvSpPr>
        <p:spPr>
          <a:xfrm xmlns:a="http://schemas.openxmlformats.org/drawingml/2006/main">
            <a:off x="6276975"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Architecture view</a:t>
            </a:r>
          </a:p>
        </p:txBody>
      </p:sp>
      <p:sp>
        <p:nvSpPr>
          <p:cNvPr id="14" name="">
            <a:extLst xmlns:a="http://schemas.openxmlformats.org/drawingml/2006/main">
              <a:ext uri="{FF2B5EF4-FFF2-40B4-BE49-F238E27FC236}">
                <a16:creationId xmlns:a16="http://schemas.microsoft.com/office/drawing/2014/main" id="{1C7AA463-68DD-40AA-B993-BD726D45EF90}"/>
              </a:ext>
            </a:extLst>
          </p:cNvPr>
          <p:cNvSpPr>
            <a:spLocks xmlns:a="http://schemas.openxmlformats.org/drawingml/2006/main" noGrp="1"/>
          </p:cNvSpPr>
          <p:nvPr/>
        </p:nvSpPr>
        <p:spPr>
          <a:xfrm xmlns:a="http://schemas.openxmlformats.org/drawingml/2006/main">
            <a:off x="6276975"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a peer view to ask the right security question.</a:t>
            </a:r>
          </a:p>
        </p:txBody>
      </p:sp>
      <p:sp>
        <p:nvSpPr>
          <p:cNvPr id="15" name="">
            <a:extLst xmlns:a="http://schemas.openxmlformats.org/drawingml/2006/main">
              <a:ext uri="{FF2B5EF4-FFF2-40B4-BE49-F238E27FC236}">
                <a16:creationId xmlns:a16="http://schemas.microsoft.com/office/drawing/2014/main" id="{B6247796-B84D-473E-A33A-426C997BBD82}"/>
              </a:ext>
            </a:extLst>
          </p:cNvPr>
          <p:cNvSpPr>
            <a:spLocks xmlns:a="http://schemas.openxmlformats.org/drawingml/2006/main" noGrp="1"/>
          </p:cNvSpPr>
          <p:nvPr/>
        </p:nvSpPr>
        <p:spPr>
          <a:xfrm xmlns:a="http://schemas.openxmlformats.org/drawingml/2006/main">
            <a:off x="8701088"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BB038C93-C757-4AD4-BA55-EE550AB73C18}"/>
              </a:ext>
            </a:extLst>
          </p:cNvPr>
          <p:cNvSpPr>
            <a:spLocks xmlns:a="http://schemas.openxmlformats.org/drawingml/2006/main" noGrp="1"/>
          </p:cNvSpPr>
          <p:nvPr/>
        </p:nvSpPr>
        <p:spPr>
          <a:xfrm xmlns:a="http://schemas.openxmlformats.org/drawingml/2006/main">
            <a:off x="8853488"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7" name="">
            <a:extLst xmlns:a="http://schemas.openxmlformats.org/drawingml/2006/main">
              <a:ext uri="{FF2B5EF4-FFF2-40B4-BE49-F238E27FC236}">
                <a16:creationId xmlns:a16="http://schemas.microsoft.com/office/drawing/2014/main" id="{8D138EE9-1F50-46C7-BAF6-E599A92DABCA}"/>
              </a:ext>
            </a:extLst>
          </p:cNvPr>
          <p:cNvSpPr>
            <a:spLocks xmlns:a="http://schemas.openxmlformats.org/drawingml/2006/main" noGrp="1"/>
          </p:cNvSpPr>
          <p:nvPr/>
        </p:nvSpPr>
        <p:spPr>
          <a:xfrm xmlns:a="http://schemas.openxmlformats.org/drawingml/2006/main">
            <a:off x="8986838"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Design evidence</a:t>
            </a:r>
          </a:p>
        </p:txBody>
      </p:sp>
      <p:sp>
        <p:nvSpPr>
          <p:cNvPr id="18" name="">
            <a:extLst xmlns:a="http://schemas.openxmlformats.org/drawingml/2006/main">
              <a:ext uri="{FF2B5EF4-FFF2-40B4-BE49-F238E27FC236}">
                <a16:creationId xmlns:a16="http://schemas.microsoft.com/office/drawing/2014/main" id="{11FC9396-4F66-4E70-B869-F824414544DD}"/>
              </a:ext>
            </a:extLst>
          </p:cNvPr>
          <p:cNvSpPr>
            <a:spLocks xmlns:a="http://schemas.openxmlformats.org/drawingml/2006/main" noGrp="1"/>
          </p:cNvSpPr>
          <p:nvPr/>
        </p:nvSpPr>
        <p:spPr>
          <a:xfrm xmlns:a="http://schemas.openxmlformats.org/drawingml/2006/main">
            <a:off x="8986838"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Define authority, interfaces, tests and recovery before deployment.</a:t>
            </a:r>
          </a:p>
        </p:txBody>
      </p:sp>
      <p:sp>
        <p:nvSpPr>
          <p:cNvPr id="19" name="">
            <a:extLst xmlns:a="http://schemas.openxmlformats.org/drawingml/2006/main">
              <a:ext uri="{FF2B5EF4-FFF2-40B4-BE49-F238E27FC236}">
                <a16:creationId xmlns:a16="http://schemas.microsoft.com/office/drawing/2014/main" id="{21C6E70A-7D32-4C0E-B204-2E789CCB3BD9}"/>
              </a:ext>
            </a:extLst>
          </p:cNvPr>
          <p:cNvSpPr>
            <a:spLocks xmlns:a="http://schemas.openxmlformats.org/drawingml/2006/main" noGrp="1"/>
          </p:cNvSpPr>
          <p:nvPr/>
        </p:nvSpPr>
        <p:spPr>
          <a:xfrm xmlns:a="http://schemas.openxmlformats.org/drawingml/2006/main">
            <a:off x="876300" y="4514850"/>
            <a:ext cx="990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Use the supplier-payment example to see the same event through all three views. Open the detailed guides when a box, connector or decision needs a more technical explanation.</a:t>
            </a:r>
          </a:p>
        </p:txBody>
      </p:sp>
      <p:sp>
        <p:nvSpPr>
          <p:cNvPr id="20" name="">
            <a:extLst xmlns:a="http://schemas.openxmlformats.org/drawingml/2006/main">
              <a:ext uri="{FF2B5EF4-FFF2-40B4-BE49-F238E27FC236}">
                <a16:creationId xmlns:a16="http://schemas.microsoft.com/office/drawing/2014/main" id="{D0068E10-4205-45E9-BF44-C4285C1CA00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29450785-E5AC-4C92-914D-A817804E657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02</a:t>
            </a:r>
          </a:p>
        </p:txBody>
      </p:sp>
    </p:spTree>
    <p:extLst>
      <p:ext uri="{BB962C8B-B14F-4D97-AF65-F5344CB8AC3E}">
        <p14:creationId xmlns:p14="http://schemas.microsoft.com/office/powerpoint/2010/main" val="13877316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0FCF8AC-69EF-4639-BD14-8D8819BFBC51}"/>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97B20A51-CABE-4D52-9772-F0E5618E8026}"/>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Scope and status</a:t>
            </a:r>
          </a:p>
        </p:txBody>
      </p:sp>
      <p:sp>
        <p:nvSpPr>
          <p:cNvPr id="3" name="">
            <a:extLst xmlns:a="http://schemas.openxmlformats.org/drawingml/2006/main">
              <a:ext uri="{FF2B5EF4-FFF2-40B4-BE49-F238E27FC236}">
                <a16:creationId xmlns:a16="http://schemas.microsoft.com/office/drawing/2014/main" id="{37DA630D-9079-456A-BD95-273ECA8E7ED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6C1F13-C2D2-40D2-A113-B778E205CDC2}"/>
              </a:ext>
            </a:extLst>
          </p:cNvPr>
          <p:cNvSpPr>
            <a:spLocks xmlns:a="http://schemas.openxmlformats.org/drawingml/2006/main" noGrp="1"/>
          </p:cNvSpPr>
          <p:nvPr/>
        </p:nvSpPr>
        <p:spPr>
          <a:xfrm xmlns:a="http://schemas.openxmlformats.org/drawingml/2006/main">
            <a:off x="781050" y="1809750"/>
            <a:ext cx="4857750" cy="1676400"/>
          </a:xfrm>
          <a:prstGeom xmlns:a="http://schemas.openxmlformats.org/drawingml/2006/main" prst="roundRect">
            <a:avLst>
              <a:gd name="adj" fmla="val 4545"/>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441C21D6-BE6D-42AD-B759-BA8352104FE3}"/>
              </a:ext>
            </a:extLst>
          </p:cNvPr>
          <p:cNvSpPr>
            <a:spLocks xmlns:a="http://schemas.openxmlformats.org/drawingml/2006/main" noGrp="1"/>
          </p:cNvSpPr>
          <p:nvPr/>
        </p:nvSpPr>
        <p:spPr>
          <a:xfrm xmlns:a="http://schemas.openxmlformats.org/drawingml/2006/main">
            <a:off x="781050" y="1809750"/>
            <a:ext cx="66675" cy="16764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9DE3D6-6AE6-4D21-B4E8-F6522F4F7847}"/>
              </a:ext>
            </a:extLst>
          </p:cNvPr>
          <p:cNvSpPr>
            <a:spLocks xmlns:a="http://schemas.openxmlformats.org/drawingml/2006/main" noGrp="1"/>
          </p:cNvSpPr>
          <p:nvPr/>
        </p:nvSpPr>
        <p:spPr>
          <a:xfrm xmlns:a="http://schemas.openxmlformats.org/drawingml/2006/main">
            <a:off x="1009650" y="1981200"/>
            <a:ext cx="4457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What this is</a:t>
            </a:r>
          </a:p>
        </p:txBody>
      </p:sp>
      <p:sp>
        <p:nvSpPr>
          <p:cNvPr id="7" name="">
            <a:extLst xmlns:a="http://schemas.openxmlformats.org/drawingml/2006/main">
              <a:ext uri="{FF2B5EF4-FFF2-40B4-BE49-F238E27FC236}">
                <a16:creationId xmlns:a16="http://schemas.microsoft.com/office/drawing/2014/main" id="{6A879191-E8DB-4373-996B-987AF6CF61CF}"/>
              </a:ext>
            </a:extLst>
          </p:cNvPr>
          <p:cNvSpPr>
            <a:spLocks xmlns:a="http://schemas.openxmlformats.org/drawingml/2006/main" noGrp="1"/>
          </p:cNvSpPr>
          <p:nvPr/>
        </p:nvSpPr>
        <p:spPr>
          <a:xfrm xmlns:a="http://schemas.openxmlformats.org/drawingml/2006/main">
            <a:off x="1009650" y="2667000"/>
            <a:ext cx="4457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proposed logical reference series for cybersecurity architecture discussion.</a:t>
            </a:r>
          </a:p>
        </p:txBody>
      </p:sp>
      <p:sp>
        <p:nvSpPr>
          <p:cNvPr id="8" name="">
            <a:extLst xmlns:a="http://schemas.openxmlformats.org/drawingml/2006/main">
              <a:ext uri="{FF2B5EF4-FFF2-40B4-BE49-F238E27FC236}">
                <a16:creationId xmlns:a16="http://schemas.microsoft.com/office/drawing/2014/main" id="{40862AE3-37BB-443D-BDE6-B292CD2861C4}"/>
              </a:ext>
            </a:extLst>
          </p:cNvPr>
          <p:cNvSpPr>
            <a:spLocks xmlns:a="http://schemas.openxmlformats.org/drawingml/2006/main" noGrp="1"/>
          </p:cNvSpPr>
          <p:nvPr/>
        </p:nvSpPr>
        <p:spPr>
          <a:xfrm xmlns:a="http://schemas.openxmlformats.org/drawingml/2006/main">
            <a:off x="6553200" y="1809750"/>
            <a:ext cx="4857750" cy="1676400"/>
          </a:xfrm>
          <a:prstGeom xmlns:a="http://schemas.openxmlformats.org/drawingml/2006/main" prst="roundRect">
            <a:avLst>
              <a:gd name="adj" fmla="val 4545"/>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4132B6AF-9EDB-4D17-A96C-14A506A3CAB7}"/>
              </a:ext>
            </a:extLst>
          </p:cNvPr>
          <p:cNvSpPr>
            <a:spLocks xmlns:a="http://schemas.openxmlformats.org/drawingml/2006/main" noGrp="1"/>
          </p:cNvSpPr>
          <p:nvPr/>
        </p:nvSpPr>
        <p:spPr>
          <a:xfrm xmlns:a="http://schemas.openxmlformats.org/drawingml/2006/main">
            <a:off x="6553200" y="1809750"/>
            <a:ext cx="66675" cy="16764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616EE2-2B54-40EE-BD64-E9F3A42CFC30}"/>
              </a:ext>
            </a:extLst>
          </p:cNvPr>
          <p:cNvSpPr>
            <a:spLocks xmlns:a="http://schemas.openxmlformats.org/drawingml/2006/main" noGrp="1"/>
          </p:cNvSpPr>
          <p:nvPr/>
        </p:nvSpPr>
        <p:spPr>
          <a:xfrm xmlns:a="http://schemas.openxmlformats.org/drawingml/2006/main">
            <a:off x="6781800" y="1981200"/>
            <a:ext cx="4457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What this is not</a:t>
            </a:r>
          </a:p>
        </p:txBody>
      </p:sp>
      <p:sp>
        <p:nvSpPr>
          <p:cNvPr id="11" name="">
            <a:extLst xmlns:a="http://schemas.openxmlformats.org/drawingml/2006/main">
              <a:ext uri="{FF2B5EF4-FFF2-40B4-BE49-F238E27FC236}">
                <a16:creationId xmlns:a16="http://schemas.microsoft.com/office/drawing/2014/main" id="{B88AF753-68CB-4554-8B73-4EA6FE943831}"/>
              </a:ext>
            </a:extLst>
          </p:cNvPr>
          <p:cNvSpPr>
            <a:spLocks xmlns:a="http://schemas.openxmlformats.org/drawingml/2006/main" noGrp="1"/>
          </p:cNvSpPr>
          <p:nvPr/>
        </p:nvSpPr>
        <p:spPr>
          <a:xfrm xmlns:a="http://schemas.openxmlformats.org/drawingml/2006/main">
            <a:off x="6781800" y="2667000"/>
            <a:ext cx="4457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deployment blueprint, product selection, independent certification, or acceptance decision.</a:t>
            </a:r>
          </a:p>
        </p:txBody>
      </p:sp>
      <p:sp>
        <p:nvSpPr>
          <p:cNvPr id="12" name="">
            <a:extLst xmlns:a="http://schemas.openxmlformats.org/drawingml/2006/main">
              <a:ext uri="{FF2B5EF4-FFF2-40B4-BE49-F238E27FC236}">
                <a16:creationId xmlns:a16="http://schemas.microsoft.com/office/drawing/2014/main" id="{0508631E-9F5B-43C7-87E3-6103697C8E64}"/>
              </a:ext>
            </a:extLst>
          </p:cNvPr>
          <p:cNvSpPr>
            <a:spLocks xmlns:a="http://schemas.openxmlformats.org/drawingml/2006/main" noGrp="1"/>
          </p:cNvSpPr>
          <p:nvPr/>
        </p:nvSpPr>
        <p:spPr>
          <a:xfrm xmlns:a="http://schemas.openxmlformats.org/drawingml/2006/main">
            <a:off x="609600" y="4305300"/>
            <a:ext cx="10972800" cy="552450"/>
          </a:xfrm>
          <a:prstGeom xmlns:a="http://schemas.openxmlformats.org/drawingml/2006/main" prst="roundRect">
            <a:avLst>
              <a:gd name="adj" fmla="val 13793"/>
            </a:avLst>
          </a:prstGeom>
          <a:solidFill xmlns:a="http://schemas.openxmlformats.org/drawingml/2006/main">
            <a:srgbClr val="61717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EA7B38F-8F59-4DAA-986B-D41FFB7E92A7}"/>
              </a:ext>
            </a:extLst>
          </p:cNvPr>
          <p:cNvSpPr>
            <a:spLocks xmlns:a="http://schemas.openxmlformats.org/drawingml/2006/main" noGrp="1"/>
          </p:cNvSpPr>
          <p:nvPr/>
        </p:nvSpPr>
        <p:spPr>
          <a:xfrm xmlns:a="http://schemas.openxmlformats.org/drawingml/2006/main">
            <a:off x="838200" y="44386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Status</a:t>
            </a:r>
          </a:p>
        </p:txBody>
      </p:sp>
      <p:sp>
        <p:nvSpPr>
          <p:cNvPr id="14" name="">
            <a:extLst xmlns:a="http://schemas.openxmlformats.org/drawingml/2006/main">
              <a:ext uri="{FF2B5EF4-FFF2-40B4-BE49-F238E27FC236}">
                <a16:creationId xmlns:a16="http://schemas.microsoft.com/office/drawing/2014/main" id="{A6062CE9-E3C6-4BA5-BD6D-BA8A427CA155}"/>
              </a:ext>
            </a:extLst>
          </p:cNvPr>
          <p:cNvSpPr>
            <a:spLocks xmlns:a="http://schemas.openxmlformats.org/drawingml/2006/main" noGrp="1"/>
          </p:cNvSpPr>
          <p:nvPr/>
        </p:nvSpPr>
        <p:spPr>
          <a:xfrm xmlns:a="http://schemas.openxmlformats.org/drawingml/2006/main">
            <a:off x="3181350" y="44577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The overview is proposed. The three original packages have discussion-level review with material reservations.</a:t>
            </a:r>
          </a:p>
        </p:txBody>
      </p:sp>
      <p:sp>
        <p:nvSpPr>
          <p:cNvPr id="15" name="">
            <a:extLst xmlns:a="http://schemas.openxmlformats.org/drawingml/2006/main">
              <a:ext uri="{FF2B5EF4-FFF2-40B4-BE49-F238E27FC236}">
                <a16:creationId xmlns:a16="http://schemas.microsoft.com/office/drawing/2014/main" id="{0F6363C7-4C9A-4CF5-AC91-1D8003F2393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6" name="">
            <a:extLst xmlns:a="http://schemas.openxmlformats.org/drawingml/2006/main">
              <a:ext uri="{FF2B5EF4-FFF2-40B4-BE49-F238E27FC236}">
                <a16:creationId xmlns:a16="http://schemas.microsoft.com/office/drawing/2014/main" id="{7B1666CA-2CA3-479F-8447-276E05AB048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03</a:t>
            </a:r>
          </a:p>
        </p:txBody>
      </p:sp>
    </p:spTree>
    <p:extLst>
      <p:ext uri="{BB962C8B-B14F-4D97-AF65-F5344CB8AC3E}">
        <p14:creationId xmlns:p14="http://schemas.microsoft.com/office/powerpoint/2010/main" val="17499678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FDA1AA-60A9-4E21-B9E1-324EE42D52B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6B33F73A-20DC-4412-9C2F-12808A93CB4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AI security</a:t>
            </a:r>
          </a:p>
        </p:txBody>
      </p:sp>
      <p:sp>
        <p:nvSpPr>
          <p:cNvPr id="3" name="">
            <a:extLst xmlns:a="http://schemas.openxmlformats.org/drawingml/2006/main">
              <a:ext uri="{FF2B5EF4-FFF2-40B4-BE49-F238E27FC236}">
                <a16:creationId xmlns:a16="http://schemas.microsoft.com/office/drawing/2014/main" id="{762457B0-0CFD-44FE-B479-68E53A6737F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6B4089-8BE9-4B7F-9696-01E5CD53A760}"/>
              </a:ext>
            </a:extLst>
          </p:cNvPr>
          <p:cNvSpPr>
            <a:spLocks xmlns:a="http://schemas.openxmlformats.org/drawingml/2006/main" noGrp="1"/>
          </p:cNvSpPr>
          <p:nvPr/>
        </p:nvSpPr>
        <p:spPr>
          <a:xfrm xmlns:a="http://schemas.openxmlformats.org/drawingml/2006/main">
            <a:off x="933450" y="1924050"/>
            <a:ext cx="9810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2324A"/>
                </a:solidFill>
                <a:latin typeface="DejaVu Sans"/>
                <a:ea typeface="DejaVu Sans"/>
                <a:cs typeface="DejaVu Sans"/>
              </a:defRPr>
            </a:pPr>
            <a:r>
              <a:rPr sz="2325" b="1">
                <a:solidFill>
                  <a:srgbClr val="12324A"/>
                </a:solidFill>
                <a:latin typeface="DejaVu Sans"/>
                <a:ea typeface="DejaVu Sans"/>
                <a:cs typeface="DejaVu Sans"/>
              </a:rPr>
              <a:t>AI security protects the organization as AI becomes part of its work, attackers’ methods, and its defenses.</a:t>
            </a:r>
          </a:p>
        </p:txBody>
      </p:sp>
      <p:sp>
        <p:nvSpPr>
          <p:cNvPr id="5" name="">
            <a:extLst xmlns:a="http://schemas.openxmlformats.org/drawingml/2006/main">
              <a:ext uri="{FF2B5EF4-FFF2-40B4-BE49-F238E27FC236}">
                <a16:creationId xmlns:a16="http://schemas.microsoft.com/office/drawing/2014/main" id="{5FCE6FD8-3194-4C2E-AD49-3668C07905CB}"/>
              </a:ext>
            </a:extLst>
          </p:cNvPr>
          <p:cNvSpPr>
            <a:spLocks xmlns:a="http://schemas.openxmlformats.org/drawingml/2006/main" noGrp="1"/>
          </p:cNvSpPr>
          <p:nvPr/>
        </p:nvSpPr>
        <p:spPr>
          <a:xfrm xmlns:a="http://schemas.openxmlformats.org/drawingml/2006/main">
            <a:off x="933450" y="3276600"/>
            <a:ext cx="9239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a:solidFill>
                  <a:srgbClr val="087E8B"/>
                </a:solidFill>
                <a:latin typeface="DejaVu Sans"/>
                <a:ea typeface="DejaVu Sans"/>
                <a:cs typeface="DejaVu Sans"/>
              </a:defRPr>
            </a:pPr>
            <a:r>
              <a:rPr sz="1875">
                <a:solidFill>
                  <a:srgbClr val="087E8B"/>
                </a:solidFill>
                <a:latin typeface="DejaVu Sans"/>
                <a:ea typeface="DejaVu Sans"/>
                <a:cs typeface="DejaVu Sans"/>
              </a:rPr>
              <a:t>The organizing idea: AI changes what we protect, how we are attacked, and how we defend.</a:t>
            </a:r>
          </a:p>
        </p:txBody>
      </p:sp>
      <p:sp>
        <p:nvSpPr>
          <p:cNvPr id="6" name="">
            <a:extLst xmlns:a="http://schemas.openxmlformats.org/drawingml/2006/main">
              <a:ext uri="{FF2B5EF4-FFF2-40B4-BE49-F238E27FC236}">
                <a16:creationId xmlns:a16="http://schemas.microsoft.com/office/drawing/2014/main" id="{C68D68CA-D12B-4B74-9A6E-DFC3E233ED48}"/>
              </a:ext>
            </a:extLst>
          </p:cNvPr>
          <p:cNvSpPr>
            <a:spLocks xmlns:a="http://schemas.openxmlformats.org/drawingml/2006/main" noGrp="1"/>
          </p:cNvSpPr>
          <p:nvPr/>
        </p:nvSpPr>
        <p:spPr>
          <a:xfrm xmlns:a="http://schemas.openxmlformats.org/drawingml/2006/main">
            <a:off x="933450" y="4419600"/>
            <a:ext cx="923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182B3A"/>
                </a:solidFill>
                <a:latin typeface="DejaVu Sans"/>
                <a:ea typeface="DejaVu Sans"/>
                <a:cs typeface="DejaVu Sans"/>
              </a:defRPr>
            </a:pPr>
            <a:r>
              <a:rPr sz="1500">
                <a:solidFill>
                  <a:srgbClr val="182B3A"/>
                </a:solidFill>
                <a:latin typeface="DejaVu Sans"/>
                <a:ea typeface="DejaVu Sans"/>
                <a:cs typeface="DejaVu Sans"/>
              </a:rPr>
              <a:t>The series takes a cybersecurity view. Business quality, privacy, safety and wider AI governance still matter, but they are not claimed as covered here.</a:t>
            </a:r>
          </a:p>
        </p:txBody>
      </p:sp>
      <p:sp>
        <p:nvSpPr>
          <p:cNvPr id="7" name="">
            <a:extLst xmlns:a="http://schemas.openxmlformats.org/drawingml/2006/main">
              <a:ext uri="{FF2B5EF4-FFF2-40B4-BE49-F238E27FC236}">
                <a16:creationId xmlns:a16="http://schemas.microsoft.com/office/drawing/2014/main" id="{6F0AD23B-71D9-4F29-A19C-0439704F976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8" name="">
            <a:extLst xmlns:a="http://schemas.openxmlformats.org/drawingml/2006/main">
              <a:ext uri="{FF2B5EF4-FFF2-40B4-BE49-F238E27FC236}">
                <a16:creationId xmlns:a16="http://schemas.microsoft.com/office/drawing/2014/main" id="{27A2A737-9A53-4FBE-A2A1-7F88DFAB3EC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04</a:t>
            </a:r>
          </a:p>
        </p:txBody>
      </p:sp>
    </p:spTree>
    <p:extLst>
      <p:ext uri="{BB962C8B-B14F-4D97-AF65-F5344CB8AC3E}">
        <p14:creationId xmlns:p14="http://schemas.microsoft.com/office/powerpoint/2010/main" val="14423464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EBD614A-3E3D-45E0-8BF4-FB05DC3D19A4}"/>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95883102-8854-4DF0-9BFC-0878BE1F6625}"/>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Three views of one security program</a:t>
            </a:r>
          </a:p>
        </p:txBody>
      </p:sp>
      <p:sp>
        <p:nvSpPr>
          <p:cNvPr id="3" name="">
            <a:extLst xmlns:a="http://schemas.openxmlformats.org/drawingml/2006/main">
              <a:ext uri="{FF2B5EF4-FFF2-40B4-BE49-F238E27FC236}">
                <a16:creationId xmlns:a16="http://schemas.microsoft.com/office/drawing/2014/main" id="{AEBEBA47-91C7-4236-9F64-BD28E7969C1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EDB533-3CB6-4A1D-A757-5D7ECA857B5F}"/>
              </a:ext>
            </a:extLst>
          </p:cNvPr>
          <p:cNvSpPr>
            <a:spLocks xmlns:a="http://schemas.openxmlformats.org/drawingml/2006/main" noGrp="1"/>
          </p:cNvSpPr>
          <p:nvPr/>
        </p:nvSpPr>
        <p:spPr>
          <a:xfrm xmlns:a="http://schemas.openxmlformats.org/drawingml/2006/main">
            <a:off x="685800" y="1847850"/>
            <a:ext cx="3352800" cy="2476500"/>
          </a:xfrm>
          <a:prstGeom xmlns:a="http://schemas.openxmlformats.org/drawingml/2006/main" prst="roundRect">
            <a:avLst>
              <a:gd name="adj" fmla="val 3077"/>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A7EB0C12-D95A-4B7C-B592-9A6AA376D55C}"/>
              </a:ext>
            </a:extLst>
          </p:cNvPr>
          <p:cNvSpPr>
            <a:spLocks xmlns:a="http://schemas.openxmlformats.org/drawingml/2006/main" noGrp="1"/>
          </p:cNvSpPr>
          <p:nvPr/>
        </p:nvSpPr>
        <p:spPr>
          <a:xfrm xmlns:a="http://schemas.openxmlformats.org/drawingml/2006/main">
            <a:off x="685800" y="1847850"/>
            <a:ext cx="66675" cy="24765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153BB8-88B0-4DBA-88B0-1A345578C548}"/>
              </a:ext>
            </a:extLst>
          </p:cNvPr>
          <p:cNvSpPr>
            <a:spLocks xmlns:a="http://schemas.openxmlformats.org/drawingml/2006/main" noGrp="1"/>
          </p:cNvSpPr>
          <p:nvPr/>
        </p:nvSpPr>
        <p:spPr>
          <a:xfrm xmlns:a="http://schemas.openxmlformats.org/drawingml/2006/main">
            <a:off x="9144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01  Secure business AI</a:t>
            </a:r>
          </a:p>
        </p:txBody>
      </p:sp>
      <p:sp>
        <p:nvSpPr>
          <p:cNvPr id="7" name="">
            <a:extLst xmlns:a="http://schemas.openxmlformats.org/drawingml/2006/main">
              <a:ext uri="{FF2B5EF4-FFF2-40B4-BE49-F238E27FC236}">
                <a16:creationId xmlns:a16="http://schemas.microsoft.com/office/drawing/2014/main" id="{B627507A-F914-468C-ABB4-3A11D84276C0}"/>
              </a:ext>
            </a:extLst>
          </p:cNvPr>
          <p:cNvSpPr>
            <a:spLocks xmlns:a="http://schemas.openxmlformats.org/drawingml/2006/main" noGrp="1"/>
          </p:cNvSpPr>
          <p:nvPr/>
        </p:nvSpPr>
        <p:spPr>
          <a:xfrm xmlns:a="http://schemas.openxmlformats.org/drawingml/2006/main">
            <a:off x="9144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What may our AI access and do?</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application security, data protection and access control.</a:t>
            </a:r>
          </a:p>
        </p:txBody>
      </p:sp>
      <p:sp>
        <p:nvSpPr>
          <p:cNvPr id="8" name="">
            <a:extLst xmlns:a="http://schemas.openxmlformats.org/drawingml/2006/main">
              <a:ext uri="{FF2B5EF4-FFF2-40B4-BE49-F238E27FC236}">
                <a16:creationId xmlns:a16="http://schemas.microsoft.com/office/drawing/2014/main" id="{801DE1D8-5CE8-43CD-8663-41F7F13FF7A0}"/>
              </a:ext>
            </a:extLst>
          </p:cNvPr>
          <p:cNvSpPr>
            <a:spLocks xmlns:a="http://schemas.openxmlformats.org/drawingml/2006/main" noGrp="1"/>
          </p:cNvSpPr>
          <p:nvPr/>
        </p:nvSpPr>
        <p:spPr>
          <a:xfrm xmlns:a="http://schemas.openxmlformats.org/drawingml/2006/main">
            <a:off x="4419600" y="1847850"/>
            <a:ext cx="3352800" cy="2476500"/>
          </a:xfrm>
          <a:prstGeom xmlns:a="http://schemas.openxmlformats.org/drawingml/2006/main" prst="roundRect">
            <a:avLst>
              <a:gd name="adj" fmla="val 3077"/>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E21F3214-3DC1-47A9-9F26-CCD3C90FE03D}"/>
              </a:ext>
            </a:extLst>
          </p:cNvPr>
          <p:cNvSpPr>
            <a:spLocks xmlns:a="http://schemas.openxmlformats.org/drawingml/2006/main" noGrp="1"/>
          </p:cNvSpPr>
          <p:nvPr/>
        </p:nvSpPr>
        <p:spPr>
          <a:xfrm xmlns:a="http://schemas.openxmlformats.org/drawingml/2006/main">
            <a:off x="4419600" y="1847850"/>
            <a:ext cx="66675" cy="24765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2351EFC-CE95-4946-83D9-2C10F7DDFE27}"/>
              </a:ext>
            </a:extLst>
          </p:cNvPr>
          <p:cNvSpPr>
            <a:spLocks xmlns:a="http://schemas.openxmlformats.org/drawingml/2006/main" noGrp="1"/>
          </p:cNvSpPr>
          <p:nvPr/>
        </p:nvSpPr>
        <p:spPr>
          <a:xfrm xmlns:a="http://schemas.openxmlformats.org/drawingml/2006/main">
            <a:off x="46482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02  Defend against AI</a:t>
            </a:r>
          </a:p>
        </p:txBody>
      </p:sp>
      <p:sp>
        <p:nvSpPr>
          <p:cNvPr id="11" name="">
            <a:extLst xmlns:a="http://schemas.openxmlformats.org/drawingml/2006/main">
              <a:ext uri="{FF2B5EF4-FFF2-40B4-BE49-F238E27FC236}">
                <a16:creationId xmlns:a16="http://schemas.microsoft.com/office/drawing/2014/main" id="{FC1396D9-1ED6-4E96-91CE-9C1D10A657F5}"/>
              </a:ext>
            </a:extLst>
          </p:cNvPr>
          <p:cNvSpPr>
            <a:spLocks xmlns:a="http://schemas.openxmlformats.org/drawingml/2006/main" noGrp="1"/>
          </p:cNvSpPr>
          <p:nvPr/>
        </p:nvSpPr>
        <p:spPr>
          <a:xfrm xmlns:a="http://schemas.openxmlformats.org/drawingml/2006/main">
            <a:off x="46482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How do we stop AI-enabled attacks?</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fraud prevention, detection and incident response.</a:t>
            </a:r>
          </a:p>
        </p:txBody>
      </p:sp>
      <p:sp>
        <p:nvSpPr>
          <p:cNvPr id="12" name="">
            <a:extLst xmlns:a="http://schemas.openxmlformats.org/drawingml/2006/main">
              <a:ext uri="{FF2B5EF4-FFF2-40B4-BE49-F238E27FC236}">
                <a16:creationId xmlns:a16="http://schemas.microsoft.com/office/drawing/2014/main" id="{B09A52AC-3C9A-407B-88C6-75175F31701C}"/>
              </a:ext>
            </a:extLst>
          </p:cNvPr>
          <p:cNvSpPr>
            <a:spLocks xmlns:a="http://schemas.openxmlformats.org/drawingml/2006/main" noGrp="1"/>
          </p:cNvSpPr>
          <p:nvPr/>
        </p:nvSpPr>
        <p:spPr>
          <a:xfrm xmlns:a="http://schemas.openxmlformats.org/drawingml/2006/main">
            <a:off x="8153400" y="1847850"/>
            <a:ext cx="3352800" cy="2476500"/>
          </a:xfrm>
          <a:prstGeom xmlns:a="http://schemas.openxmlformats.org/drawingml/2006/main" prst="roundRect">
            <a:avLst>
              <a:gd name="adj" fmla="val 3077"/>
            </a:avLst>
          </a:prstGeom>
          <a:solidFill xmlns:a="http://schemas.openxmlformats.org/drawingml/2006/main">
            <a:srgbClr val="E5F5F3"/>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1EB2792D-48D8-45B1-803D-5B6DF2A9D497}"/>
              </a:ext>
            </a:extLst>
          </p:cNvPr>
          <p:cNvSpPr>
            <a:spLocks xmlns:a="http://schemas.openxmlformats.org/drawingml/2006/main" noGrp="1"/>
          </p:cNvSpPr>
          <p:nvPr/>
        </p:nvSpPr>
        <p:spPr>
          <a:xfrm xmlns:a="http://schemas.openxmlformats.org/drawingml/2006/main">
            <a:off x="8153400" y="1847850"/>
            <a:ext cx="66675" cy="24765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EC6925E-AE97-4582-A0E9-6CBB8E59FFFD}"/>
              </a:ext>
            </a:extLst>
          </p:cNvPr>
          <p:cNvSpPr>
            <a:spLocks xmlns:a="http://schemas.openxmlformats.org/drawingml/2006/main" noGrp="1"/>
          </p:cNvSpPr>
          <p:nvPr/>
        </p:nvSpPr>
        <p:spPr>
          <a:xfrm xmlns:a="http://schemas.openxmlformats.org/drawingml/2006/main">
            <a:off x="83820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03  Defend with AI</a:t>
            </a:r>
          </a:p>
        </p:txBody>
      </p:sp>
      <p:sp>
        <p:nvSpPr>
          <p:cNvPr id="15" name="">
            <a:extLst xmlns:a="http://schemas.openxmlformats.org/drawingml/2006/main">
              <a:ext uri="{FF2B5EF4-FFF2-40B4-BE49-F238E27FC236}">
                <a16:creationId xmlns:a16="http://schemas.microsoft.com/office/drawing/2014/main" id="{EEE92658-5BCC-4553-88BE-6840D015C7B4}"/>
              </a:ext>
            </a:extLst>
          </p:cNvPr>
          <p:cNvSpPr>
            <a:spLocks xmlns:a="http://schemas.openxmlformats.org/drawingml/2006/main" noGrp="1"/>
          </p:cNvSpPr>
          <p:nvPr/>
        </p:nvSpPr>
        <p:spPr>
          <a:xfrm xmlns:a="http://schemas.openxmlformats.org/drawingml/2006/main">
            <a:off x="83820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How can AI help security act within limits?</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investigation, playbooks and controlled automation.</a:t>
            </a:r>
          </a:p>
        </p:txBody>
      </p:sp>
      <p:sp>
        <p:nvSpPr>
          <p:cNvPr id="16" name="">
            <a:extLst xmlns:a="http://schemas.openxmlformats.org/drawingml/2006/main">
              <a:ext uri="{FF2B5EF4-FFF2-40B4-BE49-F238E27FC236}">
                <a16:creationId xmlns:a16="http://schemas.microsoft.com/office/drawing/2014/main" id="{981EDC24-1FC2-4B89-AF10-76E5FB7B99D1}"/>
              </a:ext>
            </a:extLst>
          </p:cNvPr>
          <p:cNvSpPr>
            <a:spLocks xmlns:a="http://schemas.openxmlformats.org/drawingml/2006/main" noGrp="1"/>
          </p:cNvSpPr>
          <p:nvPr/>
        </p:nvSpPr>
        <p:spPr>
          <a:xfrm xmlns:a="http://schemas.openxmlformats.org/drawingml/2006/main">
            <a:off x="876300" y="50673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These are peer perspectives. They overlap during real business events and do not form a maturity sequence.</a:t>
            </a:r>
          </a:p>
        </p:txBody>
      </p:sp>
      <p:sp>
        <p:nvSpPr>
          <p:cNvPr id="17" name="">
            <a:extLst xmlns:a="http://schemas.openxmlformats.org/drawingml/2006/main">
              <a:ext uri="{FF2B5EF4-FFF2-40B4-BE49-F238E27FC236}">
                <a16:creationId xmlns:a16="http://schemas.microsoft.com/office/drawing/2014/main" id="{19ACC71F-5D40-47E0-8270-7D15EE1548D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4F895D58-B5E2-4F4E-97AB-EB664167829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05</a:t>
            </a:r>
          </a:p>
        </p:txBody>
      </p:sp>
    </p:spTree>
    <p:extLst>
      <p:ext uri="{BB962C8B-B14F-4D97-AF65-F5344CB8AC3E}">
        <p14:creationId xmlns:p14="http://schemas.microsoft.com/office/powerpoint/2010/main" val="9901783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71922FD-715A-4051-8C06-D9BE2AFC390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57A26E03-0CAB-488E-BDE8-481273CE299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Shared foundation</a:t>
            </a:r>
          </a:p>
        </p:txBody>
      </p:sp>
      <p:sp>
        <p:nvSpPr>
          <p:cNvPr id="3" name="">
            <a:extLst xmlns:a="http://schemas.openxmlformats.org/drawingml/2006/main">
              <a:ext uri="{FF2B5EF4-FFF2-40B4-BE49-F238E27FC236}">
                <a16:creationId xmlns:a16="http://schemas.microsoft.com/office/drawing/2014/main" id="{762CEA5C-0D61-4D9D-9925-5ACB52C4A7B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854874-1DEC-424A-96D8-C3076BA3E993}"/>
              </a:ext>
            </a:extLst>
          </p:cNvPr>
          <p:cNvSpPr>
            <a:spLocks xmlns:a="http://schemas.openxmlformats.org/drawingml/2006/main" noGrp="1"/>
          </p:cNvSpPr>
          <p:nvPr/>
        </p:nvSpPr>
        <p:spPr>
          <a:xfrm xmlns:a="http://schemas.openxmlformats.org/drawingml/2006/main">
            <a:off x="609600" y="1809750"/>
            <a:ext cx="10972800" cy="552450"/>
          </a:xfrm>
          <a:prstGeom xmlns:a="http://schemas.openxmlformats.org/drawingml/2006/main" prst="roundRect">
            <a:avLst>
              <a:gd name="adj" fmla="val 13793"/>
            </a:avLst>
          </a:prstGeom>
          <a:solidFill xmlns:a="http://schemas.openxmlformats.org/drawingml/2006/main">
            <a:srgbClr val="12324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30D560-3408-416F-8B9A-878187C8EA39}"/>
              </a:ext>
            </a:extLst>
          </p:cNvPr>
          <p:cNvSpPr>
            <a:spLocks xmlns:a="http://schemas.openxmlformats.org/drawingml/2006/main" noGrp="1"/>
          </p:cNvSpPr>
          <p:nvPr/>
        </p:nvSpPr>
        <p:spPr>
          <a:xfrm xmlns:a="http://schemas.openxmlformats.org/drawingml/2006/main">
            <a:off x="838200" y="19431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Ownership</a:t>
            </a:r>
          </a:p>
        </p:txBody>
      </p:sp>
      <p:sp>
        <p:nvSpPr>
          <p:cNvPr id="6" name="">
            <a:extLst xmlns:a="http://schemas.openxmlformats.org/drawingml/2006/main">
              <a:ext uri="{FF2B5EF4-FFF2-40B4-BE49-F238E27FC236}">
                <a16:creationId xmlns:a16="http://schemas.microsoft.com/office/drawing/2014/main" id="{E1A19884-E14D-4C30-8F00-D4679B9731CE}"/>
              </a:ext>
            </a:extLst>
          </p:cNvPr>
          <p:cNvSpPr>
            <a:spLocks xmlns:a="http://schemas.openxmlformats.org/drawingml/2006/main" noGrp="1"/>
          </p:cNvSpPr>
          <p:nvPr/>
        </p:nvSpPr>
        <p:spPr>
          <a:xfrm xmlns:a="http://schemas.openxmlformats.org/drawingml/2006/main">
            <a:off x="3181350" y="19621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Purpose, consequence, exception and change decisions need accountable people.</a:t>
            </a:r>
          </a:p>
        </p:txBody>
      </p:sp>
      <p:sp>
        <p:nvSpPr>
          <p:cNvPr id="7" name="">
            <a:extLst xmlns:a="http://schemas.openxmlformats.org/drawingml/2006/main">
              <a:ext uri="{FF2B5EF4-FFF2-40B4-BE49-F238E27FC236}">
                <a16:creationId xmlns:a16="http://schemas.microsoft.com/office/drawing/2014/main" id="{6932E075-6E6A-4A5E-897B-520478827056}"/>
              </a:ext>
            </a:extLst>
          </p:cNvPr>
          <p:cNvSpPr>
            <a:spLocks xmlns:a="http://schemas.openxmlformats.org/drawingml/2006/main" noGrp="1"/>
          </p:cNvSpPr>
          <p:nvPr/>
        </p:nvSpPr>
        <p:spPr>
          <a:xfrm xmlns:a="http://schemas.openxmlformats.org/drawingml/2006/main">
            <a:off x="609600" y="2590800"/>
            <a:ext cx="10972800" cy="552450"/>
          </a:xfrm>
          <a:prstGeom xmlns:a="http://schemas.openxmlformats.org/drawingml/2006/main" prst="roundRect">
            <a:avLst>
              <a:gd name="adj" fmla="val 13793"/>
            </a:avLst>
          </a:prstGeom>
          <a:solidFill xmlns:a="http://schemas.openxmlformats.org/drawingml/2006/main">
            <a:srgbClr val="2C6E9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99EF43-5B3D-4592-837C-A171ED36AB73}"/>
              </a:ext>
            </a:extLst>
          </p:cNvPr>
          <p:cNvSpPr>
            <a:spLocks xmlns:a="http://schemas.openxmlformats.org/drawingml/2006/main" noGrp="1"/>
          </p:cNvSpPr>
          <p:nvPr/>
        </p:nvSpPr>
        <p:spPr>
          <a:xfrm xmlns:a="http://schemas.openxmlformats.org/drawingml/2006/main">
            <a:off x="838200" y="27241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Access rules</a:t>
            </a:r>
          </a:p>
        </p:txBody>
      </p:sp>
      <p:sp>
        <p:nvSpPr>
          <p:cNvPr id="9" name="">
            <a:extLst xmlns:a="http://schemas.openxmlformats.org/drawingml/2006/main">
              <a:ext uri="{FF2B5EF4-FFF2-40B4-BE49-F238E27FC236}">
                <a16:creationId xmlns:a16="http://schemas.microsoft.com/office/drawing/2014/main" id="{CEDD7730-3750-4229-9DAB-505CD5614219}"/>
              </a:ext>
            </a:extLst>
          </p:cNvPr>
          <p:cNvSpPr>
            <a:spLocks xmlns:a="http://schemas.openxmlformats.org/drawingml/2006/main" noGrp="1"/>
          </p:cNvSpPr>
          <p:nvPr/>
        </p:nvSpPr>
        <p:spPr>
          <a:xfrm xmlns:a="http://schemas.openxmlformats.org/drawingml/2006/main">
            <a:off x="3181350" y="27432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People, applications and AI workflows receive task-appropriate permissions.</a:t>
            </a:r>
          </a:p>
        </p:txBody>
      </p:sp>
      <p:sp>
        <p:nvSpPr>
          <p:cNvPr id="10" name="">
            <a:extLst xmlns:a="http://schemas.openxmlformats.org/drawingml/2006/main">
              <a:ext uri="{FF2B5EF4-FFF2-40B4-BE49-F238E27FC236}">
                <a16:creationId xmlns:a16="http://schemas.microsoft.com/office/drawing/2014/main" id="{758B7E3C-35D1-413C-8550-E2CF12AD5BE6}"/>
              </a:ext>
            </a:extLst>
          </p:cNvPr>
          <p:cNvSpPr>
            <a:spLocks xmlns:a="http://schemas.openxmlformats.org/drawingml/2006/main" noGrp="1"/>
          </p:cNvSpPr>
          <p:nvPr/>
        </p:nvSpPr>
        <p:spPr>
          <a:xfrm xmlns:a="http://schemas.openxmlformats.org/drawingml/2006/main">
            <a:off x="609600" y="3371850"/>
            <a:ext cx="10972800" cy="552450"/>
          </a:xfrm>
          <a:prstGeom xmlns:a="http://schemas.openxmlformats.org/drawingml/2006/main" prst="roundRect">
            <a:avLst>
              <a:gd name="adj" fmla="val 13793"/>
            </a:avLst>
          </a:prstGeom>
          <a:solidFill xmlns:a="http://schemas.openxmlformats.org/drawingml/2006/main">
            <a:srgbClr val="087E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3CA0FB4-8C37-49CD-B31A-4E00243961FE}"/>
              </a:ext>
            </a:extLst>
          </p:cNvPr>
          <p:cNvSpPr>
            <a:spLocks xmlns:a="http://schemas.openxmlformats.org/drawingml/2006/main" noGrp="1"/>
          </p:cNvSpPr>
          <p:nvPr/>
        </p:nvSpPr>
        <p:spPr>
          <a:xfrm xmlns:a="http://schemas.openxmlformats.org/drawingml/2006/main">
            <a:off x="838200" y="35052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Data protection</a:t>
            </a:r>
          </a:p>
        </p:txBody>
      </p:sp>
      <p:sp>
        <p:nvSpPr>
          <p:cNvPr id="12" name="">
            <a:extLst xmlns:a="http://schemas.openxmlformats.org/drawingml/2006/main">
              <a:ext uri="{FF2B5EF4-FFF2-40B4-BE49-F238E27FC236}">
                <a16:creationId xmlns:a16="http://schemas.microsoft.com/office/drawing/2014/main" id="{5D95E2BD-D2F4-424B-BDF8-9C65E8A62E3F}"/>
              </a:ext>
            </a:extLst>
          </p:cNvPr>
          <p:cNvSpPr>
            <a:spLocks xmlns:a="http://schemas.openxmlformats.org/drawingml/2006/main" noGrp="1"/>
          </p:cNvSpPr>
          <p:nvPr/>
        </p:nvSpPr>
        <p:spPr>
          <a:xfrm xmlns:a="http://schemas.openxmlformats.org/drawingml/2006/main">
            <a:off x="3181350" y="35242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Sensitivity, origin, permitted destinations and retention shape use.</a:t>
            </a:r>
          </a:p>
        </p:txBody>
      </p:sp>
      <p:sp>
        <p:nvSpPr>
          <p:cNvPr id="13" name="">
            <a:extLst xmlns:a="http://schemas.openxmlformats.org/drawingml/2006/main">
              <a:ext uri="{FF2B5EF4-FFF2-40B4-BE49-F238E27FC236}">
                <a16:creationId xmlns:a16="http://schemas.microsoft.com/office/drawing/2014/main" id="{F06A3D40-5A3B-46B4-BBAF-55C27ACB384F}"/>
              </a:ext>
            </a:extLst>
          </p:cNvPr>
          <p:cNvSpPr>
            <a:spLocks xmlns:a="http://schemas.openxmlformats.org/drawingml/2006/main" noGrp="1"/>
          </p:cNvSpPr>
          <p:nvPr/>
        </p:nvSpPr>
        <p:spPr>
          <a:xfrm xmlns:a="http://schemas.openxmlformats.org/drawingml/2006/main">
            <a:off x="609600" y="4152900"/>
            <a:ext cx="10972800" cy="552450"/>
          </a:xfrm>
          <a:prstGeom xmlns:a="http://schemas.openxmlformats.org/drawingml/2006/main" prst="roundRect">
            <a:avLst>
              <a:gd name="adj" fmla="val 13793"/>
            </a:avLst>
          </a:prstGeom>
          <a:solidFill xmlns:a="http://schemas.openxmlformats.org/drawingml/2006/main">
            <a:srgbClr val="61717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A5734CC-6D90-4166-9A80-D6133CB5194A}"/>
              </a:ext>
            </a:extLst>
          </p:cNvPr>
          <p:cNvSpPr>
            <a:spLocks xmlns:a="http://schemas.openxmlformats.org/drawingml/2006/main" noGrp="1"/>
          </p:cNvSpPr>
          <p:nvPr/>
        </p:nvSpPr>
        <p:spPr>
          <a:xfrm xmlns:a="http://schemas.openxmlformats.org/drawingml/2006/main">
            <a:off x="838200" y="42862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Evidence</a:t>
            </a:r>
          </a:p>
        </p:txBody>
      </p:sp>
      <p:sp>
        <p:nvSpPr>
          <p:cNvPr id="15" name="">
            <a:extLst xmlns:a="http://schemas.openxmlformats.org/drawingml/2006/main">
              <a:ext uri="{FF2B5EF4-FFF2-40B4-BE49-F238E27FC236}">
                <a16:creationId xmlns:a16="http://schemas.microsoft.com/office/drawing/2014/main" id="{BF2E94E5-E015-4406-BCA6-2738BD3D1BCA}"/>
              </a:ext>
            </a:extLst>
          </p:cNvPr>
          <p:cNvSpPr>
            <a:spLocks xmlns:a="http://schemas.openxmlformats.org/drawingml/2006/main" noGrp="1"/>
          </p:cNvSpPr>
          <p:nvPr/>
        </p:nvSpPr>
        <p:spPr>
          <a:xfrm xmlns:a="http://schemas.openxmlformats.org/drawingml/2006/main">
            <a:off x="3181350" y="43053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Records from source systems reconstruct decisions and check outcomes.</a:t>
            </a:r>
          </a:p>
        </p:txBody>
      </p:sp>
      <p:sp>
        <p:nvSpPr>
          <p:cNvPr id="16" name="">
            <a:extLst xmlns:a="http://schemas.openxmlformats.org/drawingml/2006/main">
              <a:ext uri="{FF2B5EF4-FFF2-40B4-BE49-F238E27FC236}">
                <a16:creationId xmlns:a16="http://schemas.microsoft.com/office/drawing/2014/main" id="{1D123E18-4EF7-419E-B7B3-4ED74F51ED31}"/>
              </a:ext>
            </a:extLst>
          </p:cNvPr>
          <p:cNvSpPr>
            <a:spLocks xmlns:a="http://schemas.openxmlformats.org/drawingml/2006/main" noGrp="1"/>
          </p:cNvSpPr>
          <p:nvPr/>
        </p:nvSpPr>
        <p:spPr>
          <a:xfrm xmlns:a="http://schemas.openxmlformats.org/drawingml/2006/main">
            <a:off x="609600" y="4933950"/>
            <a:ext cx="10972800" cy="552450"/>
          </a:xfrm>
          <a:prstGeom xmlns:a="http://schemas.openxmlformats.org/drawingml/2006/main" prst="roundRect">
            <a:avLst>
              <a:gd name="adj" fmla="val 13793"/>
            </a:avLst>
          </a:prstGeom>
          <a:solidFill xmlns:a="http://schemas.openxmlformats.org/drawingml/2006/main">
            <a:srgbClr val="12324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D96C59A-939C-4A15-8D1C-8295031EB189}"/>
              </a:ext>
            </a:extLst>
          </p:cNvPr>
          <p:cNvSpPr>
            <a:spLocks xmlns:a="http://schemas.openxmlformats.org/drawingml/2006/main" noGrp="1"/>
          </p:cNvSpPr>
          <p:nvPr/>
        </p:nvSpPr>
        <p:spPr>
          <a:xfrm xmlns:a="http://schemas.openxmlformats.org/drawingml/2006/main">
            <a:off x="838200" y="50673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Recovery</a:t>
            </a:r>
          </a:p>
        </p:txBody>
      </p:sp>
      <p:sp>
        <p:nvSpPr>
          <p:cNvPr id="18" name="">
            <a:extLst xmlns:a="http://schemas.openxmlformats.org/drawingml/2006/main">
              <a:ext uri="{FF2B5EF4-FFF2-40B4-BE49-F238E27FC236}">
                <a16:creationId xmlns:a16="http://schemas.microsoft.com/office/drawing/2014/main" id="{9F477304-B552-4EAD-B396-4C9D709FAFE1}"/>
              </a:ext>
            </a:extLst>
          </p:cNvPr>
          <p:cNvSpPr>
            <a:spLocks xmlns:a="http://schemas.openxmlformats.org/drawingml/2006/main" noGrp="1"/>
          </p:cNvSpPr>
          <p:nvPr/>
        </p:nvSpPr>
        <p:spPr>
          <a:xfrm xmlns:a="http://schemas.openxmlformats.org/drawingml/2006/main">
            <a:off x="3181350" y="50863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People can stop, contain and restore. Recovery actions have their own authority.</a:t>
            </a:r>
          </a:p>
        </p:txBody>
      </p:sp>
      <p:sp>
        <p:nvSpPr>
          <p:cNvPr id="19" name="">
            <a:extLst xmlns:a="http://schemas.openxmlformats.org/drawingml/2006/main">
              <a:ext uri="{FF2B5EF4-FFF2-40B4-BE49-F238E27FC236}">
                <a16:creationId xmlns:a16="http://schemas.microsoft.com/office/drawing/2014/main" id="{5912CF84-5443-4DE1-B2C7-8C783E0E45F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4FE9C534-5A5E-4DBB-8855-C131523C45F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06</a:t>
            </a:r>
          </a:p>
        </p:txBody>
      </p:sp>
    </p:spTree>
    <p:extLst>
      <p:ext uri="{BB962C8B-B14F-4D97-AF65-F5344CB8AC3E}">
        <p14:creationId xmlns:p14="http://schemas.microsoft.com/office/powerpoint/2010/main" val="5628187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37C620-5170-4858-AC11-426852FC8D8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3D662440-4BFC-4FA0-A3D9-63ECDA696EA3}"/>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Series overview</a:t>
            </a:r>
          </a:p>
        </p:txBody>
      </p:sp>
      <p:sp>
        <p:nvSpPr>
          <p:cNvPr id="3" name="">
            <a:extLst xmlns:a="http://schemas.openxmlformats.org/drawingml/2006/main">
              <a:ext uri="{FF2B5EF4-FFF2-40B4-BE49-F238E27FC236}">
                <a16:creationId xmlns:a16="http://schemas.microsoft.com/office/drawing/2014/main" id="{FFED27A1-DFD0-4BD2-B7ED-07DF7DBA0829}"/>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1e51adb105043b4"/>
          <a:stretch xmlns:a="http://schemas.openxmlformats.org/drawingml/2006/main"/>
        </p:blipFill>
        <p:spPr>
          <a:xfrm xmlns:a="http://schemas.openxmlformats.org/drawingml/2006/main">
            <a:off x="1864916" y="1485900"/>
            <a:ext cx="8462168" cy="4762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205FF97-D920-4EFD-A015-C0DDD1E5EE7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76D4A4FC-CA96-4E7F-B2EA-AD7A8CCC9996}"/>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07</a:t>
            </a:r>
          </a:p>
        </p:txBody>
      </p:sp>
    </p:spTree>
    <p:extLst>
      <p:ext uri="{BB962C8B-B14F-4D97-AF65-F5344CB8AC3E}">
        <p14:creationId xmlns:p14="http://schemas.microsoft.com/office/powerpoint/2010/main" val="18787210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B98A6A4-7814-40B2-890B-3F90F4FE42A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691B5646-F350-4FFB-9513-02F7DDFB5330}"/>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 familiar example: supplier payment change</a:t>
            </a:r>
          </a:p>
        </p:txBody>
      </p:sp>
      <p:sp>
        <p:nvSpPr>
          <p:cNvPr id="3" name="">
            <a:extLst xmlns:a="http://schemas.openxmlformats.org/drawingml/2006/main">
              <a:ext uri="{FF2B5EF4-FFF2-40B4-BE49-F238E27FC236}">
                <a16:creationId xmlns:a16="http://schemas.microsoft.com/office/drawing/2014/main" id="{60E72BAB-97B0-4AB7-A66F-4671E1A5DAA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22E182-3BF6-4C12-9891-834F04C54232}"/>
              </a:ext>
            </a:extLst>
          </p:cNvPr>
          <p:cNvSpPr>
            <a:spLocks xmlns:a="http://schemas.openxmlformats.org/drawingml/2006/main" noGrp="1"/>
          </p:cNvSpPr>
          <p:nvPr/>
        </p:nvSpPr>
        <p:spPr>
          <a:xfrm xmlns:a="http://schemas.openxmlformats.org/drawingml/2006/main">
            <a:off x="723900"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0DE93A78-2EDA-4E82-95D1-E1454FCD4182}"/>
              </a:ext>
            </a:extLst>
          </p:cNvPr>
          <p:cNvSpPr>
            <a:spLocks xmlns:a="http://schemas.openxmlformats.org/drawingml/2006/main" noGrp="1"/>
          </p:cNvSpPr>
          <p:nvPr/>
        </p:nvSpPr>
        <p:spPr>
          <a:xfrm xmlns:a="http://schemas.openxmlformats.org/drawingml/2006/main">
            <a:off x="857250"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Supplier request</a:t>
            </a:r>
          </a:p>
        </p:txBody>
      </p:sp>
      <p:sp>
        <p:nvSpPr>
          <p:cNvPr id="6" name="">
            <a:extLst xmlns:a="http://schemas.openxmlformats.org/drawingml/2006/main">
              <a:ext uri="{FF2B5EF4-FFF2-40B4-BE49-F238E27FC236}">
                <a16:creationId xmlns:a16="http://schemas.microsoft.com/office/drawing/2014/main" id="{EE9F748B-7770-4D4D-B7CB-0BBAF449FC9A}"/>
              </a:ext>
            </a:extLst>
          </p:cNvPr>
          <p:cNvSpPr>
            <a:spLocks xmlns:a="http://schemas.openxmlformats.org/drawingml/2006/main" noGrp="1"/>
          </p:cNvSpPr>
          <p:nvPr/>
        </p:nvSpPr>
        <p:spPr>
          <a:xfrm xmlns:a="http://schemas.openxmlformats.org/drawingml/2006/main">
            <a:off x="857250"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supplier asks to change bank details.</a:t>
            </a:r>
          </a:p>
        </p:txBody>
      </p:sp>
      <p:sp>
        <p:nvSpPr>
          <p:cNvPr id="7" name="">
            <a:extLst xmlns:a="http://schemas.openxmlformats.org/drawingml/2006/main">
              <a:ext uri="{FF2B5EF4-FFF2-40B4-BE49-F238E27FC236}">
                <a16:creationId xmlns:a16="http://schemas.microsoft.com/office/drawing/2014/main" id="{9FC57184-B833-4EB0-B682-25C960FA177C}"/>
              </a:ext>
            </a:extLst>
          </p:cNvPr>
          <p:cNvSpPr>
            <a:spLocks xmlns:a="http://schemas.openxmlformats.org/drawingml/2006/main" noGrp="1"/>
          </p:cNvSpPr>
          <p:nvPr/>
        </p:nvSpPr>
        <p:spPr>
          <a:xfrm xmlns:a="http://schemas.openxmlformats.org/drawingml/2006/main">
            <a:off x="3281363"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734660CA-5A0E-4606-9814-51DA7F44C9E8}"/>
              </a:ext>
            </a:extLst>
          </p:cNvPr>
          <p:cNvSpPr>
            <a:spLocks xmlns:a="http://schemas.openxmlformats.org/drawingml/2006/main" noGrp="1"/>
          </p:cNvSpPr>
          <p:nvPr/>
        </p:nvSpPr>
        <p:spPr>
          <a:xfrm xmlns:a="http://schemas.openxmlformats.org/drawingml/2006/main">
            <a:off x="3433763"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25A24CB9-B215-4007-8D33-741E22859709}"/>
              </a:ext>
            </a:extLst>
          </p:cNvPr>
          <p:cNvSpPr>
            <a:spLocks xmlns:a="http://schemas.openxmlformats.org/drawingml/2006/main" noGrp="1"/>
          </p:cNvSpPr>
          <p:nvPr/>
        </p:nvSpPr>
        <p:spPr>
          <a:xfrm xmlns:a="http://schemas.openxmlformats.org/drawingml/2006/main">
            <a:off x="3567113"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Business assistant</a:t>
            </a:r>
          </a:p>
        </p:txBody>
      </p:sp>
      <p:sp>
        <p:nvSpPr>
          <p:cNvPr id="10" name="">
            <a:extLst xmlns:a="http://schemas.openxmlformats.org/drawingml/2006/main">
              <a:ext uri="{FF2B5EF4-FFF2-40B4-BE49-F238E27FC236}">
                <a16:creationId xmlns:a16="http://schemas.microsoft.com/office/drawing/2014/main" id="{107537A0-1CB6-4458-8504-0B8A8E0DA80F}"/>
              </a:ext>
            </a:extLst>
          </p:cNvPr>
          <p:cNvSpPr>
            <a:spLocks xmlns:a="http://schemas.openxmlformats.org/drawingml/2006/main" noGrp="1"/>
          </p:cNvSpPr>
          <p:nvPr/>
        </p:nvSpPr>
        <p:spPr>
          <a:xfrm xmlns:a="http://schemas.openxmlformats.org/drawingml/2006/main">
            <a:off x="3567113"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Reads the request and prepares a proposed change.</a:t>
            </a:r>
          </a:p>
        </p:txBody>
      </p:sp>
      <p:sp>
        <p:nvSpPr>
          <p:cNvPr id="11" name="">
            <a:extLst xmlns:a="http://schemas.openxmlformats.org/drawingml/2006/main">
              <a:ext uri="{FF2B5EF4-FFF2-40B4-BE49-F238E27FC236}">
                <a16:creationId xmlns:a16="http://schemas.microsoft.com/office/drawing/2014/main" id="{C1BDE1F2-4434-4108-8908-5D6C3A83779F}"/>
              </a:ext>
            </a:extLst>
          </p:cNvPr>
          <p:cNvSpPr>
            <a:spLocks xmlns:a="http://schemas.openxmlformats.org/drawingml/2006/main" noGrp="1"/>
          </p:cNvSpPr>
          <p:nvPr/>
        </p:nvSpPr>
        <p:spPr>
          <a:xfrm xmlns:a="http://schemas.openxmlformats.org/drawingml/2006/main">
            <a:off x="5991225"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C3344BF6-BB7F-4D53-9D5A-5A18F2C99935}"/>
              </a:ext>
            </a:extLst>
          </p:cNvPr>
          <p:cNvSpPr>
            <a:spLocks xmlns:a="http://schemas.openxmlformats.org/drawingml/2006/main" noGrp="1"/>
          </p:cNvSpPr>
          <p:nvPr/>
        </p:nvSpPr>
        <p:spPr>
          <a:xfrm xmlns:a="http://schemas.openxmlformats.org/drawingml/2006/main">
            <a:off x="6143625"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C7F1614F-E8E3-4C0C-9E18-E5682E120DE4}"/>
              </a:ext>
            </a:extLst>
          </p:cNvPr>
          <p:cNvSpPr>
            <a:spLocks xmlns:a="http://schemas.openxmlformats.org/drawingml/2006/main" noGrp="1"/>
          </p:cNvSpPr>
          <p:nvPr/>
        </p:nvSpPr>
        <p:spPr>
          <a:xfrm xmlns:a="http://schemas.openxmlformats.org/drawingml/2006/main">
            <a:off x="6276975"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Decision point</a:t>
            </a:r>
          </a:p>
        </p:txBody>
      </p:sp>
      <p:sp>
        <p:nvSpPr>
          <p:cNvPr id="14" name="">
            <a:extLst xmlns:a="http://schemas.openxmlformats.org/drawingml/2006/main">
              <a:ext uri="{FF2B5EF4-FFF2-40B4-BE49-F238E27FC236}">
                <a16:creationId xmlns:a16="http://schemas.microsoft.com/office/drawing/2014/main" id="{F4BA39B8-FF3C-489E-BB35-32484E0737FA}"/>
              </a:ext>
            </a:extLst>
          </p:cNvPr>
          <p:cNvSpPr>
            <a:spLocks xmlns:a="http://schemas.openxmlformats.org/drawingml/2006/main" noGrp="1"/>
          </p:cNvSpPr>
          <p:nvPr/>
        </p:nvSpPr>
        <p:spPr>
          <a:xfrm xmlns:a="http://schemas.openxmlformats.org/drawingml/2006/main">
            <a:off x="6276975"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person or rule checks the actual target, scope and authority.</a:t>
            </a:r>
          </a:p>
        </p:txBody>
      </p:sp>
      <p:sp>
        <p:nvSpPr>
          <p:cNvPr id="15" name="">
            <a:extLst xmlns:a="http://schemas.openxmlformats.org/drawingml/2006/main">
              <a:ext uri="{FF2B5EF4-FFF2-40B4-BE49-F238E27FC236}">
                <a16:creationId xmlns:a16="http://schemas.microsoft.com/office/drawing/2014/main" id="{B9C67A4D-3D54-49E1-8409-0379AEC81A0D}"/>
              </a:ext>
            </a:extLst>
          </p:cNvPr>
          <p:cNvSpPr>
            <a:spLocks xmlns:a="http://schemas.openxmlformats.org/drawingml/2006/main" noGrp="1"/>
          </p:cNvSpPr>
          <p:nvPr/>
        </p:nvSpPr>
        <p:spPr>
          <a:xfrm xmlns:a="http://schemas.openxmlformats.org/drawingml/2006/main">
            <a:off x="8701088"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EFDC5517-C772-4D3B-B0BF-64F3FDD602D0}"/>
              </a:ext>
            </a:extLst>
          </p:cNvPr>
          <p:cNvSpPr>
            <a:spLocks xmlns:a="http://schemas.openxmlformats.org/drawingml/2006/main" noGrp="1"/>
          </p:cNvSpPr>
          <p:nvPr/>
        </p:nvSpPr>
        <p:spPr>
          <a:xfrm xmlns:a="http://schemas.openxmlformats.org/drawingml/2006/main">
            <a:off x="8853488"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7" name="">
            <a:extLst xmlns:a="http://schemas.openxmlformats.org/drawingml/2006/main">
              <a:ext uri="{FF2B5EF4-FFF2-40B4-BE49-F238E27FC236}">
                <a16:creationId xmlns:a16="http://schemas.microsoft.com/office/drawing/2014/main" id="{BDF991DF-06B7-462F-82F3-942744418EB8}"/>
              </a:ext>
            </a:extLst>
          </p:cNvPr>
          <p:cNvSpPr>
            <a:spLocks xmlns:a="http://schemas.openxmlformats.org/drawingml/2006/main" noGrp="1"/>
          </p:cNvSpPr>
          <p:nvPr/>
        </p:nvSpPr>
        <p:spPr>
          <a:xfrm xmlns:a="http://schemas.openxmlformats.org/drawingml/2006/main">
            <a:off x="8986838"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Payment outcome</a:t>
            </a:r>
          </a:p>
        </p:txBody>
      </p:sp>
      <p:sp>
        <p:nvSpPr>
          <p:cNvPr id="18" name="">
            <a:extLst xmlns:a="http://schemas.openxmlformats.org/drawingml/2006/main">
              <a:ext uri="{FF2B5EF4-FFF2-40B4-BE49-F238E27FC236}">
                <a16:creationId xmlns:a16="http://schemas.microsoft.com/office/drawing/2014/main" id="{48CC21D2-4A7F-4113-84C7-969F63376D43}"/>
              </a:ext>
            </a:extLst>
          </p:cNvPr>
          <p:cNvSpPr>
            <a:spLocks xmlns:a="http://schemas.openxmlformats.org/drawingml/2006/main" noGrp="1"/>
          </p:cNvSpPr>
          <p:nvPr/>
        </p:nvSpPr>
        <p:spPr>
          <a:xfrm xmlns:a="http://schemas.openxmlformats.org/drawingml/2006/main">
            <a:off x="8986838"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company pays the right supplier and records what occurred.</a:t>
            </a:r>
          </a:p>
        </p:txBody>
      </p:sp>
      <p:sp>
        <p:nvSpPr>
          <p:cNvPr id="19" name="">
            <a:extLst xmlns:a="http://schemas.openxmlformats.org/drawingml/2006/main">
              <a:ext uri="{FF2B5EF4-FFF2-40B4-BE49-F238E27FC236}">
                <a16:creationId xmlns:a16="http://schemas.microsoft.com/office/drawing/2014/main" id="{4346C0CB-B122-49F5-952F-CC0AF1721E50}"/>
              </a:ext>
            </a:extLst>
          </p:cNvPr>
          <p:cNvSpPr>
            <a:spLocks xmlns:a="http://schemas.openxmlformats.org/drawingml/2006/main" noGrp="1"/>
          </p:cNvSpPr>
          <p:nvPr/>
        </p:nvSpPr>
        <p:spPr>
          <a:xfrm xmlns:a="http://schemas.openxmlformats.org/drawingml/2006/main">
            <a:off x="857250" y="4629150"/>
            <a:ext cx="819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61717D"/>
                </a:solidFill>
                <a:latin typeface="DejaVu Sans"/>
                <a:ea typeface="DejaVu Sans"/>
                <a:cs typeface="DejaVu Sans"/>
              </a:defRPr>
            </a:pPr>
            <a:r>
              <a:rPr sz="1425">
                <a:solidFill>
                  <a:srgbClr val="61717D"/>
                </a:solidFill>
                <a:latin typeface="DejaVu Sans"/>
                <a:ea typeface="DejaVu Sans"/>
                <a:cs typeface="DejaVu Sans"/>
              </a:rPr>
              <a:t>The recurring example is illustrative. It names no company, system or approved procedure.</a:t>
            </a:r>
          </a:p>
        </p:txBody>
      </p:sp>
      <p:sp>
        <p:nvSpPr>
          <p:cNvPr id="20" name="">
            <a:extLst xmlns:a="http://schemas.openxmlformats.org/drawingml/2006/main">
              <a:ext uri="{FF2B5EF4-FFF2-40B4-BE49-F238E27FC236}">
                <a16:creationId xmlns:a16="http://schemas.microsoft.com/office/drawing/2014/main" id="{3C7B7D9F-35C3-4BC3-B808-2D351631241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79A17517-48D8-4A83-8265-0EF3394A3F8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08</a:t>
            </a:r>
          </a:p>
        </p:txBody>
      </p:sp>
    </p:spTree>
    <p:extLst>
      <p:ext uri="{BB962C8B-B14F-4D97-AF65-F5344CB8AC3E}">
        <p14:creationId xmlns:p14="http://schemas.microsoft.com/office/powerpoint/2010/main" val="2234909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D82DC1-36D0-4B81-B33D-402A8DE0777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78AB1C67-9B78-4E4A-87C9-B4C347C7ECB7}"/>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01. Secure business AI</a:t>
            </a:r>
          </a:p>
        </p:txBody>
      </p:sp>
      <p:sp>
        <p:nvSpPr>
          <p:cNvPr id="3" name="">
            <a:extLst xmlns:a="http://schemas.openxmlformats.org/drawingml/2006/main">
              <a:ext uri="{FF2B5EF4-FFF2-40B4-BE49-F238E27FC236}">
                <a16:creationId xmlns:a16="http://schemas.microsoft.com/office/drawing/2014/main" id="{253DA072-0215-4545-A021-F21035FA5C7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DCD8D5-7F25-4761-8202-F83B093CA106}"/>
              </a:ext>
            </a:extLst>
          </p:cNvPr>
          <p:cNvSpPr>
            <a:spLocks xmlns:a="http://schemas.openxmlformats.org/drawingml/2006/main" noGrp="1"/>
          </p:cNvSpPr>
          <p:nvPr/>
        </p:nvSpPr>
        <p:spPr>
          <a:xfrm xmlns:a="http://schemas.openxmlformats.org/drawingml/2006/main">
            <a:off x="895350" y="195262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2324A"/>
                </a:solidFill>
                <a:latin typeface="DejaVu Sans"/>
                <a:ea typeface="DejaVu Sans"/>
                <a:cs typeface="DejaVu Sans"/>
              </a:defRPr>
            </a:pPr>
            <a:r>
              <a:rPr sz="2325" b="1">
                <a:solidFill>
                  <a:srgbClr val="12324A"/>
                </a:solidFill>
                <a:latin typeface="DejaVu Sans"/>
                <a:ea typeface="DejaVu Sans"/>
                <a:cs typeface="DejaVu Sans"/>
              </a:rPr>
              <a:t>Question: What may our AI access and do?</a:t>
            </a:r>
          </a:p>
        </p:txBody>
      </p:sp>
      <p:sp>
        <p:nvSpPr>
          <p:cNvPr id="5" name="">
            <a:extLst xmlns:a="http://schemas.openxmlformats.org/drawingml/2006/main">
              <a:ext uri="{FF2B5EF4-FFF2-40B4-BE49-F238E27FC236}">
                <a16:creationId xmlns:a16="http://schemas.microsoft.com/office/drawing/2014/main" id="{C081C06F-F895-448E-B4CA-2C60558E02D2}"/>
              </a:ext>
            </a:extLst>
          </p:cNvPr>
          <p:cNvSpPr>
            <a:spLocks xmlns:a="http://schemas.openxmlformats.org/drawingml/2006/main" noGrp="1"/>
          </p:cNvSpPr>
          <p:nvPr/>
        </p:nvSpPr>
        <p:spPr>
          <a:xfrm xmlns:a="http://schemas.openxmlformats.org/drawingml/2006/main">
            <a:off x="895350" y="2857500"/>
            <a:ext cx="962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An AI workflow can interpret documents and generate tool requests. It must not turn untrusted content or its own output into permission.</a:t>
            </a:r>
          </a:p>
        </p:txBody>
      </p:sp>
      <p:sp>
        <p:nvSpPr>
          <p:cNvPr id="6" name="">
            <a:extLst xmlns:a="http://schemas.openxmlformats.org/drawingml/2006/main">
              <a:ext uri="{FF2B5EF4-FFF2-40B4-BE49-F238E27FC236}">
                <a16:creationId xmlns:a16="http://schemas.microsoft.com/office/drawing/2014/main" id="{20268BE0-F7F8-4639-A6C9-EEDFB61EEB4D}"/>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2C6E9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6B3DA0A-CEC2-46E0-8599-136315DCB4DA}"/>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8CB5651C-B656-4847-B6EE-247664DB9C53}"/>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Limit data access and actions. Bind authority to the initiator, task and current policy.</a:t>
            </a:r>
          </a:p>
        </p:txBody>
      </p:sp>
      <p:sp>
        <p:nvSpPr>
          <p:cNvPr id="9" name="">
            <a:extLst xmlns:a="http://schemas.openxmlformats.org/drawingml/2006/main">
              <a:ext uri="{FF2B5EF4-FFF2-40B4-BE49-F238E27FC236}">
                <a16:creationId xmlns:a16="http://schemas.microsoft.com/office/drawing/2014/main" id="{7ED51F60-355A-4969-84FA-1C3A010AA90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A81997F7-65F3-45CE-A8A7-A7552F104A9E}"/>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09</a:t>
            </a:r>
          </a:p>
        </p:txBody>
      </p:sp>
    </p:spTree>
    <p:extLst>
      <p:ext uri="{BB962C8B-B14F-4D97-AF65-F5344CB8AC3E}">
        <p14:creationId xmlns:p14="http://schemas.microsoft.com/office/powerpoint/2010/main" val="15394156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5C0FBB-869D-4745-B5C7-8A93CD31C64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DA029A6F-0AFB-4D53-BD88-5C08C29C4F3D}"/>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Secure business AI</a:t>
            </a:r>
          </a:p>
        </p:txBody>
      </p:sp>
      <p:sp>
        <p:nvSpPr>
          <p:cNvPr id="3" name="">
            <a:extLst xmlns:a="http://schemas.openxmlformats.org/drawingml/2006/main">
              <a:ext uri="{FF2B5EF4-FFF2-40B4-BE49-F238E27FC236}">
                <a16:creationId xmlns:a16="http://schemas.microsoft.com/office/drawing/2014/main" id="{36BFA321-E5AD-4DE8-A443-3F1F8D28436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5c78c5160b0401e"/>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8D0B610-ED00-4CDD-AEB9-0E1F940E929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169A4362-AE12-467A-9B68-36012DA00EF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10</a:t>
            </a:r>
          </a:p>
        </p:txBody>
      </p:sp>
    </p:spTree>
    <p:extLst>
      <p:ext uri="{BB962C8B-B14F-4D97-AF65-F5344CB8AC3E}">
        <p14:creationId xmlns:p14="http://schemas.microsoft.com/office/powerpoint/2010/main" val="155469237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53E8EA6-005A-42B2-A9F8-E854C488BD6A}"/>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1B6708C-ABBC-4E09-921D-3C340617CAD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Secure business AI: a controlled workflow</a:t>
            </a:r>
          </a:p>
        </p:txBody>
      </p:sp>
      <p:sp>
        <p:nvSpPr>
          <p:cNvPr id="3" name="">
            <a:extLst xmlns:a="http://schemas.openxmlformats.org/drawingml/2006/main">
              <a:ext uri="{FF2B5EF4-FFF2-40B4-BE49-F238E27FC236}">
                <a16:creationId xmlns:a16="http://schemas.microsoft.com/office/drawing/2014/main" id="{277CCF02-0FC1-464E-861B-97B8446B1DC2}"/>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B1D441-F91A-4D16-905B-0EEE365ACC32}"/>
              </a:ext>
            </a:extLst>
          </p:cNvPr>
          <p:cNvSpPr>
            <a:spLocks xmlns:a="http://schemas.openxmlformats.org/drawingml/2006/main" noGrp="1"/>
          </p:cNvSpPr>
          <p:nvPr/>
        </p:nvSpPr>
        <p:spPr>
          <a:xfrm xmlns:a="http://schemas.openxmlformats.org/drawingml/2006/main">
            <a:off x="723900"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E6801967-8162-47E7-8E01-87794EED7D30}"/>
              </a:ext>
            </a:extLst>
          </p:cNvPr>
          <p:cNvSpPr>
            <a:spLocks xmlns:a="http://schemas.openxmlformats.org/drawingml/2006/main" noGrp="1"/>
          </p:cNvSpPr>
          <p:nvPr/>
        </p:nvSpPr>
        <p:spPr>
          <a:xfrm xmlns:a="http://schemas.openxmlformats.org/drawingml/2006/main">
            <a:off x="857250"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Request and identity</a:t>
            </a:r>
          </a:p>
        </p:txBody>
      </p:sp>
      <p:sp>
        <p:nvSpPr>
          <p:cNvPr id="6" name="">
            <a:extLst xmlns:a="http://schemas.openxmlformats.org/drawingml/2006/main">
              <a:ext uri="{FF2B5EF4-FFF2-40B4-BE49-F238E27FC236}">
                <a16:creationId xmlns:a16="http://schemas.microsoft.com/office/drawing/2014/main" id="{EBE92D42-B7D8-454F-9E37-0BF802ED1EFA}"/>
              </a:ext>
            </a:extLst>
          </p:cNvPr>
          <p:cNvSpPr>
            <a:spLocks xmlns:a="http://schemas.openxmlformats.org/drawingml/2006/main" noGrp="1"/>
          </p:cNvSpPr>
          <p:nvPr/>
        </p:nvSpPr>
        <p:spPr>
          <a:xfrm xmlns:a="http://schemas.openxmlformats.org/drawingml/2006/main">
            <a:off x="857250"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Capture requester, purpose and account scope.</a:t>
            </a:r>
          </a:p>
        </p:txBody>
      </p:sp>
      <p:sp>
        <p:nvSpPr>
          <p:cNvPr id="7" name="">
            <a:extLst xmlns:a="http://schemas.openxmlformats.org/drawingml/2006/main">
              <a:ext uri="{FF2B5EF4-FFF2-40B4-BE49-F238E27FC236}">
                <a16:creationId xmlns:a16="http://schemas.microsoft.com/office/drawing/2014/main" id="{51439909-5509-4859-BCF7-0F776D32E3B9}"/>
              </a:ext>
            </a:extLst>
          </p:cNvPr>
          <p:cNvSpPr>
            <a:spLocks xmlns:a="http://schemas.openxmlformats.org/drawingml/2006/main" noGrp="1"/>
          </p:cNvSpPr>
          <p:nvPr/>
        </p:nvSpPr>
        <p:spPr>
          <a:xfrm xmlns:a="http://schemas.openxmlformats.org/drawingml/2006/main">
            <a:off x="3281363"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31E00529-5303-4E4E-BF94-CE5B0653043A}"/>
              </a:ext>
            </a:extLst>
          </p:cNvPr>
          <p:cNvSpPr>
            <a:spLocks xmlns:a="http://schemas.openxmlformats.org/drawingml/2006/main" noGrp="1"/>
          </p:cNvSpPr>
          <p:nvPr/>
        </p:nvSpPr>
        <p:spPr>
          <a:xfrm xmlns:a="http://schemas.openxmlformats.org/drawingml/2006/main">
            <a:off x="3433763"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F845BEB1-EDAA-443D-9036-41FC4F2BE084}"/>
              </a:ext>
            </a:extLst>
          </p:cNvPr>
          <p:cNvSpPr>
            <a:spLocks xmlns:a="http://schemas.openxmlformats.org/drawingml/2006/main" noGrp="1"/>
          </p:cNvSpPr>
          <p:nvPr/>
        </p:nvSpPr>
        <p:spPr>
          <a:xfrm xmlns:a="http://schemas.openxmlformats.org/drawingml/2006/main">
            <a:off x="3567113"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Restricted runtime</a:t>
            </a:r>
          </a:p>
        </p:txBody>
      </p:sp>
      <p:sp>
        <p:nvSpPr>
          <p:cNvPr id="10" name="">
            <a:extLst xmlns:a="http://schemas.openxmlformats.org/drawingml/2006/main">
              <a:ext uri="{FF2B5EF4-FFF2-40B4-BE49-F238E27FC236}">
                <a16:creationId xmlns:a16="http://schemas.microsoft.com/office/drawing/2014/main" id="{430661CF-AB59-4BEF-94D6-C98974069F66}"/>
              </a:ext>
            </a:extLst>
          </p:cNvPr>
          <p:cNvSpPr>
            <a:spLocks xmlns:a="http://schemas.openxmlformats.org/drawingml/2006/main" noGrp="1"/>
          </p:cNvSpPr>
          <p:nvPr/>
        </p:nvSpPr>
        <p:spPr>
          <a:xfrm xmlns:a="http://schemas.openxmlformats.org/drawingml/2006/main">
            <a:off x="3567113"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agent coordinates permitted steps inside set limits.</a:t>
            </a:r>
          </a:p>
        </p:txBody>
      </p:sp>
      <p:sp>
        <p:nvSpPr>
          <p:cNvPr id="11" name="">
            <a:extLst xmlns:a="http://schemas.openxmlformats.org/drawingml/2006/main">
              <a:ext uri="{FF2B5EF4-FFF2-40B4-BE49-F238E27FC236}">
                <a16:creationId xmlns:a16="http://schemas.microsoft.com/office/drawing/2014/main" id="{9A02F719-FA71-4ABD-9D4B-E2D1A27DAE52}"/>
              </a:ext>
            </a:extLst>
          </p:cNvPr>
          <p:cNvSpPr>
            <a:spLocks xmlns:a="http://schemas.openxmlformats.org/drawingml/2006/main" noGrp="1"/>
          </p:cNvSpPr>
          <p:nvPr/>
        </p:nvSpPr>
        <p:spPr>
          <a:xfrm xmlns:a="http://schemas.openxmlformats.org/drawingml/2006/main">
            <a:off x="5991225"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A1AC482C-910A-4EBF-9EBE-7ACF822009CB}"/>
              </a:ext>
            </a:extLst>
          </p:cNvPr>
          <p:cNvSpPr>
            <a:spLocks xmlns:a="http://schemas.openxmlformats.org/drawingml/2006/main" noGrp="1"/>
          </p:cNvSpPr>
          <p:nvPr/>
        </p:nvSpPr>
        <p:spPr>
          <a:xfrm xmlns:a="http://schemas.openxmlformats.org/drawingml/2006/main">
            <a:off x="6143625" y="201930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E733F2E0-E93C-4473-ABD4-9B758E5ADD6F}"/>
              </a:ext>
            </a:extLst>
          </p:cNvPr>
          <p:cNvSpPr>
            <a:spLocks xmlns:a="http://schemas.openxmlformats.org/drawingml/2006/main" noGrp="1"/>
          </p:cNvSpPr>
          <p:nvPr/>
        </p:nvSpPr>
        <p:spPr>
          <a:xfrm xmlns:a="http://schemas.openxmlformats.org/drawingml/2006/main">
            <a:off x="6276975"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Action check</a:t>
            </a:r>
          </a:p>
        </p:txBody>
      </p:sp>
      <p:sp>
        <p:nvSpPr>
          <p:cNvPr id="14" name="">
            <a:extLst xmlns:a="http://schemas.openxmlformats.org/drawingml/2006/main">
              <a:ext uri="{FF2B5EF4-FFF2-40B4-BE49-F238E27FC236}">
                <a16:creationId xmlns:a16="http://schemas.microsoft.com/office/drawing/2014/main" id="{20B92F2D-031D-484C-B5EE-DC13A025457A}"/>
              </a:ext>
            </a:extLst>
          </p:cNvPr>
          <p:cNvSpPr>
            <a:spLocks xmlns:a="http://schemas.openxmlformats.org/drawingml/2006/main" noGrp="1"/>
          </p:cNvSpPr>
          <p:nvPr/>
        </p:nvSpPr>
        <p:spPr>
          <a:xfrm xmlns:a="http://schemas.openxmlformats.org/drawingml/2006/main">
            <a:off x="6276975"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Independent policy checks caller, target and operation.</a:t>
            </a:r>
          </a:p>
        </p:txBody>
      </p:sp>
      <p:sp>
        <p:nvSpPr>
          <p:cNvPr id="15" name="">
            <a:extLst xmlns:a="http://schemas.openxmlformats.org/drawingml/2006/main">
              <a:ext uri="{FF2B5EF4-FFF2-40B4-BE49-F238E27FC236}">
                <a16:creationId xmlns:a16="http://schemas.microsoft.com/office/drawing/2014/main" id="{7BA71A8B-3601-46A0-90B7-A7FAF9EAA96E}"/>
              </a:ext>
            </a:extLst>
          </p:cNvPr>
          <p:cNvSpPr>
            <a:spLocks xmlns:a="http://schemas.openxmlformats.org/drawingml/2006/main" noGrp="1"/>
          </p:cNvSpPr>
          <p:nvPr/>
        </p:nvSpPr>
        <p:spPr>
          <a:xfrm xmlns:a="http://schemas.openxmlformats.org/drawingml/2006/main">
            <a:off x="8701088"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AD267710-87EC-4CD9-A401-AE144BDDECA4}"/>
              </a:ext>
            </a:extLst>
          </p:cNvPr>
          <p:cNvSpPr>
            <a:spLocks xmlns:a="http://schemas.openxmlformats.org/drawingml/2006/main" noGrp="1"/>
          </p:cNvSpPr>
          <p:nvPr/>
        </p:nvSpPr>
        <p:spPr>
          <a:xfrm xmlns:a="http://schemas.openxmlformats.org/drawingml/2006/main">
            <a:off x="8853488" y="201930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661E707A-F592-4F09-8388-5FCDDEA2C37C}"/>
              </a:ext>
            </a:extLst>
          </p:cNvPr>
          <p:cNvSpPr>
            <a:spLocks xmlns:a="http://schemas.openxmlformats.org/drawingml/2006/main" noGrp="1"/>
          </p:cNvSpPr>
          <p:nvPr/>
        </p:nvSpPr>
        <p:spPr>
          <a:xfrm xmlns:a="http://schemas.openxmlformats.org/drawingml/2006/main">
            <a:off x="8986838"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Destination evidence</a:t>
            </a:r>
          </a:p>
        </p:txBody>
      </p:sp>
      <p:sp>
        <p:nvSpPr>
          <p:cNvPr id="18" name="">
            <a:extLst xmlns:a="http://schemas.openxmlformats.org/drawingml/2006/main">
              <a:ext uri="{FF2B5EF4-FFF2-40B4-BE49-F238E27FC236}">
                <a16:creationId xmlns:a16="http://schemas.microsoft.com/office/drawing/2014/main" id="{649E1D7E-4C56-449B-AA92-50C163990065}"/>
              </a:ext>
            </a:extLst>
          </p:cNvPr>
          <p:cNvSpPr>
            <a:spLocks xmlns:a="http://schemas.openxmlformats.org/drawingml/2006/main" noGrp="1"/>
          </p:cNvSpPr>
          <p:nvPr/>
        </p:nvSpPr>
        <p:spPr>
          <a:xfrm xmlns:a="http://schemas.openxmlformats.org/drawingml/2006/main">
            <a:off x="8986838"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receiving system records the result.</a:t>
            </a:r>
          </a:p>
        </p:txBody>
      </p:sp>
      <p:sp>
        <p:nvSpPr>
          <p:cNvPr id="19" name="">
            <a:extLst xmlns:a="http://schemas.openxmlformats.org/drawingml/2006/main">
              <a:ext uri="{FF2B5EF4-FFF2-40B4-BE49-F238E27FC236}">
                <a16:creationId xmlns:a16="http://schemas.microsoft.com/office/drawing/2014/main" id="{EF431FE6-8415-498D-BC62-FD9885C2DE00}"/>
              </a:ext>
            </a:extLst>
          </p:cNvPr>
          <p:cNvSpPr>
            <a:spLocks xmlns:a="http://schemas.openxmlformats.org/drawingml/2006/main" noGrp="1"/>
          </p:cNvSpPr>
          <p:nvPr/>
        </p:nvSpPr>
        <p:spPr>
          <a:xfrm xmlns:a="http://schemas.openxmlformats.org/drawingml/2006/main">
            <a:off x="876300" y="46958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87E8B"/>
                </a:solidFill>
                <a:latin typeface="DejaVu Sans"/>
                <a:ea typeface="DejaVu Sans"/>
                <a:cs typeface="DejaVu Sans"/>
              </a:defRPr>
            </a:pPr>
            <a:r>
              <a:rPr sz="1425" b="1">
                <a:solidFill>
                  <a:srgbClr val="087E8B"/>
                </a:solidFill>
                <a:latin typeface="DejaVu Sans"/>
                <a:ea typeface="DejaVu Sans"/>
                <a:cs typeface="DejaVu Sans"/>
              </a:rPr>
              <a:t>Teaching diagram: the proposed action passes through an independent check. Model output cannot grant permission.</a:t>
            </a:r>
          </a:p>
        </p:txBody>
      </p:sp>
      <p:sp>
        <p:nvSpPr>
          <p:cNvPr id="20" name="">
            <a:extLst xmlns:a="http://schemas.openxmlformats.org/drawingml/2006/main">
              <a:ext uri="{FF2B5EF4-FFF2-40B4-BE49-F238E27FC236}">
                <a16:creationId xmlns:a16="http://schemas.microsoft.com/office/drawing/2014/main" id="{1DD08FC8-9D00-4382-BC50-EA514166B81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57C3A64D-4C6B-4D3A-9A8B-235EEDBDBED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11</a:t>
            </a:r>
          </a:p>
        </p:txBody>
      </p:sp>
    </p:spTree>
    <p:extLst>
      <p:ext uri="{BB962C8B-B14F-4D97-AF65-F5344CB8AC3E}">
        <p14:creationId xmlns:p14="http://schemas.microsoft.com/office/powerpoint/2010/main" val="20858472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7B3A3B7-1010-41C7-B9C8-32D9A7B22DB8}"/>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52C93CB8-C2A2-4899-B44B-30B135139E3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Access and action checks</a:t>
            </a:r>
          </a:p>
        </p:txBody>
      </p:sp>
      <p:sp>
        <p:nvSpPr>
          <p:cNvPr id="3" name="">
            <a:extLst xmlns:a="http://schemas.openxmlformats.org/drawingml/2006/main">
              <a:ext uri="{FF2B5EF4-FFF2-40B4-BE49-F238E27FC236}">
                <a16:creationId xmlns:a16="http://schemas.microsoft.com/office/drawing/2014/main" id="{CAD6D6A7-013E-444F-82F8-66E21400D87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F405A5-C8E2-432B-B6D5-618460CBAD5F}"/>
              </a:ext>
            </a:extLst>
          </p:cNvPr>
          <p:cNvSpPr>
            <a:spLocks xmlns:a="http://schemas.openxmlformats.org/drawingml/2006/main" noGrp="1"/>
          </p:cNvSpPr>
          <p:nvPr/>
        </p:nvSpPr>
        <p:spPr>
          <a:xfrm xmlns:a="http://schemas.openxmlformats.org/drawingml/2006/main">
            <a:off x="876300" y="1866900"/>
            <a:ext cx="4476750" cy="2800350"/>
          </a:xfrm>
          <a:prstGeom xmlns:a="http://schemas.openxmlformats.org/drawingml/2006/main" prst="roundRect">
            <a:avLst>
              <a:gd name="adj" fmla="val 2721"/>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FBC38648-4E60-43F0-9AD7-77045C4C4E53}"/>
              </a:ext>
            </a:extLst>
          </p:cNvPr>
          <p:cNvSpPr>
            <a:spLocks xmlns:a="http://schemas.openxmlformats.org/drawingml/2006/main" noGrp="1"/>
          </p:cNvSpPr>
          <p:nvPr/>
        </p:nvSpPr>
        <p:spPr>
          <a:xfrm xmlns:a="http://schemas.openxmlformats.org/drawingml/2006/main">
            <a:off x="876300" y="1866900"/>
            <a:ext cx="66675" cy="28003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629A4A-8F71-4CBE-81D6-AD013409AEFC}"/>
              </a:ext>
            </a:extLst>
          </p:cNvPr>
          <p:cNvSpPr>
            <a:spLocks xmlns:a="http://schemas.openxmlformats.org/drawingml/2006/main" noGrp="1"/>
          </p:cNvSpPr>
          <p:nvPr/>
        </p:nvSpPr>
        <p:spPr>
          <a:xfrm xmlns:a="http://schemas.openxmlformats.org/drawingml/2006/main">
            <a:off x="1104900" y="203835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Inputs to evaluate</a:t>
            </a:r>
          </a:p>
        </p:txBody>
      </p:sp>
      <p:sp>
        <p:nvSpPr>
          <p:cNvPr id="7" name="">
            <a:extLst xmlns:a="http://schemas.openxmlformats.org/drawingml/2006/main">
              <a:ext uri="{FF2B5EF4-FFF2-40B4-BE49-F238E27FC236}">
                <a16:creationId xmlns:a16="http://schemas.microsoft.com/office/drawing/2014/main" id="{6E7D4576-9F41-45B5-BADD-90B7C164F6FF}"/>
              </a:ext>
            </a:extLst>
          </p:cNvPr>
          <p:cNvSpPr>
            <a:spLocks xmlns:a="http://schemas.openxmlformats.org/drawingml/2006/main" noGrp="1"/>
          </p:cNvSpPr>
          <p:nvPr/>
        </p:nvSpPr>
        <p:spPr>
          <a:xfrm xmlns:a="http://schemas.openxmlformats.org/drawingml/2006/main">
            <a:off x="1104900" y="2724150"/>
            <a:ext cx="40767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Caller and represented identity</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Resource and operation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Target, parameters and destination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Task context and policy version</a:t>
            </a:r>
          </a:p>
        </p:txBody>
      </p:sp>
      <p:sp>
        <p:nvSpPr>
          <p:cNvPr id="8" name="">
            <a:extLst xmlns:a="http://schemas.openxmlformats.org/drawingml/2006/main">
              <a:ext uri="{FF2B5EF4-FFF2-40B4-BE49-F238E27FC236}">
                <a16:creationId xmlns:a16="http://schemas.microsoft.com/office/drawing/2014/main" id="{36083E54-FBFD-47AA-B3FC-4D20A22B89B4}"/>
              </a:ext>
            </a:extLst>
          </p:cNvPr>
          <p:cNvSpPr>
            <a:spLocks xmlns:a="http://schemas.openxmlformats.org/drawingml/2006/main" noGrp="1"/>
          </p:cNvSpPr>
          <p:nvPr/>
        </p:nvSpPr>
        <p:spPr>
          <a:xfrm xmlns:a="http://schemas.openxmlformats.org/drawingml/2006/main">
            <a:off x="6762750" y="1866900"/>
            <a:ext cx="4476750" cy="2800350"/>
          </a:xfrm>
          <a:prstGeom xmlns:a="http://schemas.openxmlformats.org/drawingml/2006/main" prst="roundRect">
            <a:avLst>
              <a:gd name="adj" fmla="val 2721"/>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99455D7D-24D9-4697-86C7-EF5DB0BA8A42}"/>
              </a:ext>
            </a:extLst>
          </p:cNvPr>
          <p:cNvSpPr>
            <a:spLocks xmlns:a="http://schemas.openxmlformats.org/drawingml/2006/main" noGrp="1"/>
          </p:cNvSpPr>
          <p:nvPr/>
        </p:nvSpPr>
        <p:spPr>
          <a:xfrm xmlns:a="http://schemas.openxmlformats.org/drawingml/2006/main">
            <a:off x="6762750" y="1866900"/>
            <a:ext cx="66675" cy="28003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CBEB350-F533-45B0-9F32-94B8EA48C546}"/>
              </a:ext>
            </a:extLst>
          </p:cNvPr>
          <p:cNvSpPr>
            <a:spLocks xmlns:a="http://schemas.openxmlformats.org/drawingml/2006/main" noGrp="1"/>
          </p:cNvSpPr>
          <p:nvPr/>
        </p:nvSpPr>
        <p:spPr>
          <a:xfrm xmlns:a="http://schemas.openxmlformats.org/drawingml/2006/main">
            <a:off x="6991350" y="203835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Possible dispositions</a:t>
            </a:r>
          </a:p>
        </p:txBody>
      </p:sp>
      <p:sp>
        <p:nvSpPr>
          <p:cNvPr id="11" name="">
            <a:extLst xmlns:a="http://schemas.openxmlformats.org/drawingml/2006/main">
              <a:ext uri="{FF2B5EF4-FFF2-40B4-BE49-F238E27FC236}">
                <a16:creationId xmlns:a16="http://schemas.microsoft.com/office/drawing/2014/main" id="{F26B3FA1-3D0B-45AC-9805-F119FB8E3036}"/>
              </a:ext>
            </a:extLst>
          </p:cNvPr>
          <p:cNvSpPr>
            <a:spLocks xmlns:a="http://schemas.openxmlformats.org/drawingml/2006/main" noGrp="1"/>
          </p:cNvSpPr>
          <p:nvPr/>
        </p:nvSpPr>
        <p:spPr>
          <a:xfrm xmlns:a="http://schemas.openxmlformats.org/drawingml/2006/main">
            <a:off x="6991350" y="2724150"/>
            <a:ext cx="40767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Allow a scoped operation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Hold for a valid decision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Deny with a reason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Check returned results before reuse</a:t>
            </a:r>
          </a:p>
        </p:txBody>
      </p:sp>
      <p:sp>
        <p:nvSpPr>
          <p:cNvPr id="12" name="">
            <a:extLst xmlns:a="http://schemas.openxmlformats.org/drawingml/2006/main">
              <a:ext uri="{FF2B5EF4-FFF2-40B4-BE49-F238E27FC236}">
                <a16:creationId xmlns:a16="http://schemas.microsoft.com/office/drawing/2014/main" id="{69CAE417-FC7C-44F7-8D99-7E8BF5AA5A41}"/>
              </a:ext>
            </a:extLst>
          </p:cNvPr>
          <p:cNvSpPr>
            <a:spLocks xmlns:a="http://schemas.openxmlformats.org/drawingml/2006/main" noGrp="1"/>
          </p:cNvSpPr>
          <p:nvPr/>
        </p:nvSpPr>
        <p:spPr>
          <a:xfrm xmlns:a="http://schemas.openxmlformats.org/drawingml/2006/main">
            <a:off x="923925" y="5238750"/>
            <a:ext cx="952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 human approval must bind to the exact action. A changed target, amount or destination requires a new decision.</a:t>
            </a:r>
          </a:p>
        </p:txBody>
      </p:sp>
      <p:sp>
        <p:nvSpPr>
          <p:cNvPr id="13" name="">
            <a:extLst xmlns:a="http://schemas.openxmlformats.org/drawingml/2006/main">
              <a:ext uri="{FF2B5EF4-FFF2-40B4-BE49-F238E27FC236}">
                <a16:creationId xmlns:a16="http://schemas.microsoft.com/office/drawing/2014/main" id="{5EA70E6F-5EDA-4114-8AB1-546C6909F24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EA4C27AA-290E-4216-8339-17C27C5E81C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12</a:t>
            </a:r>
          </a:p>
        </p:txBody>
      </p:sp>
    </p:spTree>
    <p:extLst>
      <p:ext uri="{BB962C8B-B14F-4D97-AF65-F5344CB8AC3E}">
        <p14:creationId xmlns:p14="http://schemas.microsoft.com/office/powerpoint/2010/main" val="106887036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E5B4CED-C2A8-4F2E-91DB-834A969537DA}"/>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10705696-AD93-4B87-AE94-0E7DD6C3FCF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holds and recovery</a:t>
            </a:r>
          </a:p>
        </p:txBody>
      </p:sp>
      <p:sp>
        <p:nvSpPr>
          <p:cNvPr id="3" name="">
            <a:extLst xmlns:a="http://schemas.openxmlformats.org/drawingml/2006/main">
              <a:ext uri="{FF2B5EF4-FFF2-40B4-BE49-F238E27FC236}">
                <a16:creationId xmlns:a16="http://schemas.microsoft.com/office/drawing/2014/main" id="{3CB8B1A2-C146-4BD1-809A-243923D0A7FB}"/>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E8BC748-105F-4974-9527-E2453168BDD7}"/>
              </a:ext>
            </a:extLst>
          </p:cNvPr>
          <p:cNvSpPr>
            <a:spLocks xmlns:a="http://schemas.openxmlformats.org/drawingml/2006/main" noGrp="1"/>
          </p:cNvSpPr>
          <p:nvPr/>
        </p:nvSpPr>
        <p:spPr>
          <a:xfrm xmlns:a="http://schemas.openxmlformats.org/drawingml/2006/main">
            <a:off x="723900" y="19621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C51431C7-DEEA-41DC-B7FD-5C2DE78DFAE1}"/>
              </a:ext>
            </a:extLst>
          </p:cNvPr>
          <p:cNvSpPr>
            <a:spLocks xmlns:a="http://schemas.openxmlformats.org/drawingml/2006/main" noGrp="1"/>
          </p:cNvSpPr>
          <p:nvPr/>
        </p:nvSpPr>
        <p:spPr>
          <a:xfrm xmlns:a="http://schemas.openxmlformats.org/drawingml/2006/main">
            <a:off x="857250"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Trace</a:t>
            </a:r>
          </a:p>
        </p:txBody>
      </p:sp>
      <p:sp>
        <p:nvSpPr>
          <p:cNvPr id="6" name="">
            <a:extLst xmlns:a="http://schemas.openxmlformats.org/drawingml/2006/main">
              <a:ext uri="{FF2B5EF4-FFF2-40B4-BE49-F238E27FC236}">
                <a16:creationId xmlns:a16="http://schemas.microsoft.com/office/drawing/2014/main" id="{C0AB47A0-D31A-4029-89A2-E5388D32D41B}"/>
              </a:ext>
            </a:extLst>
          </p:cNvPr>
          <p:cNvSpPr>
            <a:spLocks xmlns:a="http://schemas.openxmlformats.org/drawingml/2006/main" noGrp="1"/>
          </p:cNvSpPr>
          <p:nvPr/>
        </p:nvSpPr>
        <p:spPr>
          <a:xfrm xmlns:a="http://schemas.openxmlformats.org/drawingml/2006/main">
            <a:off x="857250"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Link task, authorization, resource and result records.</a:t>
            </a:r>
          </a:p>
        </p:txBody>
      </p:sp>
      <p:sp>
        <p:nvSpPr>
          <p:cNvPr id="7" name="">
            <a:extLst xmlns:a="http://schemas.openxmlformats.org/drawingml/2006/main">
              <a:ext uri="{FF2B5EF4-FFF2-40B4-BE49-F238E27FC236}">
                <a16:creationId xmlns:a16="http://schemas.microsoft.com/office/drawing/2014/main" id="{670460C4-B07B-4896-87DF-39279CFB1D6D}"/>
              </a:ext>
            </a:extLst>
          </p:cNvPr>
          <p:cNvSpPr>
            <a:spLocks xmlns:a="http://schemas.openxmlformats.org/drawingml/2006/main" noGrp="1"/>
          </p:cNvSpPr>
          <p:nvPr/>
        </p:nvSpPr>
        <p:spPr>
          <a:xfrm xmlns:a="http://schemas.openxmlformats.org/drawingml/2006/main">
            <a:off x="3281363"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9DBAC2B4-D10B-48FF-95C6-9A03F7A69133}"/>
              </a:ext>
            </a:extLst>
          </p:cNvPr>
          <p:cNvSpPr>
            <a:spLocks xmlns:a="http://schemas.openxmlformats.org/drawingml/2006/main" noGrp="1"/>
          </p:cNvSpPr>
          <p:nvPr/>
        </p:nvSpPr>
        <p:spPr>
          <a:xfrm xmlns:a="http://schemas.openxmlformats.org/drawingml/2006/main">
            <a:off x="3433763" y="19621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1A6292B5-329D-4BAC-B6F4-BB4014B3F241}"/>
              </a:ext>
            </a:extLst>
          </p:cNvPr>
          <p:cNvSpPr>
            <a:spLocks xmlns:a="http://schemas.openxmlformats.org/drawingml/2006/main" noGrp="1"/>
          </p:cNvSpPr>
          <p:nvPr/>
        </p:nvSpPr>
        <p:spPr>
          <a:xfrm xmlns:a="http://schemas.openxmlformats.org/drawingml/2006/main">
            <a:off x="3567113"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Verify</a:t>
            </a:r>
          </a:p>
        </p:txBody>
      </p:sp>
      <p:sp>
        <p:nvSpPr>
          <p:cNvPr id="10" name="">
            <a:extLst xmlns:a="http://schemas.openxmlformats.org/drawingml/2006/main">
              <a:ext uri="{FF2B5EF4-FFF2-40B4-BE49-F238E27FC236}">
                <a16:creationId xmlns:a16="http://schemas.microsoft.com/office/drawing/2014/main" id="{600DB8F9-F756-45B2-9260-287C40C094C1}"/>
              </a:ext>
            </a:extLst>
          </p:cNvPr>
          <p:cNvSpPr>
            <a:spLocks xmlns:a="http://schemas.openxmlformats.org/drawingml/2006/main" noGrp="1"/>
          </p:cNvSpPr>
          <p:nvPr/>
        </p:nvSpPr>
        <p:spPr>
          <a:xfrm xmlns:a="http://schemas.openxmlformats.org/drawingml/2006/main">
            <a:off x="3567113"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business-system evidence, not agent narration.</a:t>
            </a:r>
          </a:p>
        </p:txBody>
      </p:sp>
      <p:sp>
        <p:nvSpPr>
          <p:cNvPr id="11" name="">
            <a:extLst xmlns:a="http://schemas.openxmlformats.org/drawingml/2006/main">
              <a:ext uri="{FF2B5EF4-FFF2-40B4-BE49-F238E27FC236}">
                <a16:creationId xmlns:a16="http://schemas.microsoft.com/office/drawing/2014/main" id="{DCAB876D-C853-415A-9BEE-0716DDB6D5C5}"/>
              </a:ext>
            </a:extLst>
          </p:cNvPr>
          <p:cNvSpPr>
            <a:spLocks xmlns:a="http://schemas.openxmlformats.org/drawingml/2006/main" noGrp="1"/>
          </p:cNvSpPr>
          <p:nvPr/>
        </p:nvSpPr>
        <p:spPr>
          <a:xfrm xmlns:a="http://schemas.openxmlformats.org/drawingml/2006/main">
            <a:off x="5991225"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D72CFDAB-E9A5-4DB9-920B-8B7453E13DC0}"/>
              </a:ext>
            </a:extLst>
          </p:cNvPr>
          <p:cNvSpPr>
            <a:spLocks xmlns:a="http://schemas.openxmlformats.org/drawingml/2006/main" noGrp="1"/>
          </p:cNvSpPr>
          <p:nvPr/>
        </p:nvSpPr>
        <p:spPr>
          <a:xfrm xmlns:a="http://schemas.openxmlformats.org/drawingml/2006/main">
            <a:off x="6143625" y="19621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BF74FFDD-5BC1-4647-98A2-784D8951575F}"/>
              </a:ext>
            </a:extLst>
          </p:cNvPr>
          <p:cNvSpPr>
            <a:spLocks xmlns:a="http://schemas.openxmlformats.org/drawingml/2006/main" noGrp="1"/>
          </p:cNvSpPr>
          <p:nvPr/>
        </p:nvSpPr>
        <p:spPr>
          <a:xfrm xmlns:a="http://schemas.openxmlformats.org/drawingml/2006/main">
            <a:off x="6276975"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Stop or revoke</a:t>
            </a:r>
          </a:p>
        </p:txBody>
      </p:sp>
      <p:sp>
        <p:nvSpPr>
          <p:cNvPr id="14" name="">
            <a:extLst xmlns:a="http://schemas.openxmlformats.org/drawingml/2006/main">
              <a:ext uri="{FF2B5EF4-FFF2-40B4-BE49-F238E27FC236}">
                <a16:creationId xmlns:a16="http://schemas.microsoft.com/office/drawing/2014/main" id="{9AD32865-FCDB-4274-879F-EA3E408E4EC8}"/>
              </a:ext>
            </a:extLst>
          </p:cNvPr>
          <p:cNvSpPr>
            <a:spLocks xmlns:a="http://schemas.openxmlformats.org/drawingml/2006/main" noGrp="1"/>
          </p:cNvSpPr>
          <p:nvPr/>
        </p:nvSpPr>
        <p:spPr>
          <a:xfrm xmlns:a="http://schemas.openxmlformats.org/drawingml/2006/main">
            <a:off x="6276975"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Prevent future work and reconcile in-flight effects.</a:t>
            </a:r>
          </a:p>
        </p:txBody>
      </p:sp>
      <p:sp>
        <p:nvSpPr>
          <p:cNvPr id="15" name="">
            <a:extLst xmlns:a="http://schemas.openxmlformats.org/drawingml/2006/main">
              <a:ext uri="{FF2B5EF4-FFF2-40B4-BE49-F238E27FC236}">
                <a16:creationId xmlns:a16="http://schemas.microsoft.com/office/drawing/2014/main" id="{0E1B3524-922C-4064-B1A7-F881479CF775}"/>
              </a:ext>
            </a:extLst>
          </p:cNvPr>
          <p:cNvSpPr>
            <a:spLocks xmlns:a="http://schemas.openxmlformats.org/drawingml/2006/main" noGrp="1"/>
          </p:cNvSpPr>
          <p:nvPr/>
        </p:nvSpPr>
        <p:spPr>
          <a:xfrm xmlns:a="http://schemas.openxmlformats.org/drawingml/2006/main">
            <a:off x="8701088"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C1D3C8BD-9E0A-472B-86C3-E4E11A4DEF55}"/>
              </a:ext>
            </a:extLst>
          </p:cNvPr>
          <p:cNvSpPr>
            <a:spLocks xmlns:a="http://schemas.openxmlformats.org/drawingml/2006/main" noGrp="1"/>
          </p:cNvSpPr>
          <p:nvPr/>
        </p:nvSpPr>
        <p:spPr>
          <a:xfrm xmlns:a="http://schemas.openxmlformats.org/drawingml/2006/main">
            <a:off x="8853488" y="19621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B7073697-2206-4EDD-9771-2C9260764E0A}"/>
              </a:ext>
            </a:extLst>
          </p:cNvPr>
          <p:cNvSpPr>
            <a:spLocks xmlns:a="http://schemas.openxmlformats.org/drawingml/2006/main" noGrp="1"/>
          </p:cNvSpPr>
          <p:nvPr/>
        </p:nvSpPr>
        <p:spPr>
          <a:xfrm xmlns:a="http://schemas.openxmlformats.org/drawingml/2006/main">
            <a:off x="8986838"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Recover</a:t>
            </a:r>
          </a:p>
        </p:txBody>
      </p:sp>
      <p:sp>
        <p:nvSpPr>
          <p:cNvPr id="18" name="">
            <a:extLst xmlns:a="http://schemas.openxmlformats.org/drawingml/2006/main">
              <a:ext uri="{FF2B5EF4-FFF2-40B4-BE49-F238E27FC236}">
                <a16:creationId xmlns:a16="http://schemas.microsoft.com/office/drawing/2014/main" id="{324EF084-7FBE-4A28-893C-9D0C3AF1E0D7}"/>
              </a:ext>
            </a:extLst>
          </p:cNvPr>
          <p:cNvSpPr>
            <a:spLocks xmlns:a="http://schemas.openxmlformats.org/drawingml/2006/main" noGrp="1"/>
          </p:cNvSpPr>
          <p:nvPr/>
        </p:nvSpPr>
        <p:spPr>
          <a:xfrm xmlns:a="http://schemas.openxmlformats.org/drawingml/2006/main">
            <a:off x="8986838"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Verify business process and data after restoration.</a:t>
            </a:r>
          </a:p>
        </p:txBody>
      </p:sp>
      <p:sp>
        <p:nvSpPr>
          <p:cNvPr id="19" name="">
            <a:extLst xmlns:a="http://schemas.openxmlformats.org/drawingml/2006/main">
              <a:ext uri="{FF2B5EF4-FFF2-40B4-BE49-F238E27FC236}">
                <a16:creationId xmlns:a16="http://schemas.microsoft.com/office/drawing/2014/main" id="{A2D82F03-1F8D-4DF1-8319-970767DB86A0}"/>
              </a:ext>
            </a:extLst>
          </p:cNvPr>
          <p:cNvSpPr>
            <a:spLocks xmlns:a="http://schemas.openxmlformats.org/drawingml/2006/main" noGrp="1"/>
          </p:cNvSpPr>
          <p:nvPr/>
        </p:nvSpPr>
        <p:spPr>
          <a:xfrm xmlns:a="http://schemas.openxmlformats.org/drawingml/2006/main">
            <a:off x="876300" y="4772025"/>
            <a:ext cx="1019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9E3C35"/>
                </a:solidFill>
                <a:latin typeface="DejaVu Sans"/>
                <a:ea typeface="DejaVu Sans"/>
                <a:cs typeface="DejaVu Sans"/>
              </a:defRPr>
            </a:pPr>
            <a:r>
              <a:rPr sz="1350">
                <a:solidFill>
                  <a:srgbClr val="9E3C35"/>
                </a:solidFill>
                <a:latin typeface="DejaVu Sans"/>
                <a:ea typeface="DejaVu Sans"/>
                <a:cs typeface="DejaVu Sans"/>
              </a:rPr>
              <a:t>Open questions: who decides a hold, what if policy or audit delivery is unavailable, how do rights changes affect queued work, and how is within-permission misuse limited?</a:t>
            </a:r>
          </a:p>
        </p:txBody>
      </p:sp>
      <p:sp>
        <p:nvSpPr>
          <p:cNvPr id="20" name="">
            <a:extLst xmlns:a="http://schemas.openxmlformats.org/drawingml/2006/main">
              <a:ext uri="{FF2B5EF4-FFF2-40B4-BE49-F238E27FC236}">
                <a16:creationId xmlns:a16="http://schemas.microsoft.com/office/drawing/2014/main" id="{0EB4A898-BD40-4972-BC96-FEEC6B89BD5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7444B6A9-2FCE-47E1-AFB9-BDCB1F10678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13</a:t>
            </a:r>
          </a:p>
        </p:txBody>
      </p:sp>
    </p:spTree>
    <p:extLst>
      <p:ext uri="{BB962C8B-B14F-4D97-AF65-F5344CB8AC3E}">
        <p14:creationId xmlns:p14="http://schemas.microsoft.com/office/powerpoint/2010/main" val="17982801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D76DBC-AE8D-4DDE-A388-6B614DB8B05A}"/>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53F5DBBB-E242-477E-9B9F-F90D9B0E87F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02. Defend against AI</a:t>
            </a:r>
          </a:p>
        </p:txBody>
      </p:sp>
      <p:sp>
        <p:nvSpPr>
          <p:cNvPr id="3" name="">
            <a:extLst xmlns:a="http://schemas.openxmlformats.org/drawingml/2006/main">
              <a:ext uri="{FF2B5EF4-FFF2-40B4-BE49-F238E27FC236}">
                <a16:creationId xmlns:a16="http://schemas.microsoft.com/office/drawing/2014/main" id="{8A4F080C-4B80-402E-B6A8-93012E121776}"/>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2BDAB8-15AF-4B2F-BDCD-1CD679E3FF47}"/>
              </a:ext>
            </a:extLst>
          </p:cNvPr>
          <p:cNvSpPr>
            <a:spLocks xmlns:a="http://schemas.openxmlformats.org/drawingml/2006/main" noGrp="1"/>
          </p:cNvSpPr>
          <p:nvPr/>
        </p:nvSpPr>
        <p:spPr>
          <a:xfrm xmlns:a="http://schemas.openxmlformats.org/drawingml/2006/main">
            <a:off x="895350" y="19526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2324A"/>
                </a:solidFill>
                <a:latin typeface="DejaVu Sans"/>
                <a:ea typeface="DejaVu Sans"/>
                <a:cs typeface="DejaVu Sans"/>
              </a:defRPr>
            </a:pPr>
            <a:r>
              <a:rPr sz="2250" b="1">
                <a:solidFill>
                  <a:srgbClr val="12324A"/>
                </a:solidFill>
                <a:latin typeface="DejaVu Sans"/>
                <a:ea typeface="DejaVu Sans"/>
                <a:cs typeface="DejaVu Sans"/>
              </a:rPr>
              <a:t>Question: How do we stop attacks that AI helps attackers carry out?</a:t>
            </a:r>
          </a:p>
        </p:txBody>
      </p:sp>
      <p:sp>
        <p:nvSpPr>
          <p:cNvPr id="5" name="">
            <a:extLst xmlns:a="http://schemas.openxmlformats.org/drawingml/2006/main">
              <a:ext uri="{FF2B5EF4-FFF2-40B4-BE49-F238E27FC236}">
                <a16:creationId xmlns:a16="http://schemas.microsoft.com/office/drawing/2014/main" id="{AE2DE14B-E715-4381-9845-FBBECB78D470}"/>
              </a:ext>
            </a:extLst>
          </p:cNvPr>
          <p:cNvSpPr>
            <a:spLocks xmlns:a="http://schemas.openxmlformats.org/drawingml/2006/main" noGrp="1"/>
          </p:cNvSpPr>
          <p:nvPr/>
        </p:nvSpPr>
        <p:spPr>
          <a:xfrm xmlns:a="http://schemas.openxmlformats.org/drawingml/2006/main">
            <a:off x="895350" y="2876550"/>
            <a:ext cx="1009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AI can make familiar attacker behavior faster or more convincing. Defenses should respond to harmful behavior and business consequence without waiting for proof that AI was involved.</a:t>
            </a:r>
          </a:p>
        </p:txBody>
      </p:sp>
      <p:sp>
        <p:nvSpPr>
          <p:cNvPr id="6" name="">
            <a:extLst xmlns:a="http://schemas.openxmlformats.org/drawingml/2006/main">
              <a:ext uri="{FF2B5EF4-FFF2-40B4-BE49-F238E27FC236}">
                <a16:creationId xmlns:a16="http://schemas.microsoft.com/office/drawing/2014/main" id="{C43FB446-3500-47A9-80CF-FD15CCA045EB}"/>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D9891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9E84B3-DE06-47CD-A70F-CAD897BA94A1}"/>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C65A5977-C1CA-4DCC-805A-E7520EB9B829}"/>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Interrupt fraud, compromise, data loss and disruption through control boundaries, evidence and recovery.</a:t>
            </a:r>
          </a:p>
        </p:txBody>
      </p:sp>
      <p:sp>
        <p:nvSpPr>
          <p:cNvPr id="9" name="">
            <a:extLst xmlns:a="http://schemas.openxmlformats.org/drawingml/2006/main">
              <a:ext uri="{FF2B5EF4-FFF2-40B4-BE49-F238E27FC236}">
                <a16:creationId xmlns:a16="http://schemas.microsoft.com/office/drawing/2014/main" id="{1BFF5B36-2EA9-4E58-8AF2-7FC66C967ED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102045C1-54DE-44D5-8E82-0DE2ECC3427C}"/>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14</a:t>
            </a:r>
          </a:p>
        </p:txBody>
      </p:sp>
    </p:spTree>
    <p:extLst>
      <p:ext uri="{BB962C8B-B14F-4D97-AF65-F5344CB8AC3E}">
        <p14:creationId xmlns:p14="http://schemas.microsoft.com/office/powerpoint/2010/main" val="203996066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9D29F3-37BC-4CB2-B1EA-C8E12B47540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1535B202-A54C-4837-A756-DD0B7FB814B3}"/>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Defend against AI</a:t>
            </a:r>
          </a:p>
        </p:txBody>
      </p:sp>
      <p:sp>
        <p:nvSpPr>
          <p:cNvPr id="3" name="">
            <a:extLst xmlns:a="http://schemas.openxmlformats.org/drawingml/2006/main">
              <a:ext uri="{FF2B5EF4-FFF2-40B4-BE49-F238E27FC236}">
                <a16:creationId xmlns:a16="http://schemas.microsoft.com/office/drawing/2014/main" id="{C532723A-84AC-4818-958E-7B8045852452}"/>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858366d47c04cec"/>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0477D99-C8C5-4642-9B41-7EFF19376FA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B3A23E21-F0CE-4AE5-AC67-F728FB2C1B2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15</a:t>
            </a:r>
          </a:p>
        </p:txBody>
      </p:sp>
    </p:spTree>
    <p:extLst>
      <p:ext uri="{BB962C8B-B14F-4D97-AF65-F5344CB8AC3E}">
        <p14:creationId xmlns:p14="http://schemas.microsoft.com/office/powerpoint/2010/main" val="10923319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C8F82C4-72E4-4376-8B57-B72A11AF730E}"/>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D89A7DCC-E944-4676-913A-69E55FFA5F01}"/>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Three representative attack paths</a:t>
            </a:r>
          </a:p>
        </p:txBody>
      </p:sp>
      <p:sp>
        <p:nvSpPr>
          <p:cNvPr id="3" name="">
            <a:extLst xmlns:a="http://schemas.openxmlformats.org/drawingml/2006/main">
              <a:ext uri="{FF2B5EF4-FFF2-40B4-BE49-F238E27FC236}">
                <a16:creationId xmlns:a16="http://schemas.microsoft.com/office/drawing/2014/main" id="{83C9A0DF-557E-4E6E-8A81-39E288A708D0}"/>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1355CC-DCE9-4F16-A081-5B89C46901D3}"/>
              </a:ext>
            </a:extLst>
          </p:cNvPr>
          <p:cNvSpPr>
            <a:spLocks xmlns:a="http://schemas.openxmlformats.org/drawingml/2006/main" noGrp="1"/>
          </p:cNvSpPr>
          <p:nvPr/>
        </p:nvSpPr>
        <p:spPr>
          <a:xfrm xmlns:a="http://schemas.openxmlformats.org/drawingml/2006/main">
            <a:off x="72390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5" name="">
            <a:extLst xmlns:a="http://schemas.openxmlformats.org/drawingml/2006/main">
              <a:ext uri="{FF2B5EF4-FFF2-40B4-BE49-F238E27FC236}">
                <a16:creationId xmlns:a16="http://schemas.microsoft.com/office/drawing/2014/main" id="{8C192F1E-548F-4F0A-9872-019415EA32AB}"/>
              </a:ext>
            </a:extLst>
          </p:cNvPr>
          <p:cNvSpPr>
            <a:spLocks xmlns:a="http://schemas.openxmlformats.org/drawingml/2006/main" noGrp="1"/>
          </p:cNvSpPr>
          <p:nvPr/>
        </p:nvSpPr>
        <p:spPr>
          <a:xfrm xmlns:a="http://schemas.openxmlformats.org/drawingml/2006/main">
            <a:off x="85725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Impersonation and fraud</a:t>
            </a:r>
          </a:p>
        </p:txBody>
      </p:sp>
      <p:sp>
        <p:nvSpPr>
          <p:cNvPr id="6" name="">
            <a:extLst xmlns:a="http://schemas.openxmlformats.org/drawingml/2006/main">
              <a:ext uri="{FF2B5EF4-FFF2-40B4-BE49-F238E27FC236}">
                <a16:creationId xmlns:a16="http://schemas.microsoft.com/office/drawing/2014/main" id="{C8B49FD3-8AFD-4F1A-ADFD-754EB943E7C3}"/>
              </a:ext>
            </a:extLst>
          </p:cNvPr>
          <p:cNvSpPr>
            <a:spLocks xmlns:a="http://schemas.openxmlformats.org/drawingml/2006/main" noGrp="1"/>
          </p:cNvSpPr>
          <p:nvPr/>
        </p:nvSpPr>
        <p:spPr>
          <a:xfrm xmlns:a="http://schemas.openxmlformats.org/drawingml/2006/main">
            <a:off x="85725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Convincing messages and identities can seek a sensitive business change.</a:t>
            </a:r>
          </a:p>
        </p:txBody>
      </p:sp>
      <p:sp>
        <p:nvSpPr>
          <p:cNvPr id="7" name="">
            <a:extLst xmlns:a="http://schemas.openxmlformats.org/drawingml/2006/main">
              <a:ext uri="{FF2B5EF4-FFF2-40B4-BE49-F238E27FC236}">
                <a16:creationId xmlns:a16="http://schemas.microsoft.com/office/drawing/2014/main" id="{B19B1B94-746A-42F6-B4F4-8CAAA7407AC5}"/>
              </a:ext>
            </a:extLst>
          </p:cNvPr>
          <p:cNvSpPr>
            <a:spLocks xmlns:a="http://schemas.openxmlformats.org/drawingml/2006/main" noGrp="1"/>
          </p:cNvSpPr>
          <p:nvPr/>
        </p:nvSpPr>
        <p:spPr>
          <a:xfrm xmlns:a="http://schemas.openxmlformats.org/drawingml/2006/main">
            <a:off x="4184650"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B3E41867-C0EF-4B07-B8C1-9E32A27DB203}"/>
              </a:ext>
            </a:extLst>
          </p:cNvPr>
          <p:cNvSpPr>
            <a:spLocks xmlns:a="http://schemas.openxmlformats.org/drawingml/2006/main" noGrp="1"/>
          </p:cNvSpPr>
          <p:nvPr/>
        </p:nvSpPr>
        <p:spPr>
          <a:xfrm xmlns:a="http://schemas.openxmlformats.org/drawingml/2006/main">
            <a:off x="433705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9" name="">
            <a:extLst xmlns:a="http://schemas.openxmlformats.org/drawingml/2006/main">
              <a:ext uri="{FF2B5EF4-FFF2-40B4-BE49-F238E27FC236}">
                <a16:creationId xmlns:a16="http://schemas.microsoft.com/office/drawing/2014/main" id="{9CB5BCD6-8900-4AB8-AB6C-B277725CEB3D}"/>
              </a:ext>
            </a:extLst>
          </p:cNvPr>
          <p:cNvSpPr>
            <a:spLocks xmlns:a="http://schemas.openxmlformats.org/drawingml/2006/main" noGrp="1"/>
          </p:cNvSpPr>
          <p:nvPr/>
        </p:nvSpPr>
        <p:spPr>
          <a:xfrm xmlns:a="http://schemas.openxmlformats.org/drawingml/2006/main">
            <a:off x="447040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Automated intrusion</a:t>
            </a:r>
          </a:p>
        </p:txBody>
      </p:sp>
      <p:sp>
        <p:nvSpPr>
          <p:cNvPr id="10" name="">
            <a:extLst xmlns:a="http://schemas.openxmlformats.org/drawingml/2006/main">
              <a:ext uri="{FF2B5EF4-FFF2-40B4-BE49-F238E27FC236}">
                <a16:creationId xmlns:a16="http://schemas.microsoft.com/office/drawing/2014/main" id="{F6E0FE67-9A82-4514-880E-529D9812C91D}"/>
              </a:ext>
            </a:extLst>
          </p:cNvPr>
          <p:cNvSpPr>
            <a:spLocks xmlns:a="http://schemas.openxmlformats.org/drawingml/2006/main" noGrp="1"/>
          </p:cNvSpPr>
          <p:nvPr/>
        </p:nvSpPr>
        <p:spPr>
          <a:xfrm xmlns:a="http://schemas.openxmlformats.org/drawingml/2006/main">
            <a:off x="447040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Faster discovery and exploitation can expand a compromise path.</a:t>
            </a:r>
          </a:p>
        </p:txBody>
      </p:sp>
      <p:sp>
        <p:nvSpPr>
          <p:cNvPr id="11" name="">
            <a:extLst xmlns:a="http://schemas.openxmlformats.org/drawingml/2006/main">
              <a:ext uri="{FF2B5EF4-FFF2-40B4-BE49-F238E27FC236}">
                <a16:creationId xmlns:a16="http://schemas.microsoft.com/office/drawing/2014/main" id="{46A54DF4-B8DD-4275-AD87-7DC21EAC5426}"/>
              </a:ext>
            </a:extLst>
          </p:cNvPr>
          <p:cNvSpPr>
            <a:spLocks xmlns:a="http://schemas.openxmlformats.org/drawingml/2006/main" noGrp="1"/>
          </p:cNvSpPr>
          <p:nvPr/>
        </p:nvSpPr>
        <p:spPr>
          <a:xfrm xmlns:a="http://schemas.openxmlformats.org/drawingml/2006/main">
            <a:off x="7797800"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26073DAD-0456-4AB7-A826-B872539EB423}"/>
              </a:ext>
            </a:extLst>
          </p:cNvPr>
          <p:cNvSpPr>
            <a:spLocks xmlns:a="http://schemas.openxmlformats.org/drawingml/2006/main" noGrp="1"/>
          </p:cNvSpPr>
          <p:nvPr/>
        </p:nvSpPr>
        <p:spPr>
          <a:xfrm xmlns:a="http://schemas.openxmlformats.org/drawingml/2006/main">
            <a:off x="795020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B786E0E7-75CC-4078-8FBF-1CF7198A509C}"/>
              </a:ext>
            </a:extLst>
          </p:cNvPr>
          <p:cNvSpPr>
            <a:spLocks xmlns:a="http://schemas.openxmlformats.org/drawingml/2006/main" noGrp="1"/>
          </p:cNvSpPr>
          <p:nvPr/>
        </p:nvSpPr>
        <p:spPr>
          <a:xfrm xmlns:a="http://schemas.openxmlformats.org/drawingml/2006/main">
            <a:off x="808355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Attacks on AI workflows</a:t>
            </a:r>
          </a:p>
        </p:txBody>
      </p:sp>
      <p:sp>
        <p:nvSpPr>
          <p:cNvPr id="14" name="">
            <a:extLst xmlns:a="http://schemas.openxmlformats.org/drawingml/2006/main">
              <a:ext uri="{FF2B5EF4-FFF2-40B4-BE49-F238E27FC236}">
                <a16:creationId xmlns:a16="http://schemas.microsoft.com/office/drawing/2014/main" id="{6D2D1234-335E-4650-ABFA-3972FD89CEB3}"/>
              </a:ext>
            </a:extLst>
          </p:cNvPr>
          <p:cNvSpPr>
            <a:spLocks xmlns:a="http://schemas.openxmlformats.org/drawingml/2006/main" noGrp="1"/>
          </p:cNvSpPr>
          <p:nvPr/>
        </p:nvSpPr>
        <p:spPr>
          <a:xfrm xmlns:a="http://schemas.openxmlformats.org/drawingml/2006/main">
            <a:off x="808355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Hostile content and tool abuse can redirect a connected workflow.</a:t>
            </a:r>
          </a:p>
        </p:txBody>
      </p:sp>
      <p:sp>
        <p:nvSpPr>
          <p:cNvPr id="15" name="">
            <a:extLst xmlns:a="http://schemas.openxmlformats.org/drawingml/2006/main">
              <a:ext uri="{FF2B5EF4-FFF2-40B4-BE49-F238E27FC236}">
                <a16:creationId xmlns:a16="http://schemas.microsoft.com/office/drawing/2014/main" id="{217A0F3D-D3DA-4E11-AC0E-6F1D2E3764F1}"/>
              </a:ext>
            </a:extLst>
          </p:cNvPr>
          <p:cNvSpPr>
            <a:spLocks xmlns:a="http://schemas.openxmlformats.org/drawingml/2006/main" noGrp="1"/>
          </p:cNvSpPr>
          <p:nvPr/>
        </p:nvSpPr>
        <p:spPr>
          <a:xfrm xmlns:a="http://schemas.openxmlformats.org/drawingml/2006/main">
            <a:off x="914400" y="4714875"/>
            <a:ext cx="9525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Each path needs a real interruption point. The middle control boundary must produce evidence for investigation and recovery.</a:t>
            </a:r>
          </a:p>
        </p:txBody>
      </p:sp>
      <p:sp>
        <p:nvSpPr>
          <p:cNvPr id="16" name="">
            <a:extLst xmlns:a="http://schemas.openxmlformats.org/drawingml/2006/main">
              <a:ext uri="{FF2B5EF4-FFF2-40B4-BE49-F238E27FC236}">
                <a16:creationId xmlns:a16="http://schemas.microsoft.com/office/drawing/2014/main" id="{DB603C7F-3085-40D2-8722-B810D17F663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1357EB23-C49C-4790-9F7A-6B243363AC9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16</a:t>
            </a:r>
          </a:p>
        </p:txBody>
      </p:sp>
    </p:spTree>
    <p:extLst>
      <p:ext uri="{BB962C8B-B14F-4D97-AF65-F5344CB8AC3E}">
        <p14:creationId xmlns:p14="http://schemas.microsoft.com/office/powerpoint/2010/main" val="15875024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3DB39A6-110B-42D2-9DBC-D5A39E23ABD9}"/>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A41A1AD-9C25-48AD-BDFB-4FEDCDA9BD10}"/>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Supplier-change impersonation</a:t>
            </a:r>
          </a:p>
        </p:txBody>
      </p:sp>
      <p:sp>
        <p:nvSpPr>
          <p:cNvPr id="3" name="">
            <a:extLst xmlns:a="http://schemas.openxmlformats.org/drawingml/2006/main">
              <a:ext uri="{FF2B5EF4-FFF2-40B4-BE49-F238E27FC236}">
                <a16:creationId xmlns:a16="http://schemas.microsoft.com/office/drawing/2014/main" id="{66D98E7B-A905-42F1-9BC7-19739DE3CCEC}"/>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F2E400-D37D-4FDA-BE70-9531CDDA627F}"/>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5" name="">
            <a:extLst xmlns:a="http://schemas.openxmlformats.org/drawingml/2006/main">
              <a:ext uri="{FF2B5EF4-FFF2-40B4-BE49-F238E27FC236}">
                <a16:creationId xmlns:a16="http://schemas.microsoft.com/office/drawing/2014/main" id="{D1785EC6-8113-4740-9672-EEEA5C45D8DC}"/>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Convincing request</a:t>
            </a:r>
          </a:p>
        </p:txBody>
      </p:sp>
      <p:sp>
        <p:nvSpPr>
          <p:cNvPr id="6" name="">
            <a:extLst xmlns:a="http://schemas.openxmlformats.org/drawingml/2006/main">
              <a:ext uri="{FF2B5EF4-FFF2-40B4-BE49-F238E27FC236}">
                <a16:creationId xmlns:a16="http://schemas.microsoft.com/office/drawing/2014/main" id="{09BBF59D-59E2-428A-B10C-483839132EE1}"/>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message, voice or compromised account asks for bank-detail change.</a:t>
            </a:r>
          </a:p>
        </p:txBody>
      </p:sp>
      <p:sp>
        <p:nvSpPr>
          <p:cNvPr id="7" name="">
            <a:extLst xmlns:a="http://schemas.openxmlformats.org/drawingml/2006/main">
              <a:ext uri="{FF2B5EF4-FFF2-40B4-BE49-F238E27FC236}">
                <a16:creationId xmlns:a16="http://schemas.microsoft.com/office/drawing/2014/main" id="{D3C8E9F0-E030-4FF1-A745-6244D9C74112}"/>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594E8F3D-951A-4896-98CE-DFF0ACD9BD8E}"/>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082E9B68-70AA-48BC-9C27-F2CE19074D4E}"/>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Independent verification</a:t>
            </a:r>
          </a:p>
        </p:txBody>
      </p:sp>
      <p:sp>
        <p:nvSpPr>
          <p:cNvPr id="10" name="">
            <a:extLst xmlns:a="http://schemas.openxmlformats.org/drawingml/2006/main">
              <a:ext uri="{FF2B5EF4-FFF2-40B4-BE49-F238E27FC236}">
                <a16:creationId xmlns:a16="http://schemas.microsoft.com/office/drawing/2014/main" id="{A798B727-BE8C-4A29-ABC5-F5A6F1AB4AE8}"/>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a known contact route and the actual supplier-change approval process.</a:t>
            </a:r>
          </a:p>
        </p:txBody>
      </p:sp>
      <p:sp>
        <p:nvSpPr>
          <p:cNvPr id="11" name="">
            <a:extLst xmlns:a="http://schemas.openxmlformats.org/drawingml/2006/main">
              <a:ext uri="{FF2B5EF4-FFF2-40B4-BE49-F238E27FC236}">
                <a16:creationId xmlns:a16="http://schemas.microsoft.com/office/drawing/2014/main" id="{EA3FD873-EC75-484E-8DC5-9E86CADD671D}"/>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96989DEB-DDFC-4C79-B83E-5AA1E313D9F9}"/>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E413A800-CFBA-41C8-83AD-A3B80B749C9C}"/>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Investigate</a:t>
            </a:r>
          </a:p>
        </p:txBody>
      </p:sp>
      <p:sp>
        <p:nvSpPr>
          <p:cNvPr id="14" name="">
            <a:extLst xmlns:a="http://schemas.openxmlformats.org/drawingml/2006/main">
              <a:ext uri="{FF2B5EF4-FFF2-40B4-BE49-F238E27FC236}">
                <a16:creationId xmlns:a16="http://schemas.microsoft.com/office/drawing/2014/main" id="{29CAA676-6026-4446-BB19-DCAC2E11B2C8}"/>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Correlate request, verification, account, approval and transaction events.</a:t>
            </a:r>
          </a:p>
        </p:txBody>
      </p:sp>
      <p:sp>
        <p:nvSpPr>
          <p:cNvPr id="15" name="">
            <a:extLst xmlns:a="http://schemas.openxmlformats.org/drawingml/2006/main">
              <a:ext uri="{FF2B5EF4-FFF2-40B4-BE49-F238E27FC236}">
                <a16:creationId xmlns:a16="http://schemas.microsoft.com/office/drawing/2014/main" id="{136D3529-1005-41E0-BA7A-ADB56090168B}"/>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54BBD685-D320-4CE0-8F12-13614E6B2351}"/>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972C4038-2981-41CA-B95C-331262AC8338}"/>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Contain and reconcile</a:t>
            </a:r>
          </a:p>
        </p:txBody>
      </p:sp>
      <p:sp>
        <p:nvSpPr>
          <p:cNvPr id="18" name="">
            <a:extLst xmlns:a="http://schemas.openxmlformats.org/drawingml/2006/main">
              <a:ext uri="{FF2B5EF4-FFF2-40B4-BE49-F238E27FC236}">
                <a16:creationId xmlns:a16="http://schemas.microsoft.com/office/drawing/2014/main" id="{65A5D017-A5C2-47FC-BFAD-4B8CEB962B71}"/>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Revoke access, pause or reconcile a transaction, then verify the supplier record.</a:t>
            </a:r>
          </a:p>
        </p:txBody>
      </p:sp>
      <p:sp>
        <p:nvSpPr>
          <p:cNvPr id="19" name="">
            <a:extLst xmlns:a="http://schemas.openxmlformats.org/drawingml/2006/main">
              <a:ext uri="{FF2B5EF4-FFF2-40B4-BE49-F238E27FC236}">
                <a16:creationId xmlns:a16="http://schemas.microsoft.com/office/drawing/2014/main" id="{FEE00561-9B2A-44A4-9745-337AC8B614D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11A47C0C-BA81-4191-8F25-D2F655D7BF3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17</a:t>
            </a:r>
          </a:p>
        </p:txBody>
      </p:sp>
    </p:spTree>
    <p:extLst>
      <p:ext uri="{BB962C8B-B14F-4D97-AF65-F5344CB8AC3E}">
        <p14:creationId xmlns:p14="http://schemas.microsoft.com/office/powerpoint/2010/main" val="84217357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0ED1CD2-3F44-43B3-B4D5-9602E88FADB7}"/>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5FD88231-85E0-48EF-8891-AD3B937EDD8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Recovery means a usable business service</a:t>
            </a:r>
          </a:p>
        </p:txBody>
      </p:sp>
      <p:sp>
        <p:nvSpPr>
          <p:cNvPr id="3" name="">
            <a:extLst xmlns:a="http://schemas.openxmlformats.org/drawingml/2006/main">
              <a:ext uri="{FF2B5EF4-FFF2-40B4-BE49-F238E27FC236}">
                <a16:creationId xmlns:a16="http://schemas.microsoft.com/office/drawing/2014/main" id="{9FD16E16-7FEB-4FCF-B646-7E274BE3426B}"/>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2B7596-D666-4EBD-B79B-A2BE13D6DAEC}"/>
              </a:ext>
            </a:extLst>
          </p:cNvPr>
          <p:cNvSpPr>
            <a:spLocks xmlns:a="http://schemas.openxmlformats.org/drawingml/2006/main" noGrp="1"/>
          </p:cNvSpPr>
          <p:nvPr/>
        </p:nvSpPr>
        <p:spPr>
          <a:xfrm xmlns:a="http://schemas.openxmlformats.org/drawingml/2006/main">
            <a:off x="790575" y="1809750"/>
            <a:ext cx="3143250" cy="2419350"/>
          </a:xfrm>
          <a:prstGeom xmlns:a="http://schemas.openxmlformats.org/drawingml/2006/main" prst="roundRect">
            <a:avLst>
              <a:gd name="adj" fmla="val 3150"/>
            </a:avLst>
          </a:prstGeom>
          <a:solidFill xmlns:a="http://schemas.openxmlformats.org/drawingml/2006/main">
            <a:srgbClr val="E5F5F3"/>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C0E87240-0C68-4BF8-9BD2-A150474E6256}"/>
              </a:ext>
            </a:extLst>
          </p:cNvPr>
          <p:cNvSpPr>
            <a:spLocks xmlns:a="http://schemas.openxmlformats.org/drawingml/2006/main" noGrp="1"/>
          </p:cNvSpPr>
          <p:nvPr/>
        </p:nvSpPr>
        <p:spPr>
          <a:xfrm xmlns:a="http://schemas.openxmlformats.org/drawingml/2006/main">
            <a:off x="790575" y="1809750"/>
            <a:ext cx="66675" cy="24193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6F58489-C091-4A6A-9BAC-3D019CA07DC4}"/>
              </a:ext>
            </a:extLst>
          </p:cNvPr>
          <p:cNvSpPr>
            <a:spLocks xmlns:a="http://schemas.openxmlformats.org/drawingml/2006/main" noGrp="1"/>
          </p:cNvSpPr>
          <p:nvPr/>
        </p:nvSpPr>
        <p:spPr>
          <a:xfrm xmlns:a="http://schemas.openxmlformats.org/drawingml/2006/main">
            <a:off x="1019175"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Containment</a:t>
            </a:r>
          </a:p>
        </p:txBody>
      </p:sp>
      <p:sp>
        <p:nvSpPr>
          <p:cNvPr id="7" name="">
            <a:extLst xmlns:a="http://schemas.openxmlformats.org/drawingml/2006/main">
              <a:ext uri="{FF2B5EF4-FFF2-40B4-BE49-F238E27FC236}">
                <a16:creationId xmlns:a16="http://schemas.microsoft.com/office/drawing/2014/main" id="{B7B1342F-0757-4534-8CBA-2A354CDC76F2}"/>
              </a:ext>
            </a:extLst>
          </p:cNvPr>
          <p:cNvSpPr>
            <a:spLocks xmlns:a="http://schemas.openxmlformats.org/drawingml/2006/main" noGrp="1"/>
          </p:cNvSpPr>
          <p:nvPr/>
        </p:nvSpPr>
        <p:spPr>
          <a:xfrm xmlns:a="http://schemas.openxmlformats.org/drawingml/2006/main">
            <a:off x="1019175"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Revoke sessions, isolate systems or block harmful transfers under pre-agreed authority.</a:t>
            </a:r>
          </a:p>
        </p:txBody>
      </p:sp>
      <p:sp>
        <p:nvSpPr>
          <p:cNvPr id="8" name="">
            <a:extLst xmlns:a="http://schemas.openxmlformats.org/drawingml/2006/main">
              <a:ext uri="{FF2B5EF4-FFF2-40B4-BE49-F238E27FC236}">
                <a16:creationId xmlns:a16="http://schemas.microsoft.com/office/drawing/2014/main" id="{D6AAF6BF-800F-4EEE-8A11-B3D1C7B6FA74}"/>
              </a:ext>
            </a:extLst>
          </p:cNvPr>
          <p:cNvSpPr>
            <a:spLocks xmlns:a="http://schemas.openxmlformats.org/drawingml/2006/main" noGrp="1"/>
          </p:cNvSpPr>
          <p:nvPr/>
        </p:nvSpPr>
        <p:spPr>
          <a:xfrm xmlns:a="http://schemas.openxmlformats.org/drawingml/2006/main">
            <a:off x="4514850" y="1809750"/>
            <a:ext cx="3143250" cy="2419350"/>
          </a:xfrm>
          <a:prstGeom xmlns:a="http://schemas.openxmlformats.org/drawingml/2006/main" prst="roundRect">
            <a:avLst>
              <a:gd name="adj" fmla="val 3150"/>
            </a:avLst>
          </a:prstGeom>
          <a:solidFill xmlns:a="http://schemas.openxmlformats.org/drawingml/2006/main">
            <a:srgbClr val="E9F3F9"/>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E22EC6B3-F007-421F-9CB6-A752E2BD7BD3}"/>
              </a:ext>
            </a:extLst>
          </p:cNvPr>
          <p:cNvSpPr>
            <a:spLocks xmlns:a="http://schemas.openxmlformats.org/drawingml/2006/main" noGrp="1"/>
          </p:cNvSpPr>
          <p:nvPr/>
        </p:nvSpPr>
        <p:spPr>
          <a:xfrm xmlns:a="http://schemas.openxmlformats.org/drawingml/2006/main">
            <a:off x="4514850" y="1809750"/>
            <a:ext cx="66675" cy="24193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ED2BB79-3335-4B2B-AFC3-8161F96BB6E9}"/>
              </a:ext>
            </a:extLst>
          </p:cNvPr>
          <p:cNvSpPr>
            <a:spLocks xmlns:a="http://schemas.openxmlformats.org/drawingml/2006/main" noGrp="1"/>
          </p:cNvSpPr>
          <p:nvPr/>
        </p:nvSpPr>
        <p:spPr>
          <a:xfrm xmlns:a="http://schemas.openxmlformats.org/drawingml/2006/main">
            <a:off x="4743450"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Restoration</a:t>
            </a:r>
          </a:p>
        </p:txBody>
      </p:sp>
      <p:sp>
        <p:nvSpPr>
          <p:cNvPr id="11" name="">
            <a:extLst xmlns:a="http://schemas.openxmlformats.org/drawingml/2006/main">
              <a:ext uri="{FF2B5EF4-FFF2-40B4-BE49-F238E27FC236}">
                <a16:creationId xmlns:a16="http://schemas.microsoft.com/office/drawing/2014/main" id="{C81C8525-D58D-4C9D-A19D-72006E415EED}"/>
              </a:ext>
            </a:extLst>
          </p:cNvPr>
          <p:cNvSpPr>
            <a:spLocks xmlns:a="http://schemas.openxmlformats.org/drawingml/2006/main" noGrp="1"/>
          </p:cNvSpPr>
          <p:nvPr/>
        </p:nvSpPr>
        <p:spPr>
          <a:xfrm xmlns:a="http://schemas.openxmlformats.org/drawingml/2006/main">
            <a:off x="4743450"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Restore from protected material and bring the service back through the intended recovery procedure.</a:t>
            </a:r>
          </a:p>
        </p:txBody>
      </p:sp>
      <p:sp>
        <p:nvSpPr>
          <p:cNvPr id="12" name="">
            <a:extLst xmlns:a="http://schemas.openxmlformats.org/drawingml/2006/main">
              <a:ext uri="{FF2B5EF4-FFF2-40B4-BE49-F238E27FC236}">
                <a16:creationId xmlns:a16="http://schemas.microsoft.com/office/drawing/2014/main" id="{8A07F4F5-14BE-425B-AA73-C6E23565B860}"/>
              </a:ext>
            </a:extLst>
          </p:cNvPr>
          <p:cNvSpPr>
            <a:spLocks xmlns:a="http://schemas.openxmlformats.org/drawingml/2006/main" noGrp="1"/>
          </p:cNvSpPr>
          <p:nvPr/>
        </p:nvSpPr>
        <p:spPr>
          <a:xfrm xmlns:a="http://schemas.openxmlformats.org/drawingml/2006/main">
            <a:off x="8239125" y="1809750"/>
            <a:ext cx="3143250" cy="2419350"/>
          </a:xfrm>
          <a:prstGeom xmlns:a="http://schemas.openxmlformats.org/drawingml/2006/main" prst="roundRect">
            <a:avLst>
              <a:gd name="adj" fmla="val 3150"/>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1B130106-CCC5-466A-B800-65B34810538B}"/>
              </a:ext>
            </a:extLst>
          </p:cNvPr>
          <p:cNvSpPr>
            <a:spLocks xmlns:a="http://schemas.openxmlformats.org/drawingml/2006/main" noGrp="1"/>
          </p:cNvSpPr>
          <p:nvPr/>
        </p:nvSpPr>
        <p:spPr>
          <a:xfrm xmlns:a="http://schemas.openxmlformats.org/drawingml/2006/main">
            <a:off x="8239125" y="1809750"/>
            <a:ext cx="66675" cy="24193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B7C6080-942C-4BD4-A3E0-DCEEF5652625}"/>
              </a:ext>
            </a:extLst>
          </p:cNvPr>
          <p:cNvSpPr>
            <a:spLocks xmlns:a="http://schemas.openxmlformats.org/drawingml/2006/main" noGrp="1"/>
          </p:cNvSpPr>
          <p:nvPr/>
        </p:nvSpPr>
        <p:spPr>
          <a:xfrm xmlns:a="http://schemas.openxmlformats.org/drawingml/2006/main">
            <a:off x="8467725"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Verification</a:t>
            </a:r>
          </a:p>
        </p:txBody>
      </p:sp>
      <p:sp>
        <p:nvSpPr>
          <p:cNvPr id="15" name="">
            <a:extLst xmlns:a="http://schemas.openxmlformats.org/drawingml/2006/main">
              <a:ext uri="{FF2B5EF4-FFF2-40B4-BE49-F238E27FC236}">
                <a16:creationId xmlns:a16="http://schemas.microsoft.com/office/drawing/2014/main" id="{B2E16A79-508A-4F04-97B0-1946F9E359BC}"/>
              </a:ext>
            </a:extLst>
          </p:cNvPr>
          <p:cNvSpPr>
            <a:spLocks xmlns:a="http://schemas.openxmlformats.org/drawingml/2006/main" noGrp="1"/>
          </p:cNvSpPr>
          <p:nvPr/>
        </p:nvSpPr>
        <p:spPr>
          <a:xfrm xmlns:a="http://schemas.openxmlformats.org/drawingml/2006/main">
            <a:off x="8467725"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Check service, data, access state and reconciliation evidence. A rebuilt component is not enough.</a:t>
            </a:r>
          </a:p>
        </p:txBody>
      </p:sp>
      <p:sp>
        <p:nvSpPr>
          <p:cNvPr id="16" name="">
            <a:extLst xmlns:a="http://schemas.openxmlformats.org/drawingml/2006/main">
              <a:ext uri="{FF2B5EF4-FFF2-40B4-BE49-F238E27FC236}">
                <a16:creationId xmlns:a16="http://schemas.microsoft.com/office/drawing/2014/main" id="{00B65624-E9FA-4164-804B-7A3AA573952A}"/>
              </a:ext>
            </a:extLst>
          </p:cNvPr>
          <p:cNvSpPr>
            <a:spLocks xmlns:a="http://schemas.openxmlformats.org/drawingml/2006/main" noGrp="1"/>
          </p:cNvSpPr>
          <p:nvPr/>
        </p:nvSpPr>
        <p:spPr>
          <a:xfrm xmlns:a="http://schemas.openxmlformats.org/drawingml/2006/main">
            <a:off x="876300" y="48291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9E3C35"/>
                </a:solidFill>
                <a:latin typeface="DejaVu Sans"/>
                <a:ea typeface="DejaVu Sans"/>
                <a:cs typeface="DejaVu Sans"/>
              </a:defRPr>
            </a:pPr>
            <a:r>
              <a:rPr sz="1425" b="1">
                <a:solidFill>
                  <a:srgbClr val="9E3C35"/>
                </a:solidFill>
                <a:latin typeface="DejaVu Sans"/>
                <a:ea typeface="DejaVu Sans"/>
                <a:cs typeface="DejaVu Sans"/>
              </a:rPr>
              <a:t>Open design question: which response and recovery actions have authority, and how do their decisions feed security telemetry?</a:t>
            </a:r>
          </a:p>
        </p:txBody>
      </p:sp>
      <p:sp>
        <p:nvSpPr>
          <p:cNvPr id="17" name="">
            <a:extLst xmlns:a="http://schemas.openxmlformats.org/drawingml/2006/main">
              <a:ext uri="{FF2B5EF4-FFF2-40B4-BE49-F238E27FC236}">
                <a16:creationId xmlns:a16="http://schemas.microsoft.com/office/drawing/2014/main" id="{01DDC5E8-070B-4658-9A0A-B82EC342E83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A2A6E225-765D-46F5-BDB5-93520CD56BB6}"/>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18</a:t>
            </a:r>
          </a:p>
        </p:txBody>
      </p:sp>
    </p:spTree>
    <p:extLst>
      <p:ext uri="{BB962C8B-B14F-4D97-AF65-F5344CB8AC3E}">
        <p14:creationId xmlns:p14="http://schemas.microsoft.com/office/powerpoint/2010/main" val="942788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3FC258-B3AA-43B3-85FB-E58DF602CE4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EFE0A6B-9689-47D6-AB8E-3DA9C97A664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03. Defend with AI</a:t>
            </a:r>
          </a:p>
        </p:txBody>
      </p:sp>
      <p:sp>
        <p:nvSpPr>
          <p:cNvPr id="3" name="">
            <a:extLst xmlns:a="http://schemas.openxmlformats.org/drawingml/2006/main">
              <a:ext uri="{FF2B5EF4-FFF2-40B4-BE49-F238E27FC236}">
                <a16:creationId xmlns:a16="http://schemas.microsoft.com/office/drawing/2014/main" id="{ABFCC36E-5B71-4BEE-90E5-C827AD792917}"/>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D3E01E-F21E-46D8-8A06-EFC77FA10AE7}"/>
              </a:ext>
            </a:extLst>
          </p:cNvPr>
          <p:cNvSpPr>
            <a:spLocks xmlns:a="http://schemas.openxmlformats.org/drawingml/2006/main" noGrp="1"/>
          </p:cNvSpPr>
          <p:nvPr/>
        </p:nvSpPr>
        <p:spPr>
          <a:xfrm xmlns:a="http://schemas.openxmlformats.org/drawingml/2006/main">
            <a:off x="895350" y="19526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2324A"/>
                </a:solidFill>
                <a:latin typeface="DejaVu Sans"/>
                <a:ea typeface="DejaVu Sans"/>
                <a:cs typeface="DejaVu Sans"/>
              </a:defRPr>
            </a:pPr>
            <a:r>
              <a:rPr sz="2250" b="1">
                <a:solidFill>
                  <a:srgbClr val="12324A"/>
                </a:solidFill>
                <a:latin typeface="DejaVu Sans"/>
                <a:ea typeface="DejaVu Sans"/>
                <a:cs typeface="DejaVu Sans"/>
              </a:rPr>
              <a:t>Question: How can AI help security act effectively and within limits?</a:t>
            </a:r>
          </a:p>
        </p:txBody>
      </p:sp>
      <p:sp>
        <p:nvSpPr>
          <p:cNvPr id="5" name="">
            <a:extLst xmlns:a="http://schemas.openxmlformats.org/drawingml/2006/main">
              <a:ext uri="{FF2B5EF4-FFF2-40B4-BE49-F238E27FC236}">
                <a16:creationId xmlns:a16="http://schemas.microsoft.com/office/drawing/2014/main" id="{BF370215-1E6B-4016-88AC-C890F288BD98}"/>
              </a:ext>
            </a:extLst>
          </p:cNvPr>
          <p:cNvSpPr>
            <a:spLocks xmlns:a="http://schemas.openxmlformats.org/drawingml/2006/main" noGrp="1"/>
          </p:cNvSpPr>
          <p:nvPr/>
        </p:nvSpPr>
        <p:spPr>
          <a:xfrm xmlns:a="http://schemas.openxmlformats.org/drawingml/2006/main">
            <a:off x="895350" y="2876550"/>
            <a:ext cx="1009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AI can help correlate evidence, prioritize work and propose action. Permission, execution and verification require controls beyond a generated answer.</a:t>
            </a:r>
          </a:p>
        </p:txBody>
      </p:sp>
      <p:sp>
        <p:nvSpPr>
          <p:cNvPr id="6" name="">
            <a:extLst xmlns:a="http://schemas.openxmlformats.org/drawingml/2006/main">
              <a:ext uri="{FF2B5EF4-FFF2-40B4-BE49-F238E27FC236}">
                <a16:creationId xmlns:a16="http://schemas.microsoft.com/office/drawing/2014/main" id="{DB336F52-7410-432F-9340-426A941E2764}"/>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087E8B"/>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B1F54E-A80F-4FA4-BEE0-C17389896980}"/>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8E5254C6-9ABB-4521-A66B-519C05821910}"/>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Use AI assistance to improve security work while keeping decisions accountable and actions bounded.</a:t>
            </a:r>
          </a:p>
        </p:txBody>
      </p:sp>
      <p:sp>
        <p:nvSpPr>
          <p:cNvPr id="9" name="">
            <a:extLst xmlns:a="http://schemas.openxmlformats.org/drawingml/2006/main">
              <a:ext uri="{FF2B5EF4-FFF2-40B4-BE49-F238E27FC236}">
                <a16:creationId xmlns:a16="http://schemas.microsoft.com/office/drawing/2014/main" id="{A35AD0A8-5D54-40F5-BF77-3DC72563DB9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640623B3-6B10-444E-A9DA-694A8227D079}"/>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19</a:t>
            </a:r>
          </a:p>
        </p:txBody>
      </p:sp>
    </p:spTree>
    <p:extLst>
      <p:ext uri="{BB962C8B-B14F-4D97-AF65-F5344CB8AC3E}">
        <p14:creationId xmlns:p14="http://schemas.microsoft.com/office/powerpoint/2010/main" val="210181672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733134-4CD2-4B4F-BBFF-AD1E03043635}"/>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EBEE4451-9076-46F6-8580-C60A6170D007}"/>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Defend with AI</a:t>
            </a:r>
          </a:p>
        </p:txBody>
      </p:sp>
      <p:sp>
        <p:nvSpPr>
          <p:cNvPr id="3" name="">
            <a:extLst xmlns:a="http://schemas.openxmlformats.org/drawingml/2006/main">
              <a:ext uri="{FF2B5EF4-FFF2-40B4-BE49-F238E27FC236}">
                <a16:creationId xmlns:a16="http://schemas.microsoft.com/office/drawing/2014/main" id="{846965F5-A472-4F3C-8062-D4C9C804BC9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5aee4acc1234d6b"/>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0774375-5F24-41DE-9078-6B289CD012B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318B992C-F1E0-49C1-9237-9A911A478AFC}"/>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20</a:t>
            </a:r>
          </a:p>
        </p:txBody>
      </p:sp>
    </p:spTree>
    <p:extLst>
      <p:ext uri="{BB962C8B-B14F-4D97-AF65-F5344CB8AC3E}">
        <p14:creationId xmlns:p14="http://schemas.microsoft.com/office/powerpoint/2010/main" val="14909052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8E600D-0DE7-4AC0-8BAB-CD6FB40CD9D9}"/>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0E06D50-52B5-4681-9D6A-8A05E3C37B9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to verified outcome</a:t>
            </a:r>
          </a:p>
        </p:txBody>
      </p:sp>
      <p:sp>
        <p:nvSpPr>
          <p:cNvPr id="3" name="">
            <a:extLst xmlns:a="http://schemas.openxmlformats.org/drawingml/2006/main">
              <a:ext uri="{FF2B5EF4-FFF2-40B4-BE49-F238E27FC236}">
                <a16:creationId xmlns:a16="http://schemas.microsoft.com/office/drawing/2014/main" id="{72E6746A-7980-470B-B766-3067EDCF4317}"/>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B372FB-D634-46D7-B253-82A9746F94CC}"/>
              </a:ext>
            </a:extLst>
          </p:cNvPr>
          <p:cNvSpPr>
            <a:spLocks xmlns:a="http://schemas.openxmlformats.org/drawingml/2006/main" noGrp="1"/>
          </p:cNvSpPr>
          <p:nvPr/>
        </p:nvSpPr>
        <p:spPr>
          <a:xfrm xmlns:a="http://schemas.openxmlformats.org/drawingml/2006/main">
            <a:off x="714375" y="2019300"/>
            <a:ext cx="206121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982B003C-9346-446C-A36A-4E5521B40CCA}"/>
              </a:ext>
            </a:extLst>
          </p:cNvPr>
          <p:cNvSpPr>
            <a:spLocks xmlns:a="http://schemas.openxmlformats.org/drawingml/2006/main" noGrp="1"/>
          </p:cNvSpPr>
          <p:nvPr/>
        </p:nvSpPr>
        <p:spPr>
          <a:xfrm xmlns:a="http://schemas.openxmlformats.org/drawingml/2006/main">
            <a:off x="84772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Security evidence</a:t>
            </a:r>
          </a:p>
        </p:txBody>
      </p:sp>
      <p:sp>
        <p:nvSpPr>
          <p:cNvPr id="6" name="">
            <a:extLst xmlns:a="http://schemas.openxmlformats.org/drawingml/2006/main">
              <a:ext uri="{FF2B5EF4-FFF2-40B4-BE49-F238E27FC236}">
                <a16:creationId xmlns:a16="http://schemas.microsoft.com/office/drawing/2014/main" id="{6E059976-4E51-40EC-BA13-0D3082AE2801}"/>
              </a:ext>
            </a:extLst>
          </p:cNvPr>
          <p:cNvSpPr>
            <a:spLocks xmlns:a="http://schemas.openxmlformats.org/drawingml/2006/main" noGrp="1"/>
          </p:cNvSpPr>
          <p:nvPr/>
        </p:nvSpPr>
        <p:spPr>
          <a:xfrm xmlns:a="http://schemas.openxmlformats.org/drawingml/2006/main">
            <a:off x="84772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Source records with provenance, freshness and access limits.</a:t>
            </a:r>
          </a:p>
        </p:txBody>
      </p:sp>
      <p:sp>
        <p:nvSpPr>
          <p:cNvPr id="7" name="">
            <a:extLst xmlns:a="http://schemas.openxmlformats.org/drawingml/2006/main">
              <a:ext uri="{FF2B5EF4-FFF2-40B4-BE49-F238E27FC236}">
                <a16:creationId xmlns:a16="http://schemas.microsoft.com/office/drawing/2014/main" id="{80A19B1D-9016-4539-B5D7-EB2281A80936}"/>
              </a:ext>
            </a:extLst>
          </p:cNvPr>
          <p:cNvSpPr>
            <a:spLocks xmlns:a="http://schemas.openxmlformats.org/drawingml/2006/main" noGrp="1"/>
          </p:cNvSpPr>
          <p:nvPr/>
        </p:nvSpPr>
        <p:spPr>
          <a:xfrm xmlns:a="http://schemas.openxmlformats.org/drawingml/2006/main">
            <a:off x="279463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B7C426D5-01A5-480D-AC63-7F3AE4761A07}"/>
              </a:ext>
            </a:extLst>
          </p:cNvPr>
          <p:cNvSpPr>
            <a:spLocks xmlns:a="http://schemas.openxmlformats.org/drawingml/2006/main" noGrp="1"/>
          </p:cNvSpPr>
          <p:nvPr/>
        </p:nvSpPr>
        <p:spPr>
          <a:xfrm xmlns:a="http://schemas.openxmlformats.org/drawingml/2006/main">
            <a:off x="2889885" y="2019300"/>
            <a:ext cx="206121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A1B1843B-C70E-4C3F-9E6F-C275D5873DB9}"/>
              </a:ext>
            </a:extLst>
          </p:cNvPr>
          <p:cNvSpPr>
            <a:spLocks xmlns:a="http://schemas.openxmlformats.org/drawingml/2006/main" noGrp="1"/>
          </p:cNvSpPr>
          <p:nvPr/>
        </p:nvSpPr>
        <p:spPr>
          <a:xfrm xmlns:a="http://schemas.openxmlformats.org/drawingml/2006/main">
            <a:off x="302323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AI analysis</a:t>
            </a:r>
          </a:p>
        </p:txBody>
      </p:sp>
      <p:sp>
        <p:nvSpPr>
          <p:cNvPr id="10" name="">
            <a:extLst xmlns:a="http://schemas.openxmlformats.org/drawingml/2006/main">
              <a:ext uri="{FF2B5EF4-FFF2-40B4-BE49-F238E27FC236}">
                <a16:creationId xmlns:a16="http://schemas.microsoft.com/office/drawing/2014/main" id="{E6F99412-0348-45EC-AEAF-119FFE209BD7}"/>
              </a:ext>
            </a:extLst>
          </p:cNvPr>
          <p:cNvSpPr>
            <a:spLocks xmlns:a="http://schemas.openxmlformats.org/drawingml/2006/main" noGrp="1"/>
          </p:cNvSpPr>
          <p:nvPr/>
        </p:nvSpPr>
        <p:spPr>
          <a:xfrm xmlns:a="http://schemas.openxmlformats.org/drawingml/2006/main">
            <a:off x="302323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Correlate evidence. Show sources and uncertainty.</a:t>
            </a:r>
          </a:p>
        </p:txBody>
      </p:sp>
      <p:sp>
        <p:nvSpPr>
          <p:cNvPr id="11" name="">
            <a:extLst xmlns:a="http://schemas.openxmlformats.org/drawingml/2006/main">
              <a:ext uri="{FF2B5EF4-FFF2-40B4-BE49-F238E27FC236}">
                <a16:creationId xmlns:a16="http://schemas.microsoft.com/office/drawing/2014/main" id="{BF53E6DE-7DE9-41FA-A171-65B73D67C515}"/>
              </a:ext>
            </a:extLst>
          </p:cNvPr>
          <p:cNvSpPr>
            <a:spLocks xmlns:a="http://schemas.openxmlformats.org/drawingml/2006/main" noGrp="1"/>
          </p:cNvSpPr>
          <p:nvPr/>
        </p:nvSpPr>
        <p:spPr>
          <a:xfrm xmlns:a="http://schemas.openxmlformats.org/drawingml/2006/main">
            <a:off x="497014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55573F33-53DD-405E-9286-FBDCD31362EF}"/>
              </a:ext>
            </a:extLst>
          </p:cNvPr>
          <p:cNvSpPr>
            <a:spLocks xmlns:a="http://schemas.openxmlformats.org/drawingml/2006/main" noGrp="1"/>
          </p:cNvSpPr>
          <p:nvPr/>
        </p:nvSpPr>
        <p:spPr>
          <a:xfrm xmlns:a="http://schemas.openxmlformats.org/drawingml/2006/main">
            <a:off x="5065395" y="2019300"/>
            <a:ext cx="206121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3781B88C-B3DB-4291-A11D-C0F1535F20CD}"/>
              </a:ext>
            </a:extLst>
          </p:cNvPr>
          <p:cNvSpPr>
            <a:spLocks xmlns:a="http://schemas.openxmlformats.org/drawingml/2006/main" noGrp="1"/>
          </p:cNvSpPr>
          <p:nvPr/>
        </p:nvSpPr>
        <p:spPr>
          <a:xfrm xmlns:a="http://schemas.openxmlformats.org/drawingml/2006/main">
            <a:off x="519874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Authorization</a:t>
            </a:r>
          </a:p>
        </p:txBody>
      </p:sp>
      <p:sp>
        <p:nvSpPr>
          <p:cNvPr id="14" name="">
            <a:extLst xmlns:a="http://schemas.openxmlformats.org/drawingml/2006/main">
              <a:ext uri="{FF2B5EF4-FFF2-40B4-BE49-F238E27FC236}">
                <a16:creationId xmlns:a16="http://schemas.microsoft.com/office/drawing/2014/main" id="{90B140EC-17A6-483E-8C62-3A0E973628DC}"/>
              </a:ext>
            </a:extLst>
          </p:cNvPr>
          <p:cNvSpPr>
            <a:spLocks xmlns:a="http://schemas.openxmlformats.org/drawingml/2006/main" noGrp="1"/>
          </p:cNvSpPr>
          <p:nvPr/>
        </p:nvSpPr>
        <p:spPr>
          <a:xfrm xmlns:a="http://schemas.openxmlformats.org/drawingml/2006/main">
            <a:off x="519874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Check target, scope, policy and current conditions.</a:t>
            </a:r>
          </a:p>
        </p:txBody>
      </p:sp>
      <p:sp>
        <p:nvSpPr>
          <p:cNvPr id="15" name="">
            <a:extLst xmlns:a="http://schemas.openxmlformats.org/drawingml/2006/main">
              <a:ext uri="{FF2B5EF4-FFF2-40B4-BE49-F238E27FC236}">
                <a16:creationId xmlns:a16="http://schemas.microsoft.com/office/drawing/2014/main" id="{9C2CE125-F65F-4E80-A97C-1827BEC70791}"/>
              </a:ext>
            </a:extLst>
          </p:cNvPr>
          <p:cNvSpPr>
            <a:spLocks xmlns:a="http://schemas.openxmlformats.org/drawingml/2006/main" noGrp="1"/>
          </p:cNvSpPr>
          <p:nvPr/>
        </p:nvSpPr>
        <p:spPr>
          <a:xfrm xmlns:a="http://schemas.openxmlformats.org/drawingml/2006/main">
            <a:off x="714565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FC2F4371-900E-4312-BEEA-D7011A88FDCC}"/>
              </a:ext>
            </a:extLst>
          </p:cNvPr>
          <p:cNvSpPr>
            <a:spLocks xmlns:a="http://schemas.openxmlformats.org/drawingml/2006/main" noGrp="1"/>
          </p:cNvSpPr>
          <p:nvPr/>
        </p:nvSpPr>
        <p:spPr>
          <a:xfrm xmlns:a="http://schemas.openxmlformats.org/drawingml/2006/main">
            <a:off x="7240905" y="2019300"/>
            <a:ext cx="206121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7" name="">
            <a:extLst xmlns:a="http://schemas.openxmlformats.org/drawingml/2006/main">
              <a:ext uri="{FF2B5EF4-FFF2-40B4-BE49-F238E27FC236}">
                <a16:creationId xmlns:a16="http://schemas.microsoft.com/office/drawing/2014/main" id="{3F537E49-2DE6-4610-899F-7A8C8B294183}"/>
              </a:ext>
            </a:extLst>
          </p:cNvPr>
          <p:cNvSpPr>
            <a:spLocks xmlns:a="http://schemas.openxmlformats.org/drawingml/2006/main" noGrp="1"/>
          </p:cNvSpPr>
          <p:nvPr/>
        </p:nvSpPr>
        <p:spPr>
          <a:xfrm xmlns:a="http://schemas.openxmlformats.org/drawingml/2006/main">
            <a:off x="737425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Controlled execution</a:t>
            </a:r>
          </a:p>
        </p:txBody>
      </p:sp>
      <p:sp>
        <p:nvSpPr>
          <p:cNvPr id="18" name="">
            <a:extLst xmlns:a="http://schemas.openxmlformats.org/drawingml/2006/main">
              <a:ext uri="{FF2B5EF4-FFF2-40B4-BE49-F238E27FC236}">
                <a16:creationId xmlns:a16="http://schemas.microsoft.com/office/drawing/2014/main" id="{556ACF6F-2E0A-4B91-81B1-21F004F811A5}"/>
              </a:ext>
            </a:extLst>
          </p:cNvPr>
          <p:cNvSpPr>
            <a:spLocks xmlns:a="http://schemas.openxmlformats.org/drawingml/2006/main" noGrp="1"/>
          </p:cNvSpPr>
          <p:nvPr/>
        </p:nvSpPr>
        <p:spPr>
          <a:xfrm xmlns:a="http://schemas.openxmlformats.org/drawingml/2006/main">
            <a:off x="737425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A constrained adapter enforces the operation.</a:t>
            </a:r>
          </a:p>
        </p:txBody>
      </p:sp>
      <p:sp>
        <p:nvSpPr>
          <p:cNvPr id="19" name="">
            <a:extLst xmlns:a="http://schemas.openxmlformats.org/drawingml/2006/main">
              <a:ext uri="{FF2B5EF4-FFF2-40B4-BE49-F238E27FC236}">
                <a16:creationId xmlns:a16="http://schemas.microsoft.com/office/drawing/2014/main" id="{820F0380-CD17-4605-B595-AD5B5EA8A4D0}"/>
              </a:ext>
            </a:extLst>
          </p:cNvPr>
          <p:cNvSpPr>
            <a:spLocks xmlns:a="http://schemas.openxmlformats.org/drawingml/2006/main" noGrp="1"/>
          </p:cNvSpPr>
          <p:nvPr/>
        </p:nvSpPr>
        <p:spPr>
          <a:xfrm xmlns:a="http://schemas.openxmlformats.org/drawingml/2006/main">
            <a:off x="932116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20" name="">
            <a:extLst xmlns:a="http://schemas.openxmlformats.org/drawingml/2006/main">
              <a:ext uri="{FF2B5EF4-FFF2-40B4-BE49-F238E27FC236}">
                <a16:creationId xmlns:a16="http://schemas.microsoft.com/office/drawing/2014/main" id="{F91C1CDE-A49C-4CED-9DBC-2815A1859134}"/>
              </a:ext>
            </a:extLst>
          </p:cNvPr>
          <p:cNvSpPr>
            <a:spLocks xmlns:a="http://schemas.openxmlformats.org/drawingml/2006/main" noGrp="1"/>
          </p:cNvSpPr>
          <p:nvPr/>
        </p:nvSpPr>
        <p:spPr>
          <a:xfrm xmlns:a="http://schemas.openxmlformats.org/drawingml/2006/main">
            <a:off x="9416415" y="2019300"/>
            <a:ext cx="2061210"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21" name="">
            <a:extLst xmlns:a="http://schemas.openxmlformats.org/drawingml/2006/main">
              <a:ext uri="{FF2B5EF4-FFF2-40B4-BE49-F238E27FC236}">
                <a16:creationId xmlns:a16="http://schemas.microsoft.com/office/drawing/2014/main" id="{5277666E-276C-450E-B70C-AEE69CA9BE92}"/>
              </a:ext>
            </a:extLst>
          </p:cNvPr>
          <p:cNvSpPr>
            <a:spLocks xmlns:a="http://schemas.openxmlformats.org/drawingml/2006/main" noGrp="1"/>
          </p:cNvSpPr>
          <p:nvPr/>
        </p:nvSpPr>
        <p:spPr>
          <a:xfrm xmlns:a="http://schemas.openxmlformats.org/drawingml/2006/main">
            <a:off x="954976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Outcome verification</a:t>
            </a:r>
          </a:p>
        </p:txBody>
      </p:sp>
      <p:sp>
        <p:nvSpPr>
          <p:cNvPr id="22" name="">
            <a:extLst xmlns:a="http://schemas.openxmlformats.org/drawingml/2006/main">
              <a:ext uri="{FF2B5EF4-FFF2-40B4-BE49-F238E27FC236}">
                <a16:creationId xmlns:a16="http://schemas.microsoft.com/office/drawing/2014/main" id="{4E04174F-CF54-47AE-956B-EB5C32F42C18}"/>
              </a:ext>
            </a:extLst>
          </p:cNvPr>
          <p:cNvSpPr>
            <a:spLocks xmlns:a="http://schemas.openxmlformats.org/drawingml/2006/main" noGrp="1"/>
          </p:cNvSpPr>
          <p:nvPr/>
        </p:nvSpPr>
        <p:spPr>
          <a:xfrm xmlns:a="http://schemas.openxmlformats.org/drawingml/2006/main">
            <a:off x="954976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Destination evidence confirms effect or keeps the case open.</a:t>
            </a:r>
          </a:p>
        </p:txBody>
      </p:sp>
      <p:sp>
        <p:nvSpPr>
          <p:cNvPr id="23" name="">
            <a:extLst xmlns:a="http://schemas.openxmlformats.org/drawingml/2006/main">
              <a:ext uri="{FF2B5EF4-FFF2-40B4-BE49-F238E27FC236}">
                <a16:creationId xmlns:a16="http://schemas.microsoft.com/office/drawing/2014/main" id="{9E7BF304-582F-449B-89C5-4D3FDA8ED8E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4" name="">
            <a:extLst xmlns:a="http://schemas.openxmlformats.org/drawingml/2006/main">
              <a:ext uri="{FF2B5EF4-FFF2-40B4-BE49-F238E27FC236}">
                <a16:creationId xmlns:a16="http://schemas.microsoft.com/office/drawing/2014/main" id="{AF833A9F-7D74-49C1-BB2A-7704C9E9CEAA}"/>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21</a:t>
            </a:r>
          </a:p>
        </p:txBody>
      </p:sp>
    </p:spTree>
    <p:extLst>
      <p:ext uri="{BB962C8B-B14F-4D97-AF65-F5344CB8AC3E}">
        <p14:creationId xmlns:p14="http://schemas.microsoft.com/office/powerpoint/2010/main" val="170059651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6E2FF6C-6860-43DD-9361-6186885DA937}"/>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B1F65551-A0CE-4972-A1DD-7C5CB41A67E0}"/>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Selectable operating modes</a:t>
            </a:r>
          </a:p>
        </p:txBody>
      </p:sp>
      <p:sp>
        <p:nvSpPr>
          <p:cNvPr id="3" name="">
            <a:extLst xmlns:a="http://schemas.openxmlformats.org/drawingml/2006/main">
              <a:ext uri="{FF2B5EF4-FFF2-40B4-BE49-F238E27FC236}">
                <a16:creationId xmlns:a16="http://schemas.microsoft.com/office/drawing/2014/main" id="{0EA5ADD5-AC7D-437B-8FA7-2F272665493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97F04C9-FFA6-4F10-883B-79061D389F26}"/>
              </a:ext>
            </a:extLst>
          </p:cNvPr>
          <p:cNvSpPr>
            <a:spLocks xmlns:a="http://schemas.openxmlformats.org/drawingml/2006/main" noGrp="1"/>
          </p:cNvSpPr>
          <p:nvPr/>
        </p:nvSpPr>
        <p:spPr>
          <a:xfrm xmlns:a="http://schemas.openxmlformats.org/drawingml/2006/main">
            <a:off x="781050" y="1905000"/>
            <a:ext cx="3238500" cy="2571750"/>
          </a:xfrm>
          <a:prstGeom xmlns:a="http://schemas.openxmlformats.org/drawingml/2006/main" prst="roundRect">
            <a:avLst>
              <a:gd name="adj" fmla="val 2963"/>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C30A43CA-6FBF-4438-8783-F819BB917E15}"/>
              </a:ext>
            </a:extLst>
          </p:cNvPr>
          <p:cNvSpPr>
            <a:spLocks xmlns:a="http://schemas.openxmlformats.org/drawingml/2006/main" noGrp="1"/>
          </p:cNvSpPr>
          <p:nvPr/>
        </p:nvSpPr>
        <p:spPr>
          <a:xfrm xmlns:a="http://schemas.openxmlformats.org/drawingml/2006/main">
            <a:off x="781050" y="1905000"/>
            <a:ext cx="66675" cy="25717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784E47F-EC98-49A4-902C-D27F50CBE354}"/>
              </a:ext>
            </a:extLst>
          </p:cNvPr>
          <p:cNvSpPr>
            <a:spLocks xmlns:a="http://schemas.openxmlformats.org/drawingml/2006/main" noGrp="1"/>
          </p:cNvSpPr>
          <p:nvPr/>
        </p:nvSpPr>
        <p:spPr>
          <a:xfrm xmlns:a="http://schemas.openxmlformats.org/drawingml/2006/main">
            <a:off x="10096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Assist</a:t>
            </a:r>
          </a:p>
        </p:txBody>
      </p:sp>
      <p:sp>
        <p:nvSpPr>
          <p:cNvPr id="7" name="">
            <a:extLst xmlns:a="http://schemas.openxmlformats.org/drawingml/2006/main">
              <a:ext uri="{FF2B5EF4-FFF2-40B4-BE49-F238E27FC236}">
                <a16:creationId xmlns:a16="http://schemas.microsoft.com/office/drawing/2014/main" id="{EDE3B9FC-3149-49E7-96FB-67D0BD96208A}"/>
              </a:ext>
            </a:extLst>
          </p:cNvPr>
          <p:cNvSpPr>
            <a:spLocks xmlns:a="http://schemas.openxmlformats.org/drawingml/2006/main" noGrp="1"/>
          </p:cNvSpPr>
          <p:nvPr/>
        </p:nvSpPr>
        <p:spPr>
          <a:xfrm xmlns:a="http://schemas.openxmlformats.org/drawingml/2006/main">
            <a:off x="10096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Summarize a case or correlate evidence.</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Scoped read access. Evidence remains visible. No production action.</a:t>
            </a:r>
          </a:p>
        </p:txBody>
      </p:sp>
      <p:sp>
        <p:nvSpPr>
          <p:cNvPr id="8" name="">
            <a:extLst xmlns:a="http://schemas.openxmlformats.org/drawingml/2006/main">
              <a:ext uri="{FF2B5EF4-FFF2-40B4-BE49-F238E27FC236}">
                <a16:creationId xmlns:a16="http://schemas.microsoft.com/office/drawing/2014/main" id="{E3AE578A-41AF-42C6-82A3-207D3892FD01}"/>
              </a:ext>
            </a:extLst>
          </p:cNvPr>
          <p:cNvSpPr>
            <a:spLocks xmlns:a="http://schemas.openxmlformats.org/drawingml/2006/main" noGrp="1"/>
          </p:cNvSpPr>
          <p:nvPr/>
        </p:nvSpPr>
        <p:spPr>
          <a:xfrm xmlns:a="http://schemas.openxmlformats.org/drawingml/2006/main">
            <a:off x="4476750" y="1905000"/>
            <a:ext cx="323850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FE2F6423-5DCC-4786-A5F4-6EA5137319FA}"/>
              </a:ext>
            </a:extLst>
          </p:cNvPr>
          <p:cNvSpPr>
            <a:spLocks xmlns:a="http://schemas.openxmlformats.org/drawingml/2006/main" noGrp="1"/>
          </p:cNvSpPr>
          <p:nvPr/>
        </p:nvSpPr>
        <p:spPr>
          <a:xfrm xmlns:a="http://schemas.openxmlformats.org/drawingml/2006/main">
            <a:off x="4476750" y="1905000"/>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57F30E3-4F82-4FC3-A51F-420504F5F866}"/>
              </a:ext>
            </a:extLst>
          </p:cNvPr>
          <p:cNvSpPr>
            <a:spLocks xmlns:a="http://schemas.openxmlformats.org/drawingml/2006/main" noGrp="1"/>
          </p:cNvSpPr>
          <p:nvPr/>
        </p:nvSpPr>
        <p:spPr>
          <a:xfrm xmlns:a="http://schemas.openxmlformats.org/drawingml/2006/main">
            <a:off x="47053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Recommend</a:t>
            </a:r>
          </a:p>
        </p:txBody>
      </p:sp>
      <p:sp>
        <p:nvSpPr>
          <p:cNvPr id="11" name="">
            <a:extLst xmlns:a="http://schemas.openxmlformats.org/drawingml/2006/main">
              <a:ext uri="{FF2B5EF4-FFF2-40B4-BE49-F238E27FC236}">
                <a16:creationId xmlns:a16="http://schemas.microsoft.com/office/drawing/2014/main" id="{6A22B639-6A92-46BA-8E3A-D9108B91D1A1}"/>
              </a:ext>
            </a:extLst>
          </p:cNvPr>
          <p:cNvSpPr>
            <a:spLocks xmlns:a="http://schemas.openxmlformats.org/drawingml/2006/main" noGrp="1"/>
          </p:cNvSpPr>
          <p:nvPr/>
        </p:nvSpPr>
        <p:spPr>
          <a:xfrm xmlns:a="http://schemas.openxmlformats.org/drawingml/2006/main">
            <a:off x="47053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Propose a containment or remediation step.</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Show evidence, affected assets, consequence and uncertainty for review.</a:t>
            </a:r>
          </a:p>
        </p:txBody>
      </p:sp>
      <p:sp>
        <p:nvSpPr>
          <p:cNvPr id="12" name="">
            <a:extLst xmlns:a="http://schemas.openxmlformats.org/drawingml/2006/main">
              <a:ext uri="{FF2B5EF4-FFF2-40B4-BE49-F238E27FC236}">
                <a16:creationId xmlns:a16="http://schemas.microsoft.com/office/drawing/2014/main" id="{C2096C39-71DE-49A7-AB27-C43502DBC99B}"/>
              </a:ext>
            </a:extLst>
          </p:cNvPr>
          <p:cNvSpPr>
            <a:spLocks xmlns:a="http://schemas.openxmlformats.org/drawingml/2006/main" noGrp="1"/>
          </p:cNvSpPr>
          <p:nvPr/>
        </p:nvSpPr>
        <p:spPr>
          <a:xfrm xmlns:a="http://schemas.openxmlformats.org/drawingml/2006/main">
            <a:off x="8172450" y="1905000"/>
            <a:ext cx="323850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7158D863-AEF6-4C62-BB15-82C4E685C026}"/>
              </a:ext>
            </a:extLst>
          </p:cNvPr>
          <p:cNvSpPr>
            <a:spLocks xmlns:a="http://schemas.openxmlformats.org/drawingml/2006/main" noGrp="1"/>
          </p:cNvSpPr>
          <p:nvPr/>
        </p:nvSpPr>
        <p:spPr>
          <a:xfrm xmlns:a="http://schemas.openxmlformats.org/drawingml/2006/main">
            <a:off x="8172450" y="1905000"/>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B6256EC-41AB-4931-B75A-7DF52DA81374}"/>
              </a:ext>
            </a:extLst>
          </p:cNvPr>
          <p:cNvSpPr>
            <a:spLocks xmlns:a="http://schemas.openxmlformats.org/drawingml/2006/main" noGrp="1"/>
          </p:cNvSpPr>
          <p:nvPr/>
        </p:nvSpPr>
        <p:spPr>
          <a:xfrm xmlns:a="http://schemas.openxmlformats.org/drawingml/2006/main">
            <a:off x="84010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Act within limits</a:t>
            </a:r>
          </a:p>
        </p:txBody>
      </p:sp>
      <p:sp>
        <p:nvSpPr>
          <p:cNvPr id="15" name="">
            <a:extLst xmlns:a="http://schemas.openxmlformats.org/drawingml/2006/main">
              <a:ext uri="{FF2B5EF4-FFF2-40B4-BE49-F238E27FC236}">
                <a16:creationId xmlns:a16="http://schemas.microsoft.com/office/drawing/2014/main" id="{95DD034C-4E8F-4A17-8303-7F9962CD4E0D}"/>
              </a:ext>
            </a:extLst>
          </p:cNvPr>
          <p:cNvSpPr>
            <a:spLocks xmlns:a="http://schemas.openxmlformats.org/drawingml/2006/main" noGrp="1"/>
          </p:cNvSpPr>
          <p:nvPr/>
        </p:nvSpPr>
        <p:spPr>
          <a:xfrm xmlns:a="http://schemas.openxmlformats.org/drawingml/2006/main">
            <a:off x="84010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Execute a tested response inside an authorized procedure.</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Enforce target, scope and limits; verify result; allow intervention.</a:t>
            </a:r>
          </a:p>
        </p:txBody>
      </p:sp>
      <p:sp>
        <p:nvSpPr>
          <p:cNvPr id="16" name="">
            <a:extLst xmlns:a="http://schemas.openxmlformats.org/drawingml/2006/main">
              <a:ext uri="{FF2B5EF4-FFF2-40B4-BE49-F238E27FC236}">
                <a16:creationId xmlns:a16="http://schemas.microsoft.com/office/drawing/2014/main" id="{2775E93E-27CA-4042-BC40-AA9B21C174D1}"/>
              </a:ext>
            </a:extLst>
          </p:cNvPr>
          <p:cNvSpPr>
            <a:spLocks xmlns:a="http://schemas.openxmlformats.org/drawingml/2006/main" noGrp="1"/>
          </p:cNvSpPr>
          <p:nvPr/>
        </p:nvSpPr>
        <p:spPr>
          <a:xfrm xmlns:a="http://schemas.openxmlformats.org/drawingml/2006/main">
            <a:off x="876300" y="5124450"/>
            <a:ext cx="819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These are operating choices for a use case. They are not a maturity ladder.</a:t>
            </a:r>
          </a:p>
        </p:txBody>
      </p:sp>
      <p:sp>
        <p:nvSpPr>
          <p:cNvPr id="17" name="">
            <a:extLst xmlns:a="http://schemas.openxmlformats.org/drawingml/2006/main">
              <a:ext uri="{FF2B5EF4-FFF2-40B4-BE49-F238E27FC236}">
                <a16:creationId xmlns:a16="http://schemas.microsoft.com/office/drawing/2014/main" id="{6D37F6C9-23F6-4AE9-A96F-5530439E1D7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6F72CF4B-2F2A-407C-ADEF-C83C21FB486D}"/>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22</a:t>
            </a:r>
          </a:p>
        </p:txBody>
      </p:sp>
    </p:spTree>
    <p:extLst>
      <p:ext uri="{BB962C8B-B14F-4D97-AF65-F5344CB8AC3E}">
        <p14:creationId xmlns:p14="http://schemas.microsoft.com/office/powerpoint/2010/main" val="31053132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284080C-E8C9-4A99-9035-2D68F385922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147E57DA-0F57-452C-ABBD-93F1EB27F1F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Verification, recovery and uncertainty</a:t>
            </a:r>
          </a:p>
        </p:txBody>
      </p:sp>
      <p:sp>
        <p:nvSpPr>
          <p:cNvPr id="3" name="">
            <a:extLst xmlns:a="http://schemas.openxmlformats.org/drawingml/2006/main">
              <a:ext uri="{FF2B5EF4-FFF2-40B4-BE49-F238E27FC236}">
                <a16:creationId xmlns:a16="http://schemas.microsoft.com/office/drawing/2014/main" id="{41F17E79-0F09-4E84-8E00-8017E52AD21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033C06-08D6-4A20-86C8-5BBE22ACA081}"/>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464C2306-9A7C-45DA-8CCD-32172E06FB0D}"/>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Execution response</a:t>
            </a:r>
          </a:p>
        </p:txBody>
      </p:sp>
      <p:sp>
        <p:nvSpPr>
          <p:cNvPr id="6" name="">
            <a:extLst xmlns:a="http://schemas.openxmlformats.org/drawingml/2006/main">
              <a:ext uri="{FF2B5EF4-FFF2-40B4-BE49-F238E27FC236}">
                <a16:creationId xmlns:a16="http://schemas.microsoft.com/office/drawing/2014/main" id="{6901600E-DB00-4590-A18B-F543EDA65579}"/>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adapter reports what it attempted and received.</a:t>
            </a:r>
          </a:p>
        </p:txBody>
      </p:sp>
      <p:sp>
        <p:nvSpPr>
          <p:cNvPr id="7" name="">
            <a:extLst xmlns:a="http://schemas.openxmlformats.org/drawingml/2006/main">
              <a:ext uri="{FF2B5EF4-FFF2-40B4-BE49-F238E27FC236}">
                <a16:creationId xmlns:a16="http://schemas.microsoft.com/office/drawing/2014/main" id="{5E709904-0D7D-4A50-84AB-CF8F323EF718}"/>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26AA9777-2B81-4287-9079-C6B6DA371B5A}"/>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F9CC9613-108F-4E71-8493-73686A3B0E55}"/>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Destination evidence</a:t>
            </a:r>
          </a:p>
        </p:txBody>
      </p:sp>
      <p:sp>
        <p:nvSpPr>
          <p:cNvPr id="10" name="">
            <a:extLst xmlns:a="http://schemas.openxmlformats.org/drawingml/2006/main">
              <a:ext uri="{FF2B5EF4-FFF2-40B4-BE49-F238E27FC236}">
                <a16:creationId xmlns:a16="http://schemas.microsoft.com/office/drawing/2014/main" id="{A3DD23F7-370D-40CA-BF61-AB5A65ABAADE}"/>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receiving system and service health show actual state.</a:t>
            </a:r>
          </a:p>
        </p:txBody>
      </p:sp>
      <p:sp>
        <p:nvSpPr>
          <p:cNvPr id="11" name="">
            <a:extLst xmlns:a="http://schemas.openxmlformats.org/drawingml/2006/main">
              <a:ext uri="{FF2B5EF4-FFF2-40B4-BE49-F238E27FC236}">
                <a16:creationId xmlns:a16="http://schemas.microsoft.com/office/drawing/2014/main" id="{16D501D8-858C-4853-8FBB-D87836DF1B68}"/>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E9BBB58D-EBD0-41E1-824F-2B5DAF113AF0}"/>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D045674B-485D-4A66-9E90-0EDB3F4B7B3A}"/>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Uncertain outcome</a:t>
            </a:r>
          </a:p>
        </p:txBody>
      </p:sp>
      <p:sp>
        <p:nvSpPr>
          <p:cNvPr id="14" name="">
            <a:extLst xmlns:a="http://schemas.openxmlformats.org/drawingml/2006/main">
              <a:ext uri="{FF2B5EF4-FFF2-40B4-BE49-F238E27FC236}">
                <a16:creationId xmlns:a16="http://schemas.microsoft.com/office/drawing/2014/main" id="{C4DEEB8E-4C51-4CF0-91A9-8A8E2DBC742A}"/>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Conflicting or missing evidence keeps the case open for escalation.</a:t>
            </a:r>
          </a:p>
        </p:txBody>
      </p:sp>
      <p:sp>
        <p:nvSpPr>
          <p:cNvPr id="15" name="">
            <a:extLst xmlns:a="http://schemas.openxmlformats.org/drawingml/2006/main">
              <a:ext uri="{FF2B5EF4-FFF2-40B4-BE49-F238E27FC236}">
                <a16:creationId xmlns:a16="http://schemas.microsoft.com/office/drawing/2014/main" id="{9929E866-8F50-46D0-B580-0C03E0E5FF89}"/>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D4BCA746-366E-48DD-BE86-75DF7F9300CA}"/>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755F33FE-E849-4D25-9CFA-E35474707D4A}"/>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Recovery decision</a:t>
            </a:r>
          </a:p>
        </p:txBody>
      </p:sp>
      <p:sp>
        <p:nvSpPr>
          <p:cNvPr id="18" name="">
            <a:extLst xmlns:a="http://schemas.openxmlformats.org/drawingml/2006/main">
              <a:ext uri="{FF2B5EF4-FFF2-40B4-BE49-F238E27FC236}">
                <a16:creationId xmlns:a16="http://schemas.microsoft.com/office/drawing/2014/main" id="{731921F4-489D-4410-8F62-BE307E19155B}"/>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An authorized path determines containment, rollback or service recovery.</a:t>
            </a:r>
          </a:p>
        </p:txBody>
      </p:sp>
      <p:sp>
        <p:nvSpPr>
          <p:cNvPr id="19" name="">
            <a:extLst xmlns:a="http://schemas.openxmlformats.org/drawingml/2006/main">
              <a:ext uri="{FF2B5EF4-FFF2-40B4-BE49-F238E27FC236}">
                <a16:creationId xmlns:a16="http://schemas.microsoft.com/office/drawing/2014/main" id="{88DA8FE8-E1CC-461C-B6A3-7D3547099F7A}"/>
              </a:ext>
            </a:extLst>
          </p:cNvPr>
          <p:cNvSpPr>
            <a:spLocks xmlns:a="http://schemas.openxmlformats.org/drawingml/2006/main" noGrp="1"/>
          </p:cNvSpPr>
          <p:nvPr/>
        </p:nvSpPr>
        <p:spPr>
          <a:xfrm xmlns:a="http://schemas.openxmlformats.org/drawingml/2006/main">
            <a:off x="876300" y="47910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E3C35"/>
                </a:solidFill>
                <a:latin typeface="DejaVu Sans"/>
                <a:ea typeface="DejaVu Sans"/>
                <a:cs typeface="DejaVu Sans"/>
              </a:defRPr>
            </a:pPr>
            <a:r>
              <a:rPr sz="1350" b="1">
                <a:solidFill>
                  <a:srgbClr val="9E3C35"/>
                </a:solidFill>
                <a:latin typeface="DejaVu Sans"/>
                <a:ea typeface="DejaVu Sans"/>
                <a:cs typeface="DejaVu Sans"/>
              </a:rPr>
              <a:t>Open review finding: recovery and rollback need an explicit authorization path. Execution also needs an accountable identity and delegation model.</a:t>
            </a:r>
          </a:p>
        </p:txBody>
      </p:sp>
      <p:sp>
        <p:nvSpPr>
          <p:cNvPr id="20" name="">
            <a:extLst xmlns:a="http://schemas.openxmlformats.org/drawingml/2006/main">
              <a:ext uri="{FF2B5EF4-FFF2-40B4-BE49-F238E27FC236}">
                <a16:creationId xmlns:a16="http://schemas.microsoft.com/office/drawing/2014/main" id="{0682A35A-9185-4A6C-92DA-55A9CCC1708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EBA215B1-0A3D-40A4-9E1A-76B57D05DB35}"/>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23</a:t>
            </a:r>
          </a:p>
        </p:txBody>
      </p:sp>
    </p:spTree>
    <p:extLst>
      <p:ext uri="{BB962C8B-B14F-4D97-AF65-F5344CB8AC3E}">
        <p14:creationId xmlns:p14="http://schemas.microsoft.com/office/powerpoint/2010/main" val="26133886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50BD4C1-891D-47A9-9731-1941B30CB7B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E5648D41-1345-4068-8DAE-B36BB2E7D59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Shared interfaces across the three views</a:t>
            </a:r>
          </a:p>
        </p:txBody>
      </p:sp>
      <p:sp>
        <p:nvSpPr>
          <p:cNvPr id="3" name="">
            <a:extLst xmlns:a="http://schemas.openxmlformats.org/drawingml/2006/main">
              <a:ext uri="{FF2B5EF4-FFF2-40B4-BE49-F238E27FC236}">
                <a16:creationId xmlns:a16="http://schemas.microsoft.com/office/drawing/2014/main" id="{E4ED30CF-667D-49ED-8C62-A940AFA50CA6}"/>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635E2B-9A69-4315-9185-BA03BCCF21A0}"/>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5" name="">
            <a:extLst xmlns:a="http://schemas.openxmlformats.org/drawingml/2006/main">
              <a:ext uri="{FF2B5EF4-FFF2-40B4-BE49-F238E27FC236}">
                <a16:creationId xmlns:a16="http://schemas.microsoft.com/office/drawing/2014/main" id="{97787FAE-C457-48BE-9B8E-EB062CB76785}"/>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Authority</a:t>
            </a:r>
          </a:p>
        </p:txBody>
      </p:sp>
      <p:sp>
        <p:nvSpPr>
          <p:cNvPr id="6" name="">
            <a:extLst xmlns:a="http://schemas.openxmlformats.org/drawingml/2006/main">
              <a:ext uri="{FF2B5EF4-FFF2-40B4-BE49-F238E27FC236}">
                <a16:creationId xmlns:a16="http://schemas.microsoft.com/office/drawing/2014/main" id="{31398CB6-D3C9-48E7-A590-4B1702F150FF}"/>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may permit a specific action, exception or recovery step?</a:t>
            </a:r>
          </a:p>
        </p:txBody>
      </p:sp>
      <p:sp>
        <p:nvSpPr>
          <p:cNvPr id="7" name="">
            <a:extLst xmlns:a="http://schemas.openxmlformats.org/drawingml/2006/main">
              <a:ext uri="{FF2B5EF4-FFF2-40B4-BE49-F238E27FC236}">
                <a16:creationId xmlns:a16="http://schemas.microsoft.com/office/drawing/2014/main" id="{7EC89435-0F99-470C-9D45-532F092AA39C}"/>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55C2ACD0-398B-493C-B81B-5CD7A2DAA098}"/>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860996C5-5B9A-48FB-A2D2-77FCC8590DC1}"/>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Identity</a:t>
            </a:r>
          </a:p>
        </p:txBody>
      </p:sp>
      <p:sp>
        <p:nvSpPr>
          <p:cNvPr id="10" name="">
            <a:extLst xmlns:a="http://schemas.openxmlformats.org/drawingml/2006/main">
              <a:ext uri="{FF2B5EF4-FFF2-40B4-BE49-F238E27FC236}">
                <a16:creationId xmlns:a16="http://schemas.microsoft.com/office/drawing/2014/main" id="{1195157E-742D-486D-9726-98F8C0C7BD50}"/>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human, workload or delegated identity acts, and within what scope?</a:t>
            </a:r>
          </a:p>
        </p:txBody>
      </p:sp>
      <p:sp>
        <p:nvSpPr>
          <p:cNvPr id="11" name="">
            <a:extLst xmlns:a="http://schemas.openxmlformats.org/drawingml/2006/main">
              <a:ext uri="{FF2B5EF4-FFF2-40B4-BE49-F238E27FC236}">
                <a16:creationId xmlns:a16="http://schemas.microsoft.com/office/drawing/2014/main" id="{92ABF9C6-46C5-4425-8440-3BB77FC3FBCB}"/>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FD47FE75-8279-4252-8CC6-2D165C347BB4}"/>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1FDBBC61-F3C3-488E-8C24-2DCF1A39506C}"/>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Evidence</a:t>
            </a:r>
          </a:p>
        </p:txBody>
      </p:sp>
      <p:sp>
        <p:nvSpPr>
          <p:cNvPr id="14" name="">
            <a:extLst xmlns:a="http://schemas.openxmlformats.org/drawingml/2006/main">
              <a:ext uri="{FF2B5EF4-FFF2-40B4-BE49-F238E27FC236}">
                <a16:creationId xmlns:a16="http://schemas.microsoft.com/office/drawing/2014/main" id="{3CE791B6-FFD1-4537-869B-487ECB000154}"/>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source records show a decision, attempt, effect and recovery outcome?</a:t>
            </a:r>
          </a:p>
        </p:txBody>
      </p:sp>
      <p:sp>
        <p:nvSpPr>
          <p:cNvPr id="15" name="">
            <a:extLst xmlns:a="http://schemas.openxmlformats.org/drawingml/2006/main">
              <a:ext uri="{FF2B5EF4-FFF2-40B4-BE49-F238E27FC236}">
                <a16:creationId xmlns:a16="http://schemas.microsoft.com/office/drawing/2014/main" id="{CE166F37-F764-4F57-B8B1-DAD9F5966E88}"/>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14528E1F-2A68-4394-A59A-3FBC61B24B51}"/>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31F9A5AA-27D0-4C8C-8D79-A5BEC6682317}"/>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Recovery</a:t>
            </a:r>
          </a:p>
        </p:txBody>
      </p:sp>
      <p:sp>
        <p:nvSpPr>
          <p:cNvPr id="18" name="">
            <a:extLst xmlns:a="http://schemas.openxmlformats.org/drawingml/2006/main">
              <a:ext uri="{FF2B5EF4-FFF2-40B4-BE49-F238E27FC236}">
                <a16:creationId xmlns:a16="http://schemas.microsoft.com/office/drawing/2014/main" id="{AF6F169D-6780-460A-A3A3-97A879577015}"/>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can stop, contain and restore when normal controls fail?</a:t>
            </a:r>
          </a:p>
        </p:txBody>
      </p:sp>
      <p:sp>
        <p:nvSpPr>
          <p:cNvPr id="19" name="">
            <a:extLst xmlns:a="http://schemas.openxmlformats.org/drawingml/2006/main">
              <a:ext uri="{FF2B5EF4-FFF2-40B4-BE49-F238E27FC236}">
                <a16:creationId xmlns:a16="http://schemas.microsoft.com/office/drawing/2014/main" id="{BCD0E147-81EA-4D43-BA01-DFF4A221C90B}"/>
              </a:ext>
            </a:extLst>
          </p:cNvPr>
          <p:cNvSpPr>
            <a:spLocks xmlns:a="http://schemas.openxmlformats.org/drawingml/2006/main" noGrp="1"/>
          </p:cNvSpPr>
          <p:nvPr/>
        </p:nvSpPr>
        <p:spPr>
          <a:xfrm xmlns:a="http://schemas.openxmlformats.org/drawingml/2006/main">
            <a:off x="876300" y="4733925"/>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The same event can appear in every view. One implementation owner and clear interfaces avoid duplicated or conflicting controls.</a:t>
            </a:r>
          </a:p>
        </p:txBody>
      </p:sp>
      <p:sp>
        <p:nvSpPr>
          <p:cNvPr id="20" name="">
            <a:extLst xmlns:a="http://schemas.openxmlformats.org/drawingml/2006/main">
              <a:ext uri="{FF2B5EF4-FFF2-40B4-BE49-F238E27FC236}">
                <a16:creationId xmlns:a16="http://schemas.microsoft.com/office/drawing/2014/main" id="{933F7D1E-BE46-4E3E-AAD1-CA2961C2C30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46BFB39B-F90E-4B2E-9D03-C861A1AEF0C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24</a:t>
            </a:r>
          </a:p>
        </p:txBody>
      </p:sp>
    </p:spTree>
    <p:extLst>
      <p:ext uri="{BB962C8B-B14F-4D97-AF65-F5344CB8AC3E}">
        <p14:creationId xmlns:p14="http://schemas.microsoft.com/office/powerpoint/2010/main" val="27271580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BAFC14A-E906-4DB5-AA12-661E2BE53D38}"/>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259457A-5DE7-4768-8D35-11B9E50260E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Action and approval contract</a:t>
            </a:r>
          </a:p>
        </p:txBody>
      </p:sp>
      <p:sp>
        <p:nvSpPr>
          <p:cNvPr id="3" name="">
            <a:extLst xmlns:a="http://schemas.openxmlformats.org/drawingml/2006/main">
              <a:ext uri="{FF2B5EF4-FFF2-40B4-BE49-F238E27FC236}">
                <a16:creationId xmlns:a16="http://schemas.microsoft.com/office/drawing/2014/main" id="{444FA3C7-0288-495B-85D1-5A7AEBA40D96}"/>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C3CB57-EFD7-478A-8F9B-68C5AD7FB0D9}"/>
              </a:ext>
            </a:extLst>
          </p:cNvPr>
          <p:cNvSpPr>
            <a:spLocks xmlns:a="http://schemas.openxmlformats.org/drawingml/2006/main" noGrp="1"/>
          </p:cNvSpPr>
          <p:nvPr/>
        </p:nvSpPr>
        <p:spPr>
          <a:xfrm xmlns:a="http://schemas.openxmlformats.org/drawingml/2006/main">
            <a:off x="933450" y="18859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Action request</a:t>
            </a:r>
          </a:p>
        </p:txBody>
      </p:sp>
      <p:sp>
        <p:nvSpPr>
          <p:cNvPr id="5" name="">
            <a:extLst xmlns:a="http://schemas.openxmlformats.org/drawingml/2006/main">
              <a:ext uri="{FF2B5EF4-FFF2-40B4-BE49-F238E27FC236}">
                <a16:creationId xmlns:a16="http://schemas.microsoft.com/office/drawing/2014/main" id="{5FBEC710-F991-4903-BF51-BC37E9517424}"/>
              </a:ext>
            </a:extLst>
          </p:cNvPr>
          <p:cNvSpPr>
            <a:spLocks xmlns:a="http://schemas.openxmlformats.org/drawingml/2006/main" noGrp="1"/>
          </p:cNvSpPr>
          <p:nvPr/>
        </p:nvSpPr>
        <p:spPr>
          <a:xfrm xmlns:a="http://schemas.openxmlformats.org/drawingml/2006/main">
            <a:off x="3695700" y="18669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operation, target, material parameters, intended effect, task and evidence support this request?</a:t>
            </a:r>
          </a:p>
        </p:txBody>
      </p:sp>
      <p:sp>
        <p:nvSpPr>
          <p:cNvPr id="6" name="">
            <a:extLst xmlns:a="http://schemas.openxmlformats.org/drawingml/2006/main">
              <a:ext uri="{FF2B5EF4-FFF2-40B4-BE49-F238E27FC236}">
                <a16:creationId xmlns:a16="http://schemas.microsoft.com/office/drawing/2014/main" id="{57FD18EB-CA70-4743-A0F2-B07ED4A998D9}"/>
              </a:ext>
            </a:extLst>
          </p:cNvPr>
          <p:cNvSpPr>
            <a:spLocks xmlns:a="http://schemas.openxmlformats.org/drawingml/2006/main" noGrp="1"/>
          </p:cNvSpPr>
          <p:nvPr/>
        </p:nvSpPr>
        <p:spPr>
          <a:xfrm xmlns:a="http://schemas.openxmlformats.org/drawingml/2006/main">
            <a:off x="933450" y="23526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BD8F2C-A65F-48D6-8E9D-58A133D2312E}"/>
              </a:ext>
            </a:extLst>
          </p:cNvPr>
          <p:cNvSpPr>
            <a:spLocks xmlns:a="http://schemas.openxmlformats.org/drawingml/2006/main" noGrp="1"/>
          </p:cNvSpPr>
          <p:nvPr/>
        </p:nvSpPr>
        <p:spPr>
          <a:xfrm xmlns:a="http://schemas.openxmlformats.org/drawingml/2006/main">
            <a:off x="933450" y="27432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Decision</a:t>
            </a:r>
          </a:p>
        </p:txBody>
      </p:sp>
      <p:sp>
        <p:nvSpPr>
          <p:cNvPr id="8" name="">
            <a:extLst xmlns:a="http://schemas.openxmlformats.org/drawingml/2006/main">
              <a:ext uri="{FF2B5EF4-FFF2-40B4-BE49-F238E27FC236}">
                <a16:creationId xmlns:a16="http://schemas.microsoft.com/office/drawing/2014/main" id="{5C98E92B-96A4-4179-89DD-3AA9D5184216}"/>
              </a:ext>
            </a:extLst>
          </p:cNvPr>
          <p:cNvSpPr>
            <a:spLocks xmlns:a="http://schemas.openxmlformats.org/drawingml/2006/main" noGrp="1"/>
          </p:cNvSpPr>
          <p:nvPr/>
        </p:nvSpPr>
        <p:spPr>
          <a:xfrm xmlns:a="http://schemas.openxmlformats.org/drawingml/2006/main">
            <a:off x="3695700" y="27241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policy version, decision owner, validity conditions and disposition apply?</a:t>
            </a:r>
          </a:p>
        </p:txBody>
      </p:sp>
      <p:sp>
        <p:nvSpPr>
          <p:cNvPr id="9" name="">
            <a:extLst xmlns:a="http://schemas.openxmlformats.org/drawingml/2006/main">
              <a:ext uri="{FF2B5EF4-FFF2-40B4-BE49-F238E27FC236}">
                <a16:creationId xmlns:a16="http://schemas.microsoft.com/office/drawing/2014/main" id="{5FCEDB9A-1F64-4878-8F3D-169906BDC111}"/>
              </a:ext>
            </a:extLst>
          </p:cNvPr>
          <p:cNvSpPr>
            <a:spLocks xmlns:a="http://schemas.openxmlformats.org/drawingml/2006/main" noGrp="1"/>
          </p:cNvSpPr>
          <p:nvPr/>
        </p:nvSpPr>
        <p:spPr>
          <a:xfrm xmlns:a="http://schemas.openxmlformats.org/drawingml/2006/main">
            <a:off x="933450" y="32099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AC372E-EE65-43E7-86AE-982529F66BAE}"/>
              </a:ext>
            </a:extLst>
          </p:cNvPr>
          <p:cNvSpPr>
            <a:spLocks xmlns:a="http://schemas.openxmlformats.org/drawingml/2006/main" noGrp="1"/>
          </p:cNvSpPr>
          <p:nvPr/>
        </p:nvSpPr>
        <p:spPr>
          <a:xfrm xmlns:a="http://schemas.openxmlformats.org/drawingml/2006/main">
            <a:off x="933450" y="36004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Approval binding</a:t>
            </a:r>
          </a:p>
        </p:txBody>
      </p:sp>
      <p:sp>
        <p:nvSpPr>
          <p:cNvPr id="11" name="">
            <a:extLst xmlns:a="http://schemas.openxmlformats.org/drawingml/2006/main">
              <a:ext uri="{FF2B5EF4-FFF2-40B4-BE49-F238E27FC236}">
                <a16:creationId xmlns:a16="http://schemas.microsoft.com/office/drawing/2014/main" id="{789B94E3-F8D9-4C90-B038-D2E7ACBA8FF2}"/>
              </a:ext>
            </a:extLst>
          </p:cNvPr>
          <p:cNvSpPr>
            <a:spLocks xmlns:a="http://schemas.openxmlformats.org/drawingml/2006/main" noGrp="1"/>
          </p:cNvSpPr>
          <p:nvPr/>
        </p:nvSpPr>
        <p:spPr>
          <a:xfrm xmlns:a="http://schemas.openxmlformats.org/drawingml/2006/main">
            <a:off x="3695700" y="35814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Can a changed target, amount or destination reuse the approval? It should not.</a:t>
            </a:r>
          </a:p>
        </p:txBody>
      </p:sp>
      <p:sp>
        <p:nvSpPr>
          <p:cNvPr id="12" name="">
            <a:extLst xmlns:a="http://schemas.openxmlformats.org/drawingml/2006/main">
              <a:ext uri="{FF2B5EF4-FFF2-40B4-BE49-F238E27FC236}">
                <a16:creationId xmlns:a16="http://schemas.microsoft.com/office/drawing/2014/main" id="{15947346-D263-4E75-BA9A-6F7D3B1703E1}"/>
              </a:ext>
            </a:extLst>
          </p:cNvPr>
          <p:cNvSpPr>
            <a:spLocks xmlns:a="http://schemas.openxmlformats.org/drawingml/2006/main" noGrp="1"/>
          </p:cNvSpPr>
          <p:nvPr/>
        </p:nvSpPr>
        <p:spPr>
          <a:xfrm xmlns:a="http://schemas.openxmlformats.org/drawingml/2006/main">
            <a:off x="933450" y="40671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79B83D-CAD8-4D56-A4CE-B74CCA63928D}"/>
              </a:ext>
            </a:extLst>
          </p:cNvPr>
          <p:cNvSpPr>
            <a:spLocks xmlns:a="http://schemas.openxmlformats.org/drawingml/2006/main" noGrp="1"/>
          </p:cNvSpPr>
          <p:nvPr/>
        </p:nvSpPr>
        <p:spPr>
          <a:xfrm xmlns:a="http://schemas.openxmlformats.org/drawingml/2006/main">
            <a:off x="933450" y="4457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2324A"/>
                </a:solidFill>
                <a:latin typeface="DejaVu Sans"/>
                <a:ea typeface="DejaVu Sans"/>
                <a:cs typeface="DejaVu Sans"/>
              </a:defRPr>
            </a:pPr>
            <a:r>
              <a:rPr sz="1125" b="1">
                <a:solidFill>
                  <a:srgbClr val="12324A"/>
                </a:solidFill>
                <a:latin typeface="DejaVu Sans"/>
                <a:ea typeface="DejaVu Sans"/>
                <a:cs typeface="DejaVu Sans"/>
              </a:rPr>
              <a:t>Execution result</a:t>
            </a:r>
          </a:p>
        </p:txBody>
      </p:sp>
      <p:sp>
        <p:nvSpPr>
          <p:cNvPr id="14" name="">
            <a:extLst xmlns:a="http://schemas.openxmlformats.org/drawingml/2006/main">
              <a:ext uri="{FF2B5EF4-FFF2-40B4-BE49-F238E27FC236}">
                <a16:creationId xmlns:a16="http://schemas.microsoft.com/office/drawing/2014/main" id="{8ED7C8D9-C1FA-4916-AF54-4360ED46A267}"/>
              </a:ext>
            </a:extLst>
          </p:cNvPr>
          <p:cNvSpPr>
            <a:spLocks xmlns:a="http://schemas.openxmlformats.org/drawingml/2006/main" noGrp="1"/>
          </p:cNvSpPr>
          <p:nvPr/>
        </p:nvSpPr>
        <p:spPr>
          <a:xfrm xmlns:a="http://schemas.openxmlformats.org/drawingml/2006/main">
            <a:off x="3695700" y="44386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destination identifier and reconciliation status show what happened?</a:t>
            </a:r>
          </a:p>
        </p:txBody>
      </p:sp>
      <p:sp>
        <p:nvSpPr>
          <p:cNvPr id="15" name="">
            <a:extLst xmlns:a="http://schemas.openxmlformats.org/drawingml/2006/main">
              <a:ext uri="{FF2B5EF4-FFF2-40B4-BE49-F238E27FC236}">
                <a16:creationId xmlns:a16="http://schemas.microsoft.com/office/drawing/2014/main" id="{9C92C368-8D40-4B9B-8F32-C864AE2ACC60}"/>
              </a:ext>
            </a:extLst>
          </p:cNvPr>
          <p:cNvSpPr>
            <a:spLocks xmlns:a="http://schemas.openxmlformats.org/drawingml/2006/main" noGrp="1"/>
          </p:cNvSpPr>
          <p:nvPr/>
        </p:nvSpPr>
        <p:spPr>
          <a:xfrm xmlns:a="http://schemas.openxmlformats.org/drawingml/2006/main">
            <a:off x="933450" y="49244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516FA76-A0C9-4549-BAB4-25159B86DA5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AB9D78BD-63AA-45EA-80A8-8D72D3A9FE8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25</a:t>
            </a:r>
          </a:p>
        </p:txBody>
      </p:sp>
    </p:spTree>
    <p:extLst>
      <p:ext uri="{BB962C8B-B14F-4D97-AF65-F5344CB8AC3E}">
        <p14:creationId xmlns:p14="http://schemas.microsoft.com/office/powerpoint/2010/main" val="154349069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FEFD8A0-9729-41CE-AB28-737155C4082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17ECD36-00D1-41AE-A317-851496898237}"/>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Execution identity and delegation contract</a:t>
            </a:r>
          </a:p>
        </p:txBody>
      </p:sp>
      <p:sp>
        <p:nvSpPr>
          <p:cNvPr id="3" name="">
            <a:extLst xmlns:a="http://schemas.openxmlformats.org/drawingml/2006/main">
              <a:ext uri="{FF2B5EF4-FFF2-40B4-BE49-F238E27FC236}">
                <a16:creationId xmlns:a16="http://schemas.microsoft.com/office/drawing/2014/main" id="{8B26CC4E-24DF-47B5-B64C-52BA88B1F112}"/>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347F8A-62BF-426E-9E16-E678F45603DB}"/>
              </a:ext>
            </a:extLst>
          </p:cNvPr>
          <p:cNvSpPr>
            <a:spLocks xmlns:a="http://schemas.openxmlformats.org/drawingml/2006/main" noGrp="1"/>
          </p:cNvSpPr>
          <p:nvPr/>
        </p:nvSpPr>
        <p:spPr>
          <a:xfrm xmlns:a="http://schemas.openxmlformats.org/drawingml/2006/main">
            <a:off x="828675" y="2095500"/>
            <a:ext cx="314325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1DE266A5-E2DC-4176-AA0C-4AA2C3FAC5DF}"/>
              </a:ext>
            </a:extLst>
          </p:cNvPr>
          <p:cNvSpPr>
            <a:spLocks xmlns:a="http://schemas.openxmlformats.org/drawingml/2006/main" noGrp="1"/>
          </p:cNvSpPr>
          <p:nvPr/>
        </p:nvSpPr>
        <p:spPr>
          <a:xfrm xmlns:a="http://schemas.openxmlformats.org/drawingml/2006/main">
            <a:off x="828675" y="2095500"/>
            <a:ext cx="66675" cy="20002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E871098-B31A-406D-8B7F-88E74202C978}"/>
              </a:ext>
            </a:extLst>
          </p:cNvPr>
          <p:cNvSpPr>
            <a:spLocks xmlns:a="http://schemas.openxmlformats.org/drawingml/2006/main" noGrp="1"/>
          </p:cNvSpPr>
          <p:nvPr/>
        </p:nvSpPr>
        <p:spPr>
          <a:xfrm xmlns:a="http://schemas.openxmlformats.org/drawingml/2006/main">
            <a:off x="10572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Initiating identity</a:t>
            </a:r>
          </a:p>
        </p:txBody>
      </p:sp>
      <p:sp>
        <p:nvSpPr>
          <p:cNvPr id="7" name="">
            <a:extLst xmlns:a="http://schemas.openxmlformats.org/drawingml/2006/main">
              <a:ext uri="{FF2B5EF4-FFF2-40B4-BE49-F238E27FC236}">
                <a16:creationId xmlns:a16="http://schemas.microsoft.com/office/drawing/2014/main" id="{60CC9EBE-28BF-4286-BD88-0759FB70124E}"/>
              </a:ext>
            </a:extLst>
          </p:cNvPr>
          <p:cNvSpPr>
            <a:spLocks xmlns:a="http://schemas.openxmlformats.org/drawingml/2006/main" noGrp="1"/>
          </p:cNvSpPr>
          <p:nvPr/>
        </p:nvSpPr>
        <p:spPr>
          <a:xfrm xmlns:a="http://schemas.openxmlformats.org/drawingml/2006/main">
            <a:off x="10572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Who started the task, and what business purpose and account scope apply?</a:t>
            </a:r>
          </a:p>
        </p:txBody>
      </p:sp>
      <p:sp>
        <p:nvSpPr>
          <p:cNvPr id="8" name="">
            <a:extLst xmlns:a="http://schemas.openxmlformats.org/drawingml/2006/main">
              <a:ext uri="{FF2B5EF4-FFF2-40B4-BE49-F238E27FC236}">
                <a16:creationId xmlns:a16="http://schemas.microsoft.com/office/drawing/2014/main" id="{DD600448-07DB-404B-8017-F7F502004DEE}"/>
              </a:ext>
            </a:extLst>
          </p:cNvPr>
          <p:cNvSpPr>
            <a:spLocks xmlns:a="http://schemas.openxmlformats.org/drawingml/2006/main" noGrp="1"/>
          </p:cNvSpPr>
          <p:nvPr/>
        </p:nvSpPr>
        <p:spPr>
          <a:xfrm xmlns:a="http://schemas.openxmlformats.org/drawingml/2006/main">
            <a:off x="4524375" y="2095500"/>
            <a:ext cx="314325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072E01AE-CD05-4757-90F7-31C419D86FFD}"/>
              </a:ext>
            </a:extLst>
          </p:cNvPr>
          <p:cNvSpPr>
            <a:spLocks xmlns:a="http://schemas.openxmlformats.org/drawingml/2006/main" noGrp="1"/>
          </p:cNvSpPr>
          <p:nvPr/>
        </p:nvSpPr>
        <p:spPr>
          <a:xfrm xmlns:a="http://schemas.openxmlformats.org/drawingml/2006/main">
            <a:off x="4524375" y="2095500"/>
            <a:ext cx="66675" cy="20002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7ADFCDC-D895-427C-B3D0-E0688A8BCF7B}"/>
              </a:ext>
            </a:extLst>
          </p:cNvPr>
          <p:cNvSpPr>
            <a:spLocks xmlns:a="http://schemas.openxmlformats.org/drawingml/2006/main" noGrp="1"/>
          </p:cNvSpPr>
          <p:nvPr/>
        </p:nvSpPr>
        <p:spPr>
          <a:xfrm xmlns:a="http://schemas.openxmlformats.org/drawingml/2006/main">
            <a:off x="47529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Workflow identity</a:t>
            </a:r>
          </a:p>
        </p:txBody>
      </p:sp>
      <p:sp>
        <p:nvSpPr>
          <p:cNvPr id="11" name="">
            <a:extLst xmlns:a="http://schemas.openxmlformats.org/drawingml/2006/main">
              <a:ext uri="{FF2B5EF4-FFF2-40B4-BE49-F238E27FC236}">
                <a16:creationId xmlns:a16="http://schemas.microsoft.com/office/drawing/2014/main" id="{CEAF48C2-8E06-42F4-AF5A-279359EA3957}"/>
              </a:ext>
            </a:extLst>
          </p:cNvPr>
          <p:cNvSpPr>
            <a:spLocks xmlns:a="http://schemas.openxmlformats.org/drawingml/2006/main" noGrp="1"/>
          </p:cNvSpPr>
          <p:nvPr/>
        </p:nvSpPr>
        <p:spPr>
          <a:xfrm xmlns:a="http://schemas.openxmlformats.org/drawingml/2006/main">
            <a:off x="47529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Which non-human identity coordinates the permitted work, and what rights expire?</a:t>
            </a:r>
          </a:p>
        </p:txBody>
      </p:sp>
      <p:sp>
        <p:nvSpPr>
          <p:cNvPr id="12" name="">
            <a:extLst xmlns:a="http://schemas.openxmlformats.org/drawingml/2006/main">
              <a:ext uri="{FF2B5EF4-FFF2-40B4-BE49-F238E27FC236}">
                <a16:creationId xmlns:a16="http://schemas.microsoft.com/office/drawing/2014/main" id="{05CF9488-7B3A-4B59-A9CA-65E9E422D109}"/>
              </a:ext>
            </a:extLst>
          </p:cNvPr>
          <p:cNvSpPr>
            <a:spLocks xmlns:a="http://schemas.openxmlformats.org/drawingml/2006/main" noGrp="1"/>
          </p:cNvSpPr>
          <p:nvPr/>
        </p:nvSpPr>
        <p:spPr>
          <a:xfrm xmlns:a="http://schemas.openxmlformats.org/drawingml/2006/main">
            <a:off x="8220075" y="2095500"/>
            <a:ext cx="3143250"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AC30E63F-393A-4ADE-9C67-9F7F40978944}"/>
              </a:ext>
            </a:extLst>
          </p:cNvPr>
          <p:cNvSpPr>
            <a:spLocks xmlns:a="http://schemas.openxmlformats.org/drawingml/2006/main" noGrp="1"/>
          </p:cNvSpPr>
          <p:nvPr/>
        </p:nvSpPr>
        <p:spPr>
          <a:xfrm xmlns:a="http://schemas.openxmlformats.org/drawingml/2006/main">
            <a:off x="8220075" y="2095500"/>
            <a:ext cx="66675" cy="20002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E9F053F-8F80-4CF1-B61F-12308E37F7C6}"/>
              </a:ext>
            </a:extLst>
          </p:cNvPr>
          <p:cNvSpPr>
            <a:spLocks xmlns:a="http://schemas.openxmlformats.org/drawingml/2006/main" noGrp="1"/>
          </p:cNvSpPr>
          <p:nvPr/>
        </p:nvSpPr>
        <p:spPr>
          <a:xfrm xmlns:a="http://schemas.openxmlformats.org/drawingml/2006/main">
            <a:off x="84486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Destination identity</a:t>
            </a:r>
          </a:p>
        </p:txBody>
      </p:sp>
      <p:sp>
        <p:nvSpPr>
          <p:cNvPr id="15" name="">
            <a:extLst xmlns:a="http://schemas.openxmlformats.org/drawingml/2006/main">
              <a:ext uri="{FF2B5EF4-FFF2-40B4-BE49-F238E27FC236}">
                <a16:creationId xmlns:a16="http://schemas.microsoft.com/office/drawing/2014/main" id="{AA71B301-C26E-4180-B6D1-871FE2093960}"/>
              </a:ext>
            </a:extLst>
          </p:cNvPr>
          <p:cNvSpPr>
            <a:spLocks xmlns:a="http://schemas.openxmlformats.org/drawingml/2006/main" noGrp="1"/>
          </p:cNvSpPr>
          <p:nvPr/>
        </p:nvSpPr>
        <p:spPr>
          <a:xfrm xmlns:a="http://schemas.openxmlformats.org/drawingml/2006/main">
            <a:off x="84486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Which controlled identity executes the bounded call, and how does the destination verify it?</a:t>
            </a:r>
          </a:p>
        </p:txBody>
      </p:sp>
      <p:sp>
        <p:nvSpPr>
          <p:cNvPr id="16" name="">
            <a:extLst xmlns:a="http://schemas.openxmlformats.org/drawingml/2006/main">
              <a:ext uri="{FF2B5EF4-FFF2-40B4-BE49-F238E27FC236}">
                <a16:creationId xmlns:a16="http://schemas.microsoft.com/office/drawing/2014/main" id="{D6068126-1748-4479-8098-A379F4535FA9}"/>
              </a:ext>
            </a:extLst>
          </p:cNvPr>
          <p:cNvSpPr>
            <a:spLocks xmlns:a="http://schemas.openxmlformats.org/drawingml/2006/main" noGrp="1"/>
          </p:cNvSpPr>
          <p:nvPr/>
        </p:nvSpPr>
        <p:spPr>
          <a:xfrm xmlns:a="http://schemas.openxmlformats.org/drawingml/2006/main">
            <a:off x="885825" y="4876800"/>
            <a:ext cx="1009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9E3C35"/>
                </a:solidFill>
                <a:latin typeface="DejaVu Sans"/>
                <a:ea typeface="DejaVu Sans"/>
                <a:cs typeface="DejaVu Sans"/>
              </a:defRPr>
            </a:pPr>
            <a:r>
              <a:rPr sz="1425" b="1">
                <a:solidFill>
                  <a:srgbClr val="9E3C35"/>
                </a:solidFill>
                <a:latin typeface="DejaVu Sans"/>
                <a:ea typeface="DejaVu Sans"/>
                <a:cs typeface="DejaVu Sans"/>
              </a:rPr>
              <a:t>Open question: how does a delegated child workflow retain task attribution without exceeding the original authority?</a:t>
            </a:r>
          </a:p>
        </p:txBody>
      </p:sp>
      <p:sp>
        <p:nvSpPr>
          <p:cNvPr id="17" name="">
            <a:extLst xmlns:a="http://schemas.openxmlformats.org/drawingml/2006/main">
              <a:ext uri="{FF2B5EF4-FFF2-40B4-BE49-F238E27FC236}">
                <a16:creationId xmlns:a16="http://schemas.microsoft.com/office/drawing/2014/main" id="{7E60EF7E-7DE4-4847-A077-0121A592295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59D541DB-EDE8-47CB-9818-B62C57B2168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26</a:t>
            </a:r>
          </a:p>
        </p:txBody>
      </p:sp>
    </p:spTree>
    <p:extLst>
      <p:ext uri="{BB962C8B-B14F-4D97-AF65-F5344CB8AC3E}">
        <p14:creationId xmlns:p14="http://schemas.microsoft.com/office/powerpoint/2010/main" val="13034575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FBBC18A-C17D-41BB-B9B2-018ED3D3A4D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FB88BB6D-82BE-4CC6-92C3-E1FA692C325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and telemetry contract</a:t>
            </a:r>
          </a:p>
        </p:txBody>
      </p:sp>
      <p:sp>
        <p:nvSpPr>
          <p:cNvPr id="3" name="">
            <a:extLst xmlns:a="http://schemas.openxmlformats.org/drawingml/2006/main">
              <a:ext uri="{FF2B5EF4-FFF2-40B4-BE49-F238E27FC236}">
                <a16:creationId xmlns:a16="http://schemas.microsoft.com/office/drawing/2014/main" id="{71C2755D-A9BA-4166-AC2C-63DAF1B1DFE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F5E6EC7-502D-4951-8C2A-0F80B077E87E}"/>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A11ADD94-5E0E-4022-85F4-2D34895D9A4A}"/>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Source event</a:t>
            </a:r>
          </a:p>
        </p:txBody>
      </p:sp>
      <p:sp>
        <p:nvSpPr>
          <p:cNvPr id="6" name="">
            <a:extLst xmlns:a="http://schemas.openxmlformats.org/drawingml/2006/main">
              <a:ext uri="{FF2B5EF4-FFF2-40B4-BE49-F238E27FC236}">
                <a16:creationId xmlns:a16="http://schemas.microsoft.com/office/drawing/2014/main" id="{FF2EDDD2-2503-4417-82A4-93328378C21B}"/>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Preserve source identity, event time, collection status, classification and retention rule.</a:t>
            </a:r>
          </a:p>
        </p:txBody>
      </p:sp>
      <p:sp>
        <p:nvSpPr>
          <p:cNvPr id="7" name="">
            <a:extLst xmlns:a="http://schemas.openxmlformats.org/drawingml/2006/main">
              <a:ext uri="{FF2B5EF4-FFF2-40B4-BE49-F238E27FC236}">
                <a16:creationId xmlns:a16="http://schemas.microsoft.com/office/drawing/2014/main" id="{5CD9B5B3-85EE-4124-BD71-F200F63B8059}"/>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BD0EC7DA-78F2-45BB-A851-7E0EE975AC18}"/>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7BD699D2-058B-4990-A159-9AB8D1E32C4B}"/>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Enforcement decision</a:t>
            </a:r>
          </a:p>
        </p:txBody>
      </p:sp>
      <p:sp>
        <p:nvSpPr>
          <p:cNvPr id="10" name="">
            <a:extLst xmlns:a="http://schemas.openxmlformats.org/drawingml/2006/main">
              <a:ext uri="{FF2B5EF4-FFF2-40B4-BE49-F238E27FC236}">
                <a16:creationId xmlns:a16="http://schemas.microsoft.com/office/drawing/2014/main" id="{6FDCA351-F7FB-4668-9860-2B2488FBBDC0}"/>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Record allow, hold or deny with policy version and reason.</a:t>
            </a:r>
          </a:p>
        </p:txBody>
      </p:sp>
      <p:sp>
        <p:nvSpPr>
          <p:cNvPr id="11" name="">
            <a:extLst xmlns:a="http://schemas.openxmlformats.org/drawingml/2006/main">
              <a:ext uri="{FF2B5EF4-FFF2-40B4-BE49-F238E27FC236}">
                <a16:creationId xmlns:a16="http://schemas.microsoft.com/office/drawing/2014/main" id="{C5936008-FD1A-4A5F-8570-87BE163492AB}"/>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0CCF4CDE-D795-4BE4-911D-13C5B83CF7EA}"/>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3" name="">
            <a:extLst xmlns:a="http://schemas.openxmlformats.org/drawingml/2006/main">
              <a:ext uri="{FF2B5EF4-FFF2-40B4-BE49-F238E27FC236}">
                <a16:creationId xmlns:a16="http://schemas.microsoft.com/office/drawing/2014/main" id="{990CBD7F-5644-41D1-909C-EC4A2E4FBEB4}"/>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Execution and outcome</a:t>
            </a:r>
          </a:p>
        </p:txBody>
      </p:sp>
      <p:sp>
        <p:nvSpPr>
          <p:cNvPr id="14" name="">
            <a:extLst xmlns:a="http://schemas.openxmlformats.org/drawingml/2006/main">
              <a:ext uri="{FF2B5EF4-FFF2-40B4-BE49-F238E27FC236}">
                <a16:creationId xmlns:a16="http://schemas.microsoft.com/office/drawing/2014/main" id="{4303EAB8-01BD-422A-9A2B-FE5C2EAFC9E3}"/>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Link destination response, verification evidence, ambiguity and reconciliation status.</a:t>
            </a:r>
          </a:p>
        </p:txBody>
      </p:sp>
      <p:sp>
        <p:nvSpPr>
          <p:cNvPr id="15" name="">
            <a:extLst xmlns:a="http://schemas.openxmlformats.org/drawingml/2006/main">
              <a:ext uri="{FF2B5EF4-FFF2-40B4-BE49-F238E27FC236}">
                <a16:creationId xmlns:a16="http://schemas.microsoft.com/office/drawing/2014/main" id="{39F66F35-9E7D-4184-8BBE-B40BCD3DE888}"/>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57857D99-8EBE-4A92-87A9-7FA01D4814CC}"/>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DFEF5128-2655-4E77-BCB5-908725FB12AD}"/>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Security response</a:t>
            </a:r>
          </a:p>
        </p:txBody>
      </p:sp>
      <p:sp>
        <p:nvSpPr>
          <p:cNvPr id="18" name="">
            <a:extLst xmlns:a="http://schemas.openxmlformats.org/drawingml/2006/main">
              <a:ext uri="{FF2B5EF4-FFF2-40B4-BE49-F238E27FC236}">
                <a16:creationId xmlns:a16="http://schemas.microsoft.com/office/drawing/2014/main" id="{BFA65E1F-F8EB-4B28-A93F-B6DCA26C2710}"/>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the record for investigation, containment, recovery and evidence review.</a:t>
            </a:r>
          </a:p>
        </p:txBody>
      </p:sp>
      <p:sp>
        <p:nvSpPr>
          <p:cNvPr id="19" name="">
            <a:extLst xmlns:a="http://schemas.openxmlformats.org/drawingml/2006/main">
              <a:ext uri="{FF2B5EF4-FFF2-40B4-BE49-F238E27FC236}">
                <a16:creationId xmlns:a16="http://schemas.microsoft.com/office/drawing/2014/main" id="{44D7E7B4-EA22-4A0D-B3C0-FA322BF473E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1959F3F7-3E98-4461-9A0E-90222CA2F40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27</a:t>
            </a:r>
          </a:p>
        </p:txBody>
      </p:sp>
    </p:spTree>
    <p:extLst>
      <p:ext uri="{BB962C8B-B14F-4D97-AF65-F5344CB8AC3E}">
        <p14:creationId xmlns:p14="http://schemas.microsoft.com/office/powerpoint/2010/main" val="14962981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C7926D8-BA41-459C-BB2F-04F2C15CB785}"/>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B1A73A6-7DD1-4FCE-A640-E96565A2E1A8}"/>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Supplier payment change through three views</a:t>
            </a:r>
          </a:p>
        </p:txBody>
      </p:sp>
      <p:sp>
        <p:nvSpPr>
          <p:cNvPr id="3" name="">
            <a:extLst xmlns:a="http://schemas.openxmlformats.org/drawingml/2006/main">
              <a:ext uri="{FF2B5EF4-FFF2-40B4-BE49-F238E27FC236}">
                <a16:creationId xmlns:a16="http://schemas.microsoft.com/office/drawing/2014/main" id="{D56EFC16-F226-486D-B42C-5C1D1FD547D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D76F66-B071-48E5-B655-410A0E8EAA2B}"/>
              </a:ext>
            </a:extLst>
          </p:cNvPr>
          <p:cNvSpPr>
            <a:spLocks xmlns:a="http://schemas.openxmlformats.org/drawingml/2006/main" noGrp="1"/>
          </p:cNvSpPr>
          <p:nvPr/>
        </p:nvSpPr>
        <p:spPr>
          <a:xfrm xmlns:a="http://schemas.openxmlformats.org/drawingml/2006/main">
            <a:off x="704850" y="1905000"/>
            <a:ext cx="3333750" cy="2628900"/>
          </a:xfrm>
          <a:prstGeom xmlns:a="http://schemas.openxmlformats.org/drawingml/2006/main" prst="roundRect">
            <a:avLst>
              <a:gd name="adj" fmla="val 2899"/>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76A4E4CF-7634-4452-A745-E11FA9896B0A}"/>
              </a:ext>
            </a:extLst>
          </p:cNvPr>
          <p:cNvSpPr>
            <a:spLocks xmlns:a="http://schemas.openxmlformats.org/drawingml/2006/main" noGrp="1"/>
          </p:cNvSpPr>
          <p:nvPr/>
        </p:nvSpPr>
        <p:spPr>
          <a:xfrm xmlns:a="http://schemas.openxmlformats.org/drawingml/2006/main">
            <a:off x="704850" y="1905000"/>
            <a:ext cx="66675" cy="26289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85C49D-7012-407B-B51E-853EB99DD97D}"/>
              </a:ext>
            </a:extLst>
          </p:cNvPr>
          <p:cNvSpPr>
            <a:spLocks xmlns:a="http://schemas.openxmlformats.org/drawingml/2006/main" noGrp="1"/>
          </p:cNvSpPr>
          <p:nvPr/>
        </p:nvSpPr>
        <p:spPr>
          <a:xfrm xmlns:a="http://schemas.openxmlformats.org/drawingml/2006/main">
            <a:off x="933450"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01. Secure business AI</a:t>
            </a:r>
          </a:p>
        </p:txBody>
      </p:sp>
      <p:sp>
        <p:nvSpPr>
          <p:cNvPr id="7" name="">
            <a:extLst xmlns:a="http://schemas.openxmlformats.org/drawingml/2006/main">
              <a:ext uri="{FF2B5EF4-FFF2-40B4-BE49-F238E27FC236}">
                <a16:creationId xmlns:a16="http://schemas.microsoft.com/office/drawing/2014/main" id="{5A9B6DE2-4F00-4562-9EE2-C6FBC3FAC218}"/>
              </a:ext>
            </a:extLst>
          </p:cNvPr>
          <p:cNvSpPr>
            <a:spLocks xmlns:a="http://schemas.openxmlformats.org/drawingml/2006/main" noGrp="1"/>
          </p:cNvSpPr>
          <p:nvPr/>
        </p:nvSpPr>
        <p:spPr>
          <a:xfrm xmlns:a="http://schemas.openxmlformats.org/drawingml/2006/main">
            <a:off x="933450"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assistant can read permitted records and prepare the request. It cannot change the payment destination or authority.</a:t>
            </a:r>
          </a:p>
        </p:txBody>
      </p:sp>
      <p:sp>
        <p:nvSpPr>
          <p:cNvPr id="8" name="">
            <a:extLst xmlns:a="http://schemas.openxmlformats.org/drawingml/2006/main">
              <a:ext uri="{FF2B5EF4-FFF2-40B4-BE49-F238E27FC236}">
                <a16:creationId xmlns:a16="http://schemas.microsoft.com/office/drawing/2014/main" id="{2D598A10-42F4-4274-8351-2BE70E113BEF}"/>
              </a:ext>
            </a:extLst>
          </p:cNvPr>
          <p:cNvSpPr>
            <a:spLocks xmlns:a="http://schemas.openxmlformats.org/drawingml/2006/main" noGrp="1"/>
          </p:cNvSpPr>
          <p:nvPr/>
        </p:nvSpPr>
        <p:spPr>
          <a:xfrm xmlns:a="http://schemas.openxmlformats.org/drawingml/2006/main">
            <a:off x="4429125" y="1905000"/>
            <a:ext cx="3333750" cy="2628900"/>
          </a:xfrm>
          <a:prstGeom xmlns:a="http://schemas.openxmlformats.org/drawingml/2006/main" prst="roundRect">
            <a:avLst>
              <a:gd name="adj" fmla="val 2899"/>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918ACDE6-660D-4198-BE52-CE338E27F60C}"/>
              </a:ext>
            </a:extLst>
          </p:cNvPr>
          <p:cNvSpPr>
            <a:spLocks xmlns:a="http://schemas.openxmlformats.org/drawingml/2006/main" noGrp="1"/>
          </p:cNvSpPr>
          <p:nvPr/>
        </p:nvSpPr>
        <p:spPr>
          <a:xfrm xmlns:a="http://schemas.openxmlformats.org/drawingml/2006/main">
            <a:off x="4429125" y="1905000"/>
            <a:ext cx="66675" cy="26289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1C0D105-A8C2-4D70-BC6E-4F2F9D4A7E2E}"/>
              </a:ext>
            </a:extLst>
          </p:cNvPr>
          <p:cNvSpPr>
            <a:spLocks xmlns:a="http://schemas.openxmlformats.org/drawingml/2006/main" noGrp="1"/>
          </p:cNvSpPr>
          <p:nvPr/>
        </p:nvSpPr>
        <p:spPr>
          <a:xfrm xmlns:a="http://schemas.openxmlformats.org/drawingml/2006/main">
            <a:off x="4657725"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02. Defend against AI</a:t>
            </a:r>
          </a:p>
        </p:txBody>
      </p:sp>
      <p:sp>
        <p:nvSpPr>
          <p:cNvPr id="11" name="">
            <a:extLst xmlns:a="http://schemas.openxmlformats.org/drawingml/2006/main">
              <a:ext uri="{FF2B5EF4-FFF2-40B4-BE49-F238E27FC236}">
                <a16:creationId xmlns:a16="http://schemas.microsoft.com/office/drawing/2014/main" id="{03358ADC-CD82-4624-B5FC-987F2C6331BE}"/>
              </a:ext>
            </a:extLst>
          </p:cNvPr>
          <p:cNvSpPr>
            <a:spLocks xmlns:a="http://schemas.openxmlformats.org/drawingml/2006/main" noGrp="1"/>
          </p:cNvSpPr>
          <p:nvPr/>
        </p:nvSpPr>
        <p:spPr>
          <a:xfrm xmlns:a="http://schemas.openxmlformats.org/drawingml/2006/main">
            <a:off x="4657725"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company verifies the change through a trusted route and investigates suspicious account or transaction activity.</a:t>
            </a:r>
          </a:p>
        </p:txBody>
      </p:sp>
      <p:sp>
        <p:nvSpPr>
          <p:cNvPr id="12" name="">
            <a:extLst xmlns:a="http://schemas.openxmlformats.org/drawingml/2006/main">
              <a:ext uri="{FF2B5EF4-FFF2-40B4-BE49-F238E27FC236}">
                <a16:creationId xmlns:a16="http://schemas.microsoft.com/office/drawing/2014/main" id="{06B8C04C-DFB9-4EAD-8DA7-A6C14CB272DE}"/>
              </a:ext>
            </a:extLst>
          </p:cNvPr>
          <p:cNvSpPr>
            <a:spLocks xmlns:a="http://schemas.openxmlformats.org/drawingml/2006/main" noGrp="1"/>
          </p:cNvSpPr>
          <p:nvPr/>
        </p:nvSpPr>
        <p:spPr>
          <a:xfrm xmlns:a="http://schemas.openxmlformats.org/drawingml/2006/main">
            <a:off x="8153400" y="1905000"/>
            <a:ext cx="3333750" cy="2628900"/>
          </a:xfrm>
          <a:prstGeom xmlns:a="http://schemas.openxmlformats.org/drawingml/2006/main" prst="roundRect">
            <a:avLst>
              <a:gd name="adj" fmla="val 2899"/>
            </a:avLst>
          </a:prstGeom>
          <a:solidFill xmlns:a="http://schemas.openxmlformats.org/drawingml/2006/main">
            <a:srgbClr val="E5F5F3"/>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5CA0F9EE-1B85-427B-B392-F24145E4DDFD}"/>
              </a:ext>
            </a:extLst>
          </p:cNvPr>
          <p:cNvSpPr>
            <a:spLocks xmlns:a="http://schemas.openxmlformats.org/drawingml/2006/main" noGrp="1"/>
          </p:cNvSpPr>
          <p:nvPr/>
        </p:nvSpPr>
        <p:spPr>
          <a:xfrm xmlns:a="http://schemas.openxmlformats.org/drawingml/2006/main">
            <a:off x="8153400" y="1905000"/>
            <a:ext cx="66675" cy="26289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CAD8CCA-E34D-40D4-A4A2-4663B790DCAD}"/>
              </a:ext>
            </a:extLst>
          </p:cNvPr>
          <p:cNvSpPr>
            <a:spLocks xmlns:a="http://schemas.openxmlformats.org/drawingml/2006/main" noGrp="1"/>
          </p:cNvSpPr>
          <p:nvPr/>
        </p:nvSpPr>
        <p:spPr>
          <a:xfrm xmlns:a="http://schemas.openxmlformats.org/drawingml/2006/main">
            <a:off x="8382000"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03. Defend with AI</a:t>
            </a:r>
          </a:p>
        </p:txBody>
      </p:sp>
      <p:sp>
        <p:nvSpPr>
          <p:cNvPr id="15" name="">
            <a:extLst xmlns:a="http://schemas.openxmlformats.org/drawingml/2006/main">
              <a:ext uri="{FF2B5EF4-FFF2-40B4-BE49-F238E27FC236}">
                <a16:creationId xmlns:a16="http://schemas.microsoft.com/office/drawing/2014/main" id="{9FBE1D7C-119A-42E8-899B-8B97F4751A8C}"/>
              </a:ext>
            </a:extLst>
          </p:cNvPr>
          <p:cNvSpPr>
            <a:spLocks xmlns:a="http://schemas.openxmlformats.org/drawingml/2006/main" noGrp="1"/>
          </p:cNvSpPr>
          <p:nvPr/>
        </p:nvSpPr>
        <p:spPr>
          <a:xfrm xmlns:a="http://schemas.openxmlformats.org/drawingml/2006/main">
            <a:off x="8382000"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security assistant can correlate request, identity and application evidence. Any restriction or recovery action needs authority and verification.</a:t>
            </a:r>
          </a:p>
        </p:txBody>
      </p:sp>
      <p:sp>
        <p:nvSpPr>
          <p:cNvPr id="16" name="">
            <a:extLst xmlns:a="http://schemas.openxmlformats.org/drawingml/2006/main">
              <a:ext uri="{FF2B5EF4-FFF2-40B4-BE49-F238E27FC236}">
                <a16:creationId xmlns:a16="http://schemas.microsoft.com/office/drawing/2014/main" id="{42F6F076-794D-431D-8A81-590BF25289A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2973B5E4-9241-4AFC-AA7A-F2D0F03E465D}"/>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28</a:t>
            </a:r>
          </a:p>
        </p:txBody>
      </p:sp>
    </p:spTree>
    <p:extLst>
      <p:ext uri="{BB962C8B-B14F-4D97-AF65-F5344CB8AC3E}">
        <p14:creationId xmlns:p14="http://schemas.microsoft.com/office/powerpoint/2010/main" val="53281563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E6670AE-C867-478C-9A9E-D0BFC955F85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E0BE6F2D-C534-4374-9F17-781EA590855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Implementation questions</a:t>
            </a:r>
          </a:p>
        </p:txBody>
      </p:sp>
      <p:sp>
        <p:nvSpPr>
          <p:cNvPr id="3" name="">
            <a:extLst xmlns:a="http://schemas.openxmlformats.org/drawingml/2006/main">
              <a:ext uri="{FF2B5EF4-FFF2-40B4-BE49-F238E27FC236}">
                <a16:creationId xmlns:a16="http://schemas.microsoft.com/office/drawing/2014/main" id="{EED80DA1-11FC-4A1F-933C-04DACB1A24A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FBA264-AE35-47A9-A383-EECA68402517}"/>
              </a:ext>
            </a:extLst>
          </p:cNvPr>
          <p:cNvSpPr>
            <a:spLocks xmlns:a="http://schemas.openxmlformats.org/drawingml/2006/main" noGrp="1"/>
          </p:cNvSpPr>
          <p:nvPr/>
        </p:nvSpPr>
        <p:spPr>
          <a:xfrm xmlns:a="http://schemas.openxmlformats.org/drawingml/2006/main">
            <a:off x="933450" y="176212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2324A"/>
                </a:solidFill>
                <a:latin typeface="DejaVu Sans"/>
                <a:ea typeface="DejaVu Sans"/>
                <a:cs typeface="DejaVu Sans"/>
              </a:defRPr>
            </a:pPr>
            <a:r>
              <a:rPr sz="1125" b="1">
                <a:solidFill>
                  <a:srgbClr val="12324A"/>
                </a:solidFill>
                <a:latin typeface="DejaVu Sans"/>
                <a:ea typeface="DejaVu Sans"/>
                <a:cs typeface="DejaVu Sans"/>
              </a:rPr>
              <a:t>Business consequence</a:t>
            </a:r>
          </a:p>
        </p:txBody>
      </p:sp>
      <p:sp>
        <p:nvSpPr>
          <p:cNvPr id="5" name="">
            <a:extLst xmlns:a="http://schemas.openxmlformats.org/drawingml/2006/main">
              <a:ext uri="{FF2B5EF4-FFF2-40B4-BE49-F238E27FC236}">
                <a16:creationId xmlns:a16="http://schemas.microsoft.com/office/drawing/2014/main" id="{2B54E9B6-B7E7-4582-8358-31FB63E88B57}"/>
              </a:ext>
            </a:extLst>
          </p:cNvPr>
          <p:cNvSpPr>
            <a:spLocks xmlns:a="http://schemas.openxmlformats.org/drawingml/2006/main" noGrp="1"/>
          </p:cNvSpPr>
          <p:nvPr/>
        </p:nvSpPr>
        <p:spPr>
          <a:xfrm xmlns:a="http://schemas.openxmlformats.org/drawingml/2006/main">
            <a:off x="3695700" y="174307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loss or service impact is unacceptable, and who owns that decision?</a:t>
            </a:r>
          </a:p>
        </p:txBody>
      </p:sp>
      <p:sp>
        <p:nvSpPr>
          <p:cNvPr id="6" name="">
            <a:extLst xmlns:a="http://schemas.openxmlformats.org/drawingml/2006/main">
              <a:ext uri="{FF2B5EF4-FFF2-40B4-BE49-F238E27FC236}">
                <a16:creationId xmlns:a16="http://schemas.microsoft.com/office/drawing/2014/main" id="{3D822655-3E25-4A8A-81B4-CF65A3DA713E}"/>
              </a:ext>
            </a:extLst>
          </p:cNvPr>
          <p:cNvSpPr>
            <a:spLocks xmlns:a="http://schemas.openxmlformats.org/drawingml/2006/main" noGrp="1"/>
          </p:cNvSpPr>
          <p:nvPr/>
        </p:nvSpPr>
        <p:spPr>
          <a:xfrm xmlns:a="http://schemas.openxmlformats.org/drawingml/2006/main">
            <a:off x="933450" y="222885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C3DA258-11F0-49A3-AB0B-82213E0345EB}"/>
              </a:ext>
            </a:extLst>
          </p:cNvPr>
          <p:cNvSpPr>
            <a:spLocks xmlns:a="http://schemas.openxmlformats.org/drawingml/2006/main" noGrp="1"/>
          </p:cNvSpPr>
          <p:nvPr/>
        </p:nvSpPr>
        <p:spPr>
          <a:xfrm xmlns:a="http://schemas.openxmlformats.org/drawingml/2006/main">
            <a:off x="933450" y="25717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Scope</a:t>
            </a:r>
          </a:p>
        </p:txBody>
      </p:sp>
      <p:sp>
        <p:nvSpPr>
          <p:cNvPr id="8" name="">
            <a:extLst xmlns:a="http://schemas.openxmlformats.org/drawingml/2006/main">
              <a:ext uri="{FF2B5EF4-FFF2-40B4-BE49-F238E27FC236}">
                <a16:creationId xmlns:a16="http://schemas.microsoft.com/office/drawing/2014/main" id="{EADCB0AD-6A27-4844-9FCA-D9523900DC35}"/>
              </a:ext>
            </a:extLst>
          </p:cNvPr>
          <p:cNvSpPr>
            <a:spLocks xmlns:a="http://schemas.openxmlformats.org/drawingml/2006/main" noGrp="1"/>
          </p:cNvSpPr>
          <p:nvPr/>
        </p:nvSpPr>
        <p:spPr>
          <a:xfrm xmlns:a="http://schemas.openxmlformats.org/drawingml/2006/main">
            <a:off x="3695700" y="25527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smallest data access, target and action remain useful for the task?</a:t>
            </a:r>
          </a:p>
        </p:txBody>
      </p:sp>
      <p:sp>
        <p:nvSpPr>
          <p:cNvPr id="9" name="">
            <a:extLst xmlns:a="http://schemas.openxmlformats.org/drawingml/2006/main">
              <a:ext uri="{FF2B5EF4-FFF2-40B4-BE49-F238E27FC236}">
                <a16:creationId xmlns:a16="http://schemas.microsoft.com/office/drawing/2014/main" id="{26137620-A276-4C95-BD9D-8F76E446676F}"/>
              </a:ext>
            </a:extLst>
          </p:cNvPr>
          <p:cNvSpPr>
            <a:spLocks xmlns:a="http://schemas.openxmlformats.org/drawingml/2006/main" noGrp="1"/>
          </p:cNvSpPr>
          <p:nvPr/>
        </p:nvSpPr>
        <p:spPr>
          <a:xfrm xmlns:a="http://schemas.openxmlformats.org/drawingml/2006/main">
            <a:off x="933450" y="30384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E4CC490-6443-4517-9A61-9A47FA12EEE4}"/>
              </a:ext>
            </a:extLst>
          </p:cNvPr>
          <p:cNvSpPr>
            <a:spLocks xmlns:a="http://schemas.openxmlformats.org/drawingml/2006/main" noGrp="1"/>
          </p:cNvSpPr>
          <p:nvPr/>
        </p:nvSpPr>
        <p:spPr>
          <a:xfrm xmlns:a="http://schemas.openxmlformats.org/drawingml/2006/main">
            <a:off x="933450" y="338137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Authority</a:t>
            </a:r>
          </a:p>
        </p:txBody>
      </p:sp>
      <p:sp>
        <p:nvSpPr>
          <p:cNvPr id="11" name="">
            <a:extLst xmlns:a="http://schemas.openxmlformats.org/drawingml/2006/main">
              <a:ext uri="{FF2B5EF4-FFF2-40B4-BE49-F238E27FC236}">
                <a16:creationId xmlns:a16="http://schemas.microsoft.com/office/drawing/2014/main" id="{A686748D-E7E9-412C-8160-6CFE235EF7D2}"/>
              </a:ext>
            </a:extLst>
          </p:cNvPr>
          <p:cNvSpPr>
            <a:spLocks xmlns:a="http://schemas.openxmlformats.org/drawingml/2006/main" noGrp="1"/>
          </p:cNvSpPr>
          <p:nvPr/>
        </p:nvSpPr>
        <p:spPr>
          <a:xfrm xmlns:a="http://schemas.openxmlformats.org/drawingml/2006/main">
            <a:off x="3695700" y="336232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cases require a human decision, and what binds that decision to the action?</a:t>
            </a:r>
          </a:p>
        </p:txBody>
      </p:sp>
      <p:sp>
        <p:nvSpPr>
          <p:cNvPr id="12" name="">
            <a:extLst xmlns:a="http://schemas.openxmlformats.org/drawingml/2006/main">
              <a:ext uri="{FF2B5EF4-FFF2-40B4-BE49-F238E27FC236}">
                <a16:creationId xmlns:a16="http://schemas.microsoft.com/office/drawing/2014/main" id="{8A6AB1D3-1BC9-4568-9BB5-DB2AFFDAC3EC}"/>
              </a:ext>
            </a:extLst>
          </p:cNvPr>
          <p:cNvSpPr>
            <a:spLocks xmlns:a="http://schemas.openxmlformats.org/drawingml/2006/main" noGrp="1"/>
          </p:cNvSpPr>
          <p:nvPr/>
        </p:nvSpPr>
        <p:spPr>
          <a:xfrm xmlns:a="http://schemas.openxmlformats.org/drawingml/2006/main">
            <a:off x="933450" y="384810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359689D-E3B8-4D07-BD34-AAF2C60919B6}"/>
              </a:ext>
            </a:extLst>
          </p:cNvPr>
          <p:cNvSpPr>
            <a:spLocks xmlns:a="http://schemas.openxmlformats.org/drawingml/2006/main" noGrp="1"/>
          </p:cNvSpPr>
          <p:nvPr/>
        </p:nvSpPr>
        <p:spPr>
          <a:xfrm xmlns:a="http://schemas.openxmlformats.org/drawingml/2006/main">
            <a:off x="933450" y="41910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61717D"/>
                </a:solidFill>
                <a:latin typeface="DejaVu Sans"/>
                <a:ea typeface="DejaVu Sans"/>
                <a:cs typeface="DejaVu Sans"/>
              </a:defRPr>
            </a:pPr>
            <a:r>
              <a:rPr sz="1125" b="1">
                <a:solidFill>
                  <a:srgbClr val="61717D"/>
                </a:solidFill>
                <a:latin typeface="DejaVu Sans"/>
                <a:ea typeface="DejaVu Sans"/>
                <a:cs typeface="DejaVu Sans"/>
              </a:rPr>
              <a:t>Evidence</a:t>
            </a:r>
          </a:p>
        </p:txBody>
      </p:sp>
      <p:sp>
        <p:nvSpPr>
          <p:cNvPr id="14" name="">
            <a:extLst xmlns:a="http://schemas.openxmlformats.org/drawingml/2006/main">
              <a:ext uri="{FF2B5EF4-FFF2-40B4-BE49-F238E27FC236}">
                <a16:creationId xmlns:a16="http://schemas.microsoft.com/office/drawing/2014/main" id="{F488D4AF-B4E9-4DF1-9185-510D872E3B88}"/>
              </a:ext>
            </a:extLst>
          </p:cNvPr>
          <p:cNvSpPr>
            <a:spLocks xmlns:a="http://schemas.openxmlformats.org/drawingml/2006/main" noGrp="1"/>
          </p:cNvSpPr>
          <p:nvPr/>
        </p:nvSpPr>
        <p:spPr>
          <a:xfrm xmlns:a="http://schemas.openxmlformats.org/drawingml/2006/main">
            <a:off x="3695700" y="41719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system can independently show the intended effect and any unintended consequence?</a:t>
            </a:r>
          </a:p>
        </p:txBody>
      </p:sp>
      <p:sp>
        <p:nvSpPr>
          <p:cNvPr id="15" name="">
            <a:extLst xmlns:a="http://schemas.openxmlformats.org/drawingml/2006/main">
              <a:ext uri="{FF2B5EF4-FFF2-40B4-BE49-F238E27FC236}">
                <a16:creationId xmlns:a16="http://schemas.microsoft.com/office/drawing/2014/main" id="{AE1E6096-5B96-4A4A-A322-D971D09E98C8}"/>
              </a:ext>
            </a:extLst>
          </p:cNvPr>
          <p:cNvSpPr>
            <a:spLocks xmlns:a="http://schemas.openxmlformats.org/drawingml/2006/main" noGrp="1"/>
          </p:cNvSpPr>
          <p:nvPr/>
        </p:nvSpPr>
        <p:spPr>
          <a:xfrm xmlns:a="http://schemas.openxmlformats.org/drawingml/2006/main">
            <a:off x="933450" y="46577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5823631-F433-47A3-9A4D-1D8313711BBF}"/>
              </a:ext>
            </a:extLst>
          </p:cNvPr>
          <p:cNvSpPr>
            <a:spLocks xmlns:a="http://schemas.openxmlformats.org/drawingml/2006/main" noGrp="1"/>
          </p:cNvSpPr>
          <p:nvPr/>
        </p:nvSpPr>
        <p:spPr>
          <a:xfrm xmlns:a="http://schemas.openxmlformats.org/drawingml/2006/main">
            <a:off x="933450" y="500062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Continuity</a:t>
            </a:r>
          </a:p>
        </p:txBody>
      </p:sp>
      <p:sp>
        <p:nvSpPr>
          <p:cNvPr id="17" name="">
            <a:extLst xmlns:a="http://schemas.openxmlformats.org/drawingml/2006/main">
              <a:ext uri="{FF2B5EF4-FFF2-40B4-BE49-F238E27FC236}">
                <a16:creationId xmlns:a16="http://schemas.microsoft.com/office/drawing/2014/main" id="{19686834-AC5E-4BE9-B649-5859D1C3A127}"/>
              </a:ext>
            </a:extLst>
          </p:cNvPr>
          <p:cNvSpPr>
            <a:spLocks xmlns:a="http://schemas.openxmlformats.org/drawingml/2006/main" noGrp="1"/>
          </p:cNvSpPr>
          <p:nvPr/>
        </p:nvSpPr>
        <p:spPr>
          <a:xfrm xmlns:a="http://schemas.openxmlformats.org/drawingml/2006/main">
            <a:off x="3695700" y="498157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happens when policy, identity, telemetry, model, tool adapter or destination system is unavailable?</a:t>
            </a:r>
          </a:p>
        </p:txBody>
      </p:sp>
      <p:sp>
        <p:nvSpPr>
          <p:cNvPr id="18" name="">
            <a:extLst xmlns:a="http://schemas.openxmlformats.org/drawingml/2006/main">
              <a:ext uri="{FF2B5EF4-FFF2-40B4-BE49-F238E27FC236}">
                <a16:creationId xmlns:a16="http://schemas.microsoft.com/office/drawing/2014/main" id="{63592C83-ED18-497D-B45F-CA34B52167D4}"/>
              </a:ext>
            </a:extLst>
          </p:cNvPr>
          <p:cNvSpPr>
            <a:spLocks xmlns:a="http://schemas.openxmlformats.org/drawingml/2006/main" noGrp="1"/>
          </p:cNvSpPr>
          <p:nvPr/>
        </p:nvSpPr>
        <p:spPr>
          <a:xfrm xmlns:a="http://schemas.openxmlformats.org/drawingml/2006/main">
            <a:off x="933450" y="546735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DBCA792-899B-4623-960A-92DC3956E01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16399B4D-130E-4DB9-8A52-63F4B28B7859}"/>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29</a:t>
            </a:r>
          </a:p>
        </p:txBody>
      </p:sp>
    </p:spTree>
    <p:extLst>
      <p:ext uri="{BB962C8B-B14F-4D97-AF65-F5344CB8AC3E}">
        <p14:creationId xmlns:p14="http://schemas.microsoft.com/office/powerpoint/2010/main" val="45863775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8B9DD1B-B243-46BB-ACA9-EA38AB0DDB3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EBDB3FE-52D7-49B7-9AF4-C2E685ADF6E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From logical view to deployment design</a:t>
            </a:r>
          </a:p>
        </p:txBody>
      </p:sp>
      <p:sp>
        <p:nvSpPr>
          <p:cNvPr id="3" name="">
            <a:extLst xmlns:a="http://schemas.openxmlformats.org/drawingml/2006/main">
              <a:ext uri="{FF2B5EF4-FFF2-40B4-BE49-F238E27FC236}">
                <a16:creationId xmlns:a16="http://schemas.microsoft.com/office/drawing/2014/main" id="{0C018179-A86F-4E63-898C-8B01C011854D}"/>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12530D-B3F0-4692-ABFA-2660CDC7217E}"/>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5" name="">
            <a:extLst xmlns:a="http://schemas.openxmlformats.org/drawingml/2006/main">
              <a:ext uri="{FF2B5EF4-FFF2-40B4-BE49-F238E27FC236}">
                <a16:creationId xmlns:a16="http://schemas.microsoft.com/office/drawing/2014/main" id="{D5D8CF23-768B-4B1D-A9A6-DB190844ECCB}"/>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Choose one use case</a:t>
            </a:r>
          </a:p>
        </p:txBody>
      </p:sp>
      <p:sp>
        <p:nvSpPr>
          <p:cNvPr id="6" name="">
            <a:extLst xmlns:a="http://schemas.openxmlformats.org/drawingml/2006/main">
              <a:ext uri="{FF2B5EF4-FFF2-40B4-BE49-F238E27FC236}">
                <a16:creationId xmlns:a16="http://schemas.microsoft.com/office/drawing/2014/main" id="{0E7810B3-AE57-42A8-845E-CB25FED15EA1}"/>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Name the business or security task, outcome, affected systems and prohibited actions.</a:t>
            </a:r>
          </a:p>
        </p:txBody>
      </p:sp>
      <p:sp>
        <p:nvSpPr>
          <p:cNvPr id="7" name="">
            <a:extLst xmlns:a="http://schemas.openxmlformats.org/drawingml/2006/main">
              <a:ext uri="{FF2B5EF4-FFF2-40B4-BE49-F238E27FC236}">
                <a16:creationId xmlns:a16="http://schemas.microsoft.com/office/drawing/2014/main" id="{3095EA38-0344-4FF7-953C-C63280A1BF39}"/>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7F095B31-60AC-4720-90E2-8DDA0E1C61D4}"/>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56E1ED28-63B6-4189-85EF-501D570A99D5}"/>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Map real interfaces</a:t>
            </a:r>
          </a:p>
        </p:txBody>
      </p:sp>
      <p:sp>
        <p:nvSpPr>
          <p:cNvPr id="10" name="">
            <a:extLst xmlns:a="http://schemas.openxmlformats.org/drawingml/2006/main">
              <a:ext uri="{FF2B5EF4-FFF2-40B4-BE49-F238E27FC236}">
                <a16:creationId xmlns:a16="http://schemas.microsoft.com/office/drawing/2014/main" id="{B8973EE7-3735-4B22-BDE7-C6C45BDDB473}"/>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Identify data, identity, policies, tools, destinations, evidence and recovery dependencies.</a:t>
            </a:r>
          </a:p>
        </p:txBody>
      </p:sp>
      <p:sp>
        <p:nvSpPr>
          <p:cNvPr id="11" name="">
            <a:extLst xmlns:a="http://schemas.openxmlformats.org/drawingml/2006/main">
              <a:ext uri="{FF2B5EF4-FFF2-40B4-BE49-F238E27FC236}">
                <a16:creationId xmlns:a16="http://schemas.microsoft.com/office/drawing/2014/main" id="{F20B8481-4501-4D5E-B1DB-3A8769899DD4}"/>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E6F75D1B-A1EC-4FD9-BBDC-EEAD096D552F}"/>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A62A892C-8598-4F73-A3CE-9F784ACCF1DE}"/>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Define operating envelope</a:t>
            </a:r>
          </a:p>
        </p:txBody>
      </p:sp>
      <p:sp>
        <p:nvSpPr>
          <p:cNvPr id="14" name="">
            <a:extLst xmlns:a="http://schemas.openxmlformats.org/drawingml/2006/main">
              <a:ext uri="{FF2B5EF4-FFF2-40B4-BE49-F238E27FC236}">
                <a16:creationId xmlns:a16="http://schemas.microsoft.com/office/drawing/2014/main" id="{FAC8FF5D-C68B-4271-B687-B911170214A1}"/>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Select assistance mode, action limits, approval points, stops and fallback.</a:t>
            </a:r>
          </a:p>
        </p:txBody>
      </p:sp>
      <p:sp>
        <p:nvSpPr>
          <p:cNvPr id="15" name="">
            <a:extLst xmlns:a="http://schemas.openxmlformats.org/drawingml/2006/main">
              <a:ext uri="{FF2B5EF4-FFF2-40B4-BE49-F238E27FC236}">
                <a16:creationId xmlns:a16="http://schemas.microsoft.com/office/drawing/2014/main" id="{9A8C6E96-6641-4826-94AC-CBD7C3F99308}"/>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D77EC58F-9176-4804-B718-DF2478AB14B1}"/>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A266228D-888D-40AE-8177-B6641218054A}"/>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Test and decide</a:t>
            </a:r>
          </a:p>
        </p:txBody>
      </p:sp>
      <p:sp>
        <p:nvSpPr>
          <p:cNvPr id="18" name="">
            <a:extLst xmlns:a="http://schemas.openxmlformats.org/drawingml/2006/main">
              <a:ext uri="{FF2B5EF4-FFF2-40B4-BE49-F238E27FC236}">
                <a16:creationId xmlns:a16="http://schemas.microsoft.com/office/drawing/2014/main" id="{626ECA78-677E-4D60-862E-1F41BC1ACBF0}"/>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Run representative and hostile cases, verify outcomes, then seek accountable acceptance.</a:t>
            </a:r>
          </a:p>
        </p:txBody>
      </p:sp>
      <p:sp>
        <p:nvSpPr>
          <p:cNvPr id="19" name="">
            <a:extLst xmlns:a="http://schemas.openxmlformats.org/drawingml/2006/main">
              <a:ext uri="{FF2B5EF4-FFF2-40B4-BE49-F238E27FC236}">
                <a16:creationId xmlns:a16="http://schemas.microsoft.com/office/drawing/2014/main" id="{99ECDE9F-1580-48BB-B88B-B9EE152FB70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29D4903B-310D-4F79-BDFF-FF912D8FE477}"/>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30</a:t>
            </a:r>
          </a:p>
        </p:txBody>
      </p:sp>
    </p:spTree>
    <p:extLst>
      <p:ext uri="{BB962C8B-B14F-4D97-AF65-F5344CB8AC3E}">
        <p14:creationId xmlns:p14="http://schemas.microsoft.com/office/powerpoint/2010/main" val="1129705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BB884B8-AD69-43CF-9F84-DCD76254FC80}"/>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98E0F0C3-8351-4DFB-A27D-F21C8D13B475}"/>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Testable acceptance checks</a:t>
            </a:r>
          </a:p>
        </p:txBody>
      </p:sp>
      <p:sp>
        <p:nvSpPr>
          <p:cNvPr id="3" name="">
            <a:extLst xmlns:a="http://schemas.openxmlformats.org/drawingml/2006/main">
              <a:ext uri="{FF2B5EF4-FFF2-40B4-BE49-F238E27FC236}">
                <a16:creationId xmlns:a16="http://schemas.microsoft.com/office/drawing/2014/main" id="{C0DDCB40-C2A7-48B2-A846-B01478004B4F}"/>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5F7C55-5A1B-4CDF-BE6D-02066467A3F5}"/>
              </a:ext>
            </a:extLst>
          </p:cNvPr>
          <p:cNvSpPr>
            <a:spLocks xmlns:a="http://schemas.openxmlformats.org/drawingml/2006/main" noGrp="1"/>
          </p:cNvSpPr>
          <p:nvPr/>
        </p:nvSpPr>
        <p:spPr>
          <a:xfrm xmlns:a="http://schemas.openxmlformats.org/drawingml/2006/main">
            <a:off x="781050" y="1619250"/>
            <a:ext cx="3314700" cy="2571750"/>
          </a:xfrm>
          <a:prstGeom xmlns:a="http://schemas.openxmlformats.org/drawingml/2006/main" prst="roundRect">
            <a:avLst>
              <a:gd name="adj" fmla="val 2963"/>
            </a:avLst>
          </a:prstGeom>
          <a:solidFill xmlns:a="http://schemas.openxmlformats.org/drawingml/2006/main">
            <a:srgbClr val="FFF3DD"/>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3EEAD31D-C311-4D64-890A-5FA03A680015}"/>
              </a:ext>
            </a:extLst>
          </p:cNvPr>
          <p:cNvSpPr>
            <a:spLocks xmlns:a="http://schemas.openxmlformats.org/drawingml/2006/main" noGrp="1"/>
          </p:cNvSpPr>
          <p:nvPr/>
        </p:nvSpPr>
        <p:spPr>
          <a:xfrm xmlns:a="http://schemas.openxmlformats.org/drawingml/2006/main">
            <a:off x="781050" y="1619250"/>
            <a:ext cx="66675" cy="257175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2FD271-FA7D-421E-A4DD-D66E3A80CDD4}"/>
              </a:ext>
            </a:extLst>
          </p:cNvPr>
          <p:cNvSpPr>
            <a:spLocks xmlns:a="http://schemas.openxmlformats.org/drawingml/2006/main" noGrp="1"/>
          </p:cNvSpPr>
          <p:nvPr/>
        </p:nvSpPr>
        <p:spPr>
          <a:xfrm xmlns:a="http://schemas.openxmlformats.org/drawingml/2006/main">
            <a:off x="10096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Hostile-content resistance</a:t>
            </a:r>
          </a:p>
        </p:txBody>
      </p:sp>
      <p:sp>
        <p:nvSpPr>
          <p:cNvPr id="7" name="">
            <a:extLst xmlns:a="http://schemas.openxmlformats.org/drawingml/2006/main">
              <a:ext uri="{FF2B5EF4-FFF2-40B4-BE49-F238E27FC236}">
                <a16:creationId xmlns:a16="http://schemas.microsoft.com/office/drawing/2014/main" id="{464D1C09-A313-4587-A69F-6A8D912EF818}"/>
              </a:ext>
            </a:extLst>
          </p:cNvPr>
          <p:cNvSpPr>
            <a:spLocks xmlns:a="http://schemas.openxmlformats.org/drawingml/2006/main" noGrp="1"/>
          </p:cNvSpPr>
          <p:nvPr/>
        </p:nvSpPr>
        <p:spPr>
          <a:xfrm xmlns:a="http://schemas.openxmlformats.org/drawingml/2006/main">
            <a:off x="10096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Insert a malicious instruction in test evidence. Confirm it cannot change policy, expand scope or trigger an unauthorized action.</a:t>
            </a:r>
          </a:p>
        </p:txBody>
      </p:sp>
      <p:sp>
        <p:nvSpPr>
          <p:cNvPr id="8" name="">
            <a:extLst xmlns:a="http://schemas.openxmlformats.org/drawingml/2006/main">
              <a:ext uri="{FF2B5EF4-FFF2-40B4-BE49-F238E27FC236}">
                <a16:creationId xmlns:a16="http://schemas.microsoft.com/office/drawing/2014/main" id="{431B4113-4628-411A-8CA7-64046F93D704}"/>
              </a:ext>
            </a:extLst>
          </p:cNvPr>
          <p:cNvSpPr>
            <a:spLocks xmlns:a="http://schemas.openxmlformats.org/drawingml/2006/main" noGrp="1"/>
          </p:cNvSpPr>
          <p:nvPr/>
        </p:nvSpPr>
        <p:spPr>
          <a:xfrm xmlns:a="http://schemas.openxmlformats.org/drawingml/2006/main">
            <a:off x="4438650" y="1619250"/>
            <a:ext cx="331470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80B667EC-777E-4DB4-9726-803EBF332FEC}"/>
              </a:ext>
            </a:extLst>
          </p:cNvPr>
          <p:cNvSpPr>
            <a:spLocks xmlns:a="http://schemas.openxmlformats.org/drawingml/2006/main" noGrp="1"/>
          </p:cNvSpPr>
          <p:nvPr/>
        </p:nvSpPr>
        <p:spPr>
          <a:xfrm xmlns:a="http://schemas.openxmlformats.org/drawingml/2006/main">
            <a:off x="4438650" y="1619250"/>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A57F0A-E8A9-456A-8D66-CFFEE9105DBA}"/>
              </a:ext>
            </a:extLst>
          </p:cNvPr>
          <p:cNvSpPr>
            <a:spLocks xmlns:a="http://schemas.openxmlformats.org/drawingml/2006/main" noGrp="1"/>
          </p:cNvSpPr>
          <p:nvPr/>
        </p:nvSpPr>
        <p:spPr>
          <a:xfrm xmlns:a="http://schemas.openxmlformats.org/drawingml/2006/main">
            <a:off x="46672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Independent authorization</a:t>
            </a:r>
          </a:p>
        </p:txBody>
      </p:sp>
      <p:sp>
        <p:nvSpPr>
          <p:cNvPr id="11" name="">
            <a:extLst xmlns:a="http://schemas.openxmlformats.org/drawingml/2006/main">
              <a:ext uri="{FF2B5EF4-FFF2-40B4-BE49-F238E27FC236}">
                <a16:creationId xmlns:a16="http://schemas.microsoft.com/office/drawing/2014/main" id="{221395EF-16D6-426A-B2FF-B5FF0C8DC2B7}"/>
              </a:ext>
            </a:extLst>
          </p:cNvPr>
          <p:cNvSpPr>
            <a:spLocks xmlns:a="http://schemas.openxmlformats.org/drawingml/2006/main" noGrp="1"/>
          </p:cNvSpPr>
          <p:nvPr/>
        </p:nvSpPr>
        <p:spPr>
          <a:xfrm xmlns:a="http://schemas.openxmlformats.org/drawingml/2006/main">
            <a:off x="46672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Attempt an altered or model-generated action directly. Confirm controlled execution rejects it without a bounded authorization.</a:t>
            </a:r>
          </a:p>
        </p:txBody>
      </p:sp>
      <p:sp>
        <p:nvSpPr>
          <p:cNvPr id="12" name="">
            <a:extLst xmlns:a="http://schemas.openxmlformats.org/drawingml/2006/main">
              <a:ext uri="{FF2B5EF4-FFF2-40B4-BE49-F238E27FC236}">
                <a16:creationId xmlns:a16="http://schemas.microsoft.com/office/drawing/2014/main" id="{8E8ED1BB-1B5C-45E8-A444-F1800DAC3DCB}"/>
              </a:ext>
            </a:extLst>
          </p:cNvPr>
          <p:cNvSpPr>
            <a:spLocks xmlns:a="http://schemas.openxmlformats.org/drawingml/2006/main" noGrp="1"/>
          </p:cNvSpPr>
          <p:nvPr/>
        </p:nvSpPr>
        <p:spPr>
          <a:xfrm xmlns:a="http://schemas.openxmlformats.org/drawingml/2006/main">
            <a:off x="8096250" y="1619250"/>
            <a:ext cx="331470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82309E7F-E25B-4A1C-B2E5-1D542C278AE7}"/>
              </a:ext>
            </a:extLst>
          </p:cNvPr>
          <p:cNvSpPr>
            <a:spLocks xmlns:a="http://schemas.openxmlformats.org/drawingml/2006/main" noGrp="1"/>
          </p:cNvSpPr>
          <p:nvPr/>
        </p:nvSpPr>
        <p:spPr>
          <a:xfrm xmlns:a="http://schemas.openxmlformats.org/drawingml/2006/main">
            <a:off x="8096250" y="1619250"/>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4067F6-ADB9-4738-9CBE-F76085BEE455}"/>
              </a:ext>
            </a:extLst>
          </p:cNvPr>
          <p:cNvSpPr>
            <a:spLocks xmlns:a="http://schemas.openxmlformats.org/drawingml/2006/main" noGrp="1"/>
          </p:cNvSpPr>
          <p:nvPr/>
        </p:nvSpPr>
        <p:spPr>
          <a:xfrm xmlns:a="http://schemas.openxmlformats.org/drawingml/2006/main">
            <a:off x="83248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Verification and continuity</a:t>
            </a:r>
          </a:p>
        </p:txBody>
      </p:sp>
      <p:sp>
        <p:nvSpPr>
          <p:cNvPr id="15" name="">
            <a:extLst xmlns:a="http://schemas.openxmlformats.org/drawingml/2006/main">
              <a:ext uri="{FF2B5EF4-FFF2-40B4-BE49-F238E27FC236}">
                <a16:creationId xmlns:a16="http://schemas.microsoft.com/office/drawing/2014/main" id="{D8C76964-44DA-427C-BA7E-FB99B902A669}"/>
              </a:ext>
            </a:extLst>
          </p:cNvPr>
          <p:cNvSpPr>
            <a:spLocks xmlns:a="http://schemas.openxmlformats.org/drawingml/2006/main" noGrp="1"/>
          </p:cNvSpPr>
          <p:nvPr/>
        </p:nvSpPr>
        <p:spPr>
          <a:xfrm xmlns:a="http://schemas.openxmlformats.org/drawingml/2006/main">
            <a:off x="83248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Simulate ambiguous result, policy failure and AI outage. Confirm the case stays open and people can follow the non-AI procedure.</a:t>
            </a:r>
          </a:p>
        </p:txBody>
      </p:sp>
      <p:sp>
        <p:nvSpPr>
          <p:cNvPr id="16" name="">
            <a:extLst xmlns:a="http://schemas.openxmlformats.org/drawingml/2006/main">
              <a:ext uri="{FF2B5EF4-FFF2-40B4-BE49-F238E27FC236}">
                <a16:creationId xmlns:a16="http://schemas.microsoft.com/office/drawing/2014/main" id="{5E14A87F-6BF2-464C-9543-7923F2424210}"/>
              </a:ext>
            </a:extLst>
          </p:cNvPr>
          <p:cNvSpPr>
            <a:spLocks xmlns:a="http://schemas.openxmlformats.org/drawingml/2006/main" noGrp="1"/>
          </p:cNvSpPr>
          <p:nvPr/>
        </p:nvSpPr>
        <p:spPr>
          <a:xfrm xmlns:a="http://schemas.openxmlformats.org/drawingml/2006/main">
            <a:off x="876300" y="4819650"/>
            <a:ext cx="1019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Acceptance evidence should trace source evidence, proposal, authorization, execution, verification and disposition.</a:t>
            </a:r>
          </a:p>
        </p:txBody>
      </p:sp>
      <p:sp>
        <p:nvSpPr>
          <p:cNvPr id="17" name="">
            <a:extLst xmlns:a="http://schemas.openxmlformats.org/drawingml/2006/main">
              <a:ext uri="{FF2B5EF4-FFF2-40B4-BE49-F238E27FC236}">
                <a16:creationId xmlns:a16="http://schemas.microsoft.com/office/drawing/2014/main" id="{7455C069-DCFA-4DC2-B7B0-299794F1B57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49E37D7A-86D2-4FAA-B3D7-5999C441A63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31</a:t>
            </a:r>
          </a:p>
        </p:txBody>
      </p:sp>
    </p:spTree>
    <p:extLst>
      <p:ext uri="{BB962C8B-B14F-4D97-AF65-F5344CB8AC3E}">
        <p14:creationId xmlns:p14="http://schemas.microsoft.com/office/powerpoint/2010/main" val="138716559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6D43B67-8896-4C5F-B3D1-B01D915FD1A0}"/>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47179D0-4E40-4B95-A15C-473883FC3DE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Model-assisted review: open findings</a:t>
            </a:r>
          </a:p>
        </p:txBody>
      </p:sp>
      <p:sp>
        <p:nvSpPr>
          <p:cNvPr id="3" name="">
            <a:extLst xmlns:a="http://schemas.openxmlformats.org/drawingml/2006/main">
              <a:ext uri="{FF2B5EF4-FFF2-40B4-BE49-F238E27FC236}">
                <a16:creationId xmlns:a16="http://schemas.microsoft.com/office/drawing/2014/main" id="{961F4BAE-27F9-4BEB-9159-EDD1C5F9759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70BFA52-F10F-4414-BE96-806A58724D3B}"/>
              </a:ext>
            </a:extLst>
          </p:cNvPr>
          <p:cNvSpPr>
            <a:spLocks xmlns:a="http://schemas.openxmlformats.org/drawingml/2006/main" noGrp="1"/>
          </p:cNvSpPr>
          <p:nvPr/>
        </p:nvSpPr>
        <p:spPr>
          <a:xfrm xmlns:a="http://schemas.openxmlformats.org/drawingml/2006/main">
            <a:off x="762000" y="1905000"/>
            <a:ext cx="4667250" cy="2381250"/>
          </a:xfrm>
          <a:prstGeom xmlns:a="http://schemas.openxmlformats.org/drawingml/2006/main" prst="roundRect">
            <a:avLst>
              <a:gd name="adj" fmla="val 3200"/>
            </a:avLst>
          </a:prstGeom>
          <a:solidFill xmlns:a="http://schemas.openxmlformats.org/drawingml/2006/main">
            <a:srgbClr val="E5F5F3"/>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CC4F801B-2286-41DE-B57C-B3318C7CC489}"/>
              </a:ext>
            </a:extLst>
          </p:cNvPr>
          <p:cNvSpPr>
            <a:spLocks xmlns:a="http://schemas.openxmlformats.org/drawingml/2006/main" noGrp="1"/>
          </p:cNvSpPr>
          <p:nvPr/>
        </p:nvSpPr>
        <p:spPr>
          <a:xfrm xmlns:a="http://schemas.openxmlformats.org/drawingml/2006/main">
            <a:off x="762000" y="1905000"/>
            <a:ext cx="66675" cy="23812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501645-B5EC-4CC0-8468-F5481AA71C8E}"/>
              </a:ext>
            </a:extLst>
          </p:cNvPr>
          <p:cNvSpPr>
            <a:spLocks xmlns:a="http://schemas.openxmlformats.org/drawingml/2006/main" noGrp="1"/>
          </p:cNvSpPr>
          <p:nvPr/>
        </p:nvSpPr>
        <p:spPr>
          <a:xfrm xmlns:a="http://schemas.openxmlformats.org/drawingml/2006/main">
            <a:off x="990600" y="2076450"/>
            <a:ext cx="426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What the review observed</a:t>
            </a:r>
          </a:p>
        </p:txBody>
      </p:sp>
      <p:sp>
        <p:nvSpPr>
          <p:cNvPr id="7" name="">
            <a:extLst xmlns:a="http://schemas.openxmlformats.org/drawingml/2006/main">
              <a:ext uri="{FF2B5EF4-FFF2-40B4-BE49-F238E27FC236}">
                <a16:creationId xmlns:a16="http://schemas.microsoft.com/office/drawing/2014/main" id="{B5929656-D9E2-4A40-BFF5-5F1FCBB0067A}"/>
              </a:ext>
            </a:extLst>
          </p:cNvPr>
          <p:cNvSpPr>
            <a:spLocks xmlns:a="http://schemas.openxmlformats.org/drawingml/2006/main" noGrp="1"/>
          </p:cNvSpPr>
          <p:nvPr/>
        </p:nvSpPr>
        <p:spPr>
          <a:xfrm xmlns:a="http://schemas.openxmlformats.org/drawingml/2006/main">
            <a:off x="990600" y="2762250"/>
            <a:ext cx="42672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Fable 5.1 found useful authority separation and discussion-level architect use. It also noted a spelling error in the original 03 PNG.</a:t>
            </a:r>
          </a:p>
        </p:txBody>
      </p:sp>
      <p:sp>
        <p:nvSpPr>
          <p:cNvPr id="8" name="">
            <a:extLst xmlns:a="http://schemas.openxmlformats.org/drawingml/2006/main">
              <a:ext uri="{FF2B5EF4-FFF2-40B4-BE49-F238E27FC236}">
                <a16:creationId xmlns:a16="http://schemas.microsoft.com/office/drawing/2014/main" id="{D16B6FF1-4355-4037-B5C6-52B8364F9BF4}"/>
              </a:ext>
            </a:extLst>
          </p:cNvPr>
          <p:cNvSpPr>
            <a:spLocks xmlns:a="http://schemas.openxmlformats.org/drawingml/2006/main" noGrp="1"/>
          </p:cNvSpPr>
          <p:nvPr/>
        </p:nvSpPr>
        <p:spPr>
          <a:xfrm xmlns:a="http://schemas.openxmlformats.org/drawingml/2006/main">
            <a:off x="6762750" y="1905000"/>
            <a:ext cx="4667250" cy="2381250"/>
          </a:xfrm>
          <a:prstGeom xmlns:a="http://schemas.openxmlformats.org/drawingml/2006/main" prst="roundRect">
            <a:avLst>
              <a:gd name="adj" fmla="val 3200"/>
            </a:avLst>
          </a:prstGeom>
          <a:solidFill xmlns:a="http://schemas.openxmlformats.org/drawingml/2006/main">
            <a:srgbClr val="F9ECEA"/>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7A1B6CEA-FE09-45DA-9465-74C409CA303F}"/>
              </a:ext>
            </a:extLst>
          </p:cNvPr>
          <p:cNvSpPr>
            <a:spLocks xmlns:a="http://schemas.openxmlformats.org/drawingml/2006/main" noGrp="1"/>
          </p:cNvSpPr>
          <p:nvPr/>
        </p:nvSpPr>
        <p:spPr>
          <a:xfrm xmlns:a="http://schemas.openxmlformats.org/drawingml/2006/main">
            <a:off x="6762750" y="1905000"/>
            <a:ext cx="66675" cy="2381250"/>
          </a:xfrm>
          <a:prstGeom xmlns:a="http://schemas.openxmlformats.org/drawingml/2006/main" prst="rect">
            <a:avLst/>
          </a:prstGeom>
          <a:solidFill xmlns:a="http://schemas.openxmlformats.org/drawingml/2006/main">
            <a:srgbClr val="9E3C3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A3FF3A7-6069-4B6E-9E61-22D9D6D16963}"/>
              </a:ext>
            </a:extLst>
          </p:cNvPr>
          <p:cNvSpPr>
            <a:spLocks xmlns:a="http://schemas.openxmlformats.org/drawingml/2006/main" noGrp="1"/>
          </p:cNvSpPr>
          <p:nvPr/>
        </p:nvSpPr>
        <p:spPr>
          <a:xfrm xmlns:a="http://schemas.openxmlformats.org/drawingml/2006/main">
            <a:off x="6991350" y="2076450"/>
            <a:ext cx="426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9E3C35"/>
                </a:solidFill>
                <a:latin typeface="DejaVu Sans"/>
                <a:ea typeface="DejaVu Sans"/>
                <a:cs typeface="DejaVu Sans"/>
              </a:defRPr>
            </a:pPr>
            <a:r>
              <a:rPr sz="1575" b="1">
                <a:solidFill>
                  <a:srgbClr val="9E3C35"/>
                </a:solidFill>
                <a:latin typeface="DejaVu Sans"/>
                <a:ea typeface="DejaVu Sans"/>
                <a:cs typeface="DejaVu Sans"/>
              </a:rPr>
              <a:t>What remains open</a:t>
            </a:r>
          </a:p>
        </p:txBody>
      </p:sp>
      <p:sp>
        <p:nvSpPr>
          <p:cNvPr id="11" name="">
            <a:extLst xmlns:a="http://schemas.openxmlformats.org/drawingml/2006/main">
              <a:ext uri="{FF2B5EF4-FFF2-40B4-BE49-F238E27FC236}">
                <a16:creationId xmlns:a16="http://schemas.microsoft.com/office/drawing/2014/main" id="{7453BC03-FE78-4584-9BB6-614198CC427E}"/>
              </a:ext>
            </a:extLst>
          </p:cNvPr>
          <p:cNvSpPr>
            <a:spLocks xmlns:a="http://schemas.openxmlformats.org/drawingml/2006/main" noGrp="1"/>
          </p:cNvSpPr>
          <p:nvPr/>
        </p:nvSpPr>
        <p:spPr>
          <a:xfrm xmlns:a="http://schemas.openxmlformats.org/drawingml/2006/main">
            <a:off x="6991350" y="2762250"/>
            <a:ext cx="42672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review raised 30 findings. Mechanical public corrections were made; substantive design questions remain open. The overview has not had independent review.</a:t>
            </a:r>
          </a:p>
        </p:txBody>
      </p:sp>
      <p:sp>
        <p:nvSpPr>
          <p:cNvPr id="12" name="">
            <a:extLst xmlns:a="http://schemas.openxmlformats.org/drawingml/2006/main">
              <a:ext uri="{FF2B5EF4-FFF2-40B4-BE49-F238E27FC236}">
                <a16:creationId xmlns:a16="http://schemas.microsoft.com/office/drawing/2014/main" id="{19030B66-34BF-45C2-B73B-B8BAAC001E22}"/>
              </a:ext>
            </a:extLst>
          </p:cNvPr>
          <p:cNvSpPr>
            <a:spLocks xmlns:a="http://schemas.openxmlformats.org/drawingml/2006/main" noGrp="1"/>
          </p:cNvSpPr>
          <p:nvPr/>
        </p:nvSpPr>
        <p:spPr>
          <a:xfrm xmlns:a="http://schemas.openxmlformats.org/drawingml/2006/main">
            <a:off x="876300" y="50673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2324A"/>
                </a:solidFill>
                <a:latin typeface="DejaVu Sans"/>
                <a:ea typeface="DejaVu Sans"/>
                <a:cs typeface="DejaVu Sans"/>
              </a:defRPr>
            </a:pPr>
            <a:r>
              <a:rPr sz="1425" b="1">
                <a:solidFill>
                  <a:srgbClr val="12324A"/>
                </a:solidFill>
                <a:latin typeface="DejaVu Sans"/>
                <a:ea typeface="DejaVu Sans"/>
                <a:cs typeface="DejaVu Sans"/>
              </a:rPr>
              <a:t>The next revision should triage findings, decide which changes need canonical source updates, and preserve the frozen reviewed packages.</a:t>
            </a:r>
          </a:p>
        </p:txBody>
      </p:sp>
      <p:sp>
        <p:nvSpPr>
          <p:cNvPr id="13" name="">
            <a:extLst xmlns:a="http://schemas.openxmlformats.org/drawingml/2006/main">
              <a:ext uri="{FF2B5EF4-FFF2-40B4-BE49-F238E27FC236}">
                <a16:creationId xmlns:a16="http://schemas.microsoft.com/office/drawing/2014/main" id="{75ABDA84-168F-419A-8413-A7CD313B221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0943E1CD-D05A-41B6-ACFD-C11EB5B1E7FA}"/>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32</a:t>
            </a:r>
          </a:p>
        </p:txBody>
      </p:sp>
    </p:spTree>
    <p:extLst>
      <p:ext uri="{BB962C8B-B14F-4D97-AF65-F5344CB8AC3E}">
        <p14:creationId xmlns:p14="http://schemas.microsoft.com/office/powerpoint/2010/main" val="163525361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07360CA-A657-4849-979E-B5EEB4C9761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D28EFB8A-45F1-48E5-99A8-1A60B3ED565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Material design questions to resolve</a:t>
            </a:r>
          </a:p>
        </p:txBody>
      </p:sp>
      <p:sp>
        <p:nvSpPr>
          <p:cNvPr id="3" name="">
            <a:extLst xmlns:a="http://schemas.openxmlformats.org/drawingml/2006/main">
              <a:ext uri="{FF2B5EF4-FFF2-40B4-BE49-F238E27FC236}">
                <a16:creationId xmlns:a16="http://schemas.microsoft.com/office/drawing/2014/main" id="{289ADBA1-E679-4242-87F7-A85D41F092F9}"/>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431378-23F2-4CD5-B471-11307AE31F85}"/>
              </a:ext>
            </a:extLst>
          </p:cNvPr>
          <p:cNvSpPr>
            <a:spLocks xmlns:a="http://schemas.openxmlformats.org/drawingml/2006/main" noGrp="1"/>
          </p:cNvSpPr>
          <p:nvPr/>
        </p:nvSpPr>
        <p:spPr>
          <a:xfrm xmlns:a="http://schemas.openxmlformats.org/drawingml/2006/main">
            <a:off x="93345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Recovery authorization</a:t>
            </a:r>
          </a:p>
        </p:txBody>
      </p:sp>
      <p:sp>
        <p:nvSpPr>
          <p:cNvPr id="5" name="">
            <a:extLst xmlns:a="http://schemas.openxmlformats.org/drawingml/2006/main">
              <a:ext uri="{FF2B5EF4-FFF2-40B4-BE49-F238E27FC236}">
                <a16:creationId xmlns:a16="http://schemas.microsoft.com/office/drawing/2014/main" id="{A1FD4334-2869-4A89-BED5-4BCE194B0AEE}"/>
              </a:ext>
            </a:extLst>
          </p:cNvPr>
          <p:cNvSpPr>
            <a:spLocks xmlns:a="http://schemas.openxmlformats.org/drawingml/2006/main" noGrp="1"/>
          </p:cNvSpPr>
          <p:nvPr/>
        </p:nvSpPr>
        <p:spPr>
          <a:xfrm xmlns:a="http://schemas.openxmlformats.org/drawingml/2006/main">
            <a:off x="3695700" y="17716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may invoke rollback, containment or restoration, under which bounded conditions?</a:t>
            </a:r>
          </a:p>
        </p:txBody>
      </p:sp>
      <p:sp>
        <p:nvSpPr>
          <p:cNvPr id="6" name="">
            <a:extLst xmlns:a="http://schemas.openxmlformats.org/drawingml/2006/main">
              <a:ext uri="{FF2B5EF4-FFF2-40B4-BE49-F238E27FC236}">
                <a16:creationId xmlns:a16="http://schemas.microsoft.com/office/drawing/2014/main" id="{7C6135CF-0129-4402-8F50-CAEEF0CEAD5E}"/>
              </a:ext>
            </a:extLst>
          </p:cNvPr>
          <p:cNvSpPr>
            <a:spLocks xmlns:a="http://schemas.openxmlformats.org/drawingml/2006/main" noGrp="1"/>
          </p:cNvSpPr>
          <p:nvPr/>
        </p:nvSpPr>
        <p:spPr>
          <a:xfrm xmlns:a="http://schemas.openxmlformats.org/drawingml/2006/main">
            <a:off x="933450" y="22574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130CB5-A73A-483C-89D4-5E9EC7664605}"/>
              </a:ext>
            </a:extLst>
          </p:cNvPr>
          <p:cNvSpPr>
            <a:spLocks xmlns:a="http://schemas.openxmlformats.org/drawingml/2006/main" noGrp="1"/>
          </p:cNvSpPr>
          <p:nvPr/>
        </p:nvSpPr>
        <p:spPr>
          <a:xfrm xmlns:a="http://schemas.openxmlformats.org/drawingml/2006/main">
            <a:off x="933450" y="26289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Execution identity</a:t>
            </a:r>
          </a:p>
        </p:txBody>
      </p:sp>
      <p:sp>
        <p:nvSpPr>
          <p:cNvPr id="8" name="">
            <a:extLst xmlns:a="http://schemas.openxmlformats.org/drawingml/2006/main">
              <a:ext uri="{FF2B5EF4-FFF2-40B4-BE49-F238E27FC236}">
                <a16:creationId xmlns:a16="http://schemas.microsoft.com/office/drawing/2014/main" id="{B6EDA06A-2DEB-4030-AA78-B4982FCC51B9}"/>
              </a:ext>
            </a:extLst>
          </p:cNvPr>
          <p:cNvSpPr>
            <a:spLocks xmlns:a="http://schemas.openxmlformats.org/drawingml/2006/main" noGrp="1"/>
          </p:cNvSpPr>
          <p:nvPr/>
        </p:nvSpPr>
        <p:spPr>
          <a:xfrm xmlns:a="http://schemas.openxmlformats.org/drawingml/2006/main">
            <a:off x="3695700" y="26098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accountable identity acts at the destination, and how is delegation traceable?</a:t>
            </a:r>
          </a:p>
        </p:txBody>
      </p:sp>
      <p:sp>
        <p:nvSpPr>
          <p:cNvPr id="9" name="">
            <a:extLst xmlns:a="http://schemas.openxmlformats.org/drawingml/2006/main">
              <a:ext uri="{FF2B5EF4-FFF2-40B4-BE49-F238E27FC236}">
                <a16:creationId xmlns:a16="http://schemas.microsoft.com/office/drawing/2014/main" id="{0A6B4687-1461-4D49-A2AB-1E7B012AEA48}"/>
              </a:ext>
            </a:extLst>
          </p:cNvPr>
          <p:cNvSpPr>
            <a:spLocks xmlns:a="http://schemas.openxmlformats.org/drawingml/2006/main" noGrp="1"/>
          </p:cNvSpPr>
          <p:nvPr/>
        </p:nvSpPr>
        <p:spPr>
          <a:xfrm xmlns:a="http://schemas.openxmlformats.org/drawingml/2006/main">
            <a:off x="933450" y="30956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5F7EBD-F165-4F45-B9CB-3C45DB39F4BB}"/>
              </a:ext>
            </a:extLst>
          </p:cNvPr>
          <p:cNvSpPr>
            <a:spLocks xmlns:a="http://schemas.openxmlformats.org/drawingml/2006/main" noGrp="1"/>
          </p:cNvSpPr>
          <p:nvPr/>
        </p:nvSpPr>
        <p:spPr>
          <a:xfrm xmlns:a="http://schemas.openxmlformats.org/drawingml/2006/main">
            <a:off x="933450" y="34671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Approval binding</a:t>
            </a:r>
          </a:p>
        </p:txBody>
      </p:sp>
      <p:sp>
        <p:nvSpPr>
          <p:cNvPr id="11" name="">
            <a:extLst xmlns:a="http://schemas.openxmlformats.org/drawingml/2006/main">
              <a:ext uri="{FF2B5EF4-FFF2-40B4-BE49-F238E27FC236}">
                <a16:creationId xmlns:a16="http://schemas.microsoft.com/office/drawing/2014/main" id="{F6FC147B-FAC5-40F8-A236-75A9921FEB6B}"/>
              </a:ext>
            </a:extLst>
          </p:cNvPr>
          <p:cNvSpPr>
            <a:spLocks xmlns:a="http://schemas.openxmlformats.org/drawingml/2006/main" noGrp="1"/>
          </p:cNvSpPr>
          <p:nvPr/>
        </p:nvSpPr>
        <p:spPr>
          <a:xfrm xmlns:a="http://schemas.openxmlformats.org/drawingml/2006/main">
            <a:off x="3695700" y="34480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does a human view and approve the exact target, scope and material parameters?</a:t>
            </a:r>
          </a:p>
        </p:txBody>
      </p:sp>
      <p:sp>
        <p:nvSpPr>
          <p:cNvPr id="12" name="">
            <a:extLst xmlns:a="http://schemas.openxmlformats.org/drawingml/2006/main">
              <a:ext uri="{FF2B5EF4-FFF2-40B4-BE49-F238E27FC236}">
                <a16:creationId xmlns:a16="http://schemas.microsoft.com/office/drawing/2014/main" id="{000DBC6A-DCA3-4163-A85E-094BD7E8CA90}"/>
              </a:ext>
            </a:extLst>
          </p:cNvPr>
          <p:cNvSpPr>
            <a:spLocks xmlns:a="http://schemas.openxmlformats.org/drawingml/2006/main" noGrp="1"/>
          </p:cNvSpPr>
          <p:nvPr/>
        </p:nvSpPr>
        <p:spPr>
          <a:xfrm xmlns:a="http://schemas.openxmlformats.org/drawingml/2006/main">
            <a:off x="933450" y="39338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AB2C18-A588-49F4-BB48-442218BDEA20}"/>
              </a:ext>
            </a:extLst>
          </p:cNvPr>
          <p:cNvSpPr>
            <a:spLocks xmlns:a="http://schemas.openxmlformats.org/drawingml/2006/main" noGrp="1"/>
          </p:cNvSpPr>
          <p:nvPr/>
        </p:nvSpPr>
        <p:spPr>
          <a:xfrm xmlns:a="http://schemas.openxmlformats.org/drawingml/2006/main">
            <a:off x="933450" y="43053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Enforcement telemetry</a:t>
            </a:r>
          </a:p>
        </p:txBody>
      </p:sp>
      <p:sp>
        <p:nvSpPr>
          <p:cNvPr id="14" name="">
            <a:extLst xmlns:a="http://schemas.openxmlformats.org/drawingml/2006/main">
              <a:ext uri="{FF2B5EF4-FFF2-40B4-BE49-F238E27FC236}">
                <a16:creationId xmlns:a16="http://schemas.microsoft.com/office/drawing/2014/main" id="{18698610-720B-4DA2-8E32-65E8AEBA61F5}"/>
              </a:ext>
            </a:extLst>
          </p:cNvPr>
          <p:cNvSpPr>
            <a:spLocks xmlns:a="http://schemas.openxmlformats.org/drawingml/2006/main" noGrp="1"/>
          </p:cNvSpPr>
          <p:nvPr/>
        </p:nvSpPr>
        <p:spPr>
          <a:xfrm xmlns:a="http://schemas.openxmlformats.org/drawingml/2006/main">
            <a:off x="3695700" y="42862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 allow, hold and deny decisions enter the evidence and investigation path?</a:t>
            </a:r>
          </a:p>
        </p:txBody>
      </p:sp>
      <p:sp>
        <p:nvSpPr>
          <p:cNvPr id="15" name="">
            <a:extLst xmlns:a="http://schemas.openxmlformats.org/drawingml/2006/main">
              <a:ext uri="{FF2B5EF4-FFF2-40B4-BE49-F238E27FC236}">
                <a16:creationId xmlns:a16="http://schemas.microsoft.com/office/drawing/2014/main" id="{D68E3043-6683-4CD0-9E64-6697186C6D2F}"/>
              </a:ext>
            </a:extLst>
          </p:cNvPr>
          <p:cNvSpPr>
            <a:spLocks xmlns:a="http://schemas.openxmlformats.org/drawingml/2006/main" noGrp="1"/>
          </p:cNvSpPr>
          <p:nvPr/>
        </p:nvSpPr>
        <p:spPr>
          <a:xfrm xmlns:a="http://schemas.openxmlformats.org/drawingml/2006/main">
            <a:off x="933450" y="47720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1E43946-C69A-4AE0-B18C-3EC5D496F456}"/>
              </a:ext>
            </a:extLst>
          </p:cNvPr>
          <p:cNvSpPr>
            <a:spLocks xmlns:a="http://schemas.openxmlformats.org/drawingml/2006/main" noGrp="1"/>
          </p:cNvSpPr>
          <p:nvPr/>
        </p:nvSpPr>
        <p:spPr>
          <a:xfrm xmlns:a="http://schemas.openxmlformats.org/drawingml/2006/main">
            <a:off x="933450" y="51435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AI unavailable or manipulated</a:t>
            </a:r>
          </a:p>
        </p:txBody>
      </p:sp>
      <p:sp>
        <p:nvSpPr>
          <p:cNvPr id="17" name="">
            <a:extLst xmlns:a="http://schemas.openxmlformats.org/drawingml/2006/main">
              <a:ext uri="{FF2B5EF4-FFF2-40B4-BE49-F238E27FC236}">
                <a16:creationId xmlns:a16="http://schemas.microsoft.com/office/drawing/2014/main" id="{505B3CF4-3FF8-4505-B38B-E76BBD3D4A2B}"/>
              </a:ext>
            </a:extLst>
          </p:cNvPr>
          <p:cNvSpPr>
            <a:spLocks xmlns:a="http://schemas.openxmlformats.org/drawingml/2006/main" noGrp="1"/>
          </p:cNvSpPr>
          <p:nvPr/>
        </p:nvSpPr>
        <p:spPr>
          <a:xfrm xmlns:a="http://schemas.openxmlformats.org/drawingml/2006/main">
            <a:off x="3695700" y="51244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 people continue essential work and retain authority when AI assistance cannot be trusted?</a:t>
            </a:r>
          </a:p>
        </p:txBody>
      </p:sp>
      <p:sp>
        <p:nvSpPr>
          <p:cNvPr id="18" name="">
            <a:extLst xmlns:a="http://schemas.openxmlformats.org/drawingml/2006/main">
              <a:ext uri="{FF2B5EF4-FFF2-40B4-BE49-F238E27FC236}">
                <a16:creationId xmlns:a16="http://schemas.microsoft.com/office/drawing/2014/main" id="{BF3E3F50-0A65-4839-9816-9DEF0D754CDD}"/>
              </a:ext>
            </a:extLst>
          </p:cNvPr>
          <p:cNvSpPr>
            <a:spLocks xmlns:a="http://schemas.openxmlformats.org/drawingml/2006/main" noGrp="1"/>
          </p:cNvSpPr>
          <p:nvPr/>
        </p:nvSpPr>
        <p:spPr>
          <a:xfrm xmlns:a="http://schemas.openxmlformats.org/drawingml/2006/main">
            <a:off x="933450" y="56102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86D3096-0334-46E7-8F24-57557EE95A4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25568183-F527-42F2-81D2-9FD67186A2D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33</a:t>
            </a:r>
          </a:p>
        </p:txBody>
      </p:sp>
    </p:spTree>
    <p:extLst>
      <p:ext uri="{BB962C8B-B14F-4D97-AF65-F5344CB8AC3E}">
        <p14:creationId xmlns:p14="http://schemas.microsoft.com/office/powerpoint/2010/main" val="167196790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2D37AD1-7C5C-4417-88A0-54AAFD9D1BE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A41C9FB-7D88-4C51-965E-E012F68AD4F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Limits of the reference series</a:t>
            </a:r>
          </a:p>
        </p:txBody>
      </p:sp>
      <p:sp>
        <p:nvSpPr>
          <p:cNvPr id="3" name="">
            <a:extLst xmlns:a="http://schemas.openxmlformats.org/drawingml/2006/main">
              <a:ext uri="{FF2B5EF4-FFF2-40B4-BE49-F238E27FC236}">
                <a16:creationId xmlns:a16="http://schemas.microsoft.com/office/drawing/2014/main" id="{D7BBDE0F-BF4C-4C04-9EB6-6C9DE7146AA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96C0BF1-43B3-4690-BD37-E5029C154C65}"/>
              </a:ext>
            </a:extLst>
          </p:cNvPr>
          <p:cNvSpPr>
            <a:spLocks xmlns:a="http://schemas.openxmlformats.org/drawingml/2006/main" noGrp="1"/>
          </p:cNvSpPr>
          <p:nvPr/>
        </p:nvSpPr>
        <p:spPr>
          <a:xfrm xmlns:a="http://schemas.openxmlformats.org/drawingml/2006/main">
            <a:off x="762000" y="1666875"/>
            <a:ext cx="3333750" cy="2571750"/>
          </a:xfrm>
          <a:prstGeom xmlns:a="http://schemas.openxmlformats.org/drawingml/2006/main" prst="roundRect">
            <a:avLst>
              <a:gd name="adj" fmla="val 2963"/>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14B8EDC2-BB6F-4AE9-982C-6531C2A0D325}"/>
              </a:ext>
            </a:extLst>
          </p:cNvPr>
          <p:cNvSpPr>
            <a:spLocks xmlns:a="http://schemas.openxmlformats.org/drawingml/2006/main" noGrp="1"/>
          </p:cNvSpPr>
          <p:nvPr/>
        </p:nvSpPr>
        <p:spPr>
          <a:xfrm xmlns:a="http://schemas.openxmlformats.org/drawingml/2006/main">
            <a:off x="762000" y="1666875"/>
            <a:ext cx="66675" cy="25717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6ADD6CB-A6E5-48A7-B0A5-276EE87389F9}"/>
              </a:ext>
            </a:extLst>
          </p:cNvPr>
          <p:cNvSpPr>
            <a:spLocks xmlns:a="http://schemas.openxmlformats.org/drawingml/2006/main" noGrp="1"/>
          </p:cNvSpPr>
          <p:nvPr/>
        </p:nvSpPr>
        <p:spPr>
          <a:xfrm xmlns:a="http://schemas.openxmlformats.org/drawingml/2006/main">
            <a:off x="990600"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Logical, not physical</a:t>
            </a:r>
          </a:p>
        </p:txBody>
      </p:sp>
      <p:sp>
        <p:nvSpPr>
          <p:cNvPr id="7" name="">
            <a:extLst xmlns:a="http://schemas.openxmlformats.org/drawingml/2006/main">
              <a:ext uri="{FF2B5EF4-FFF2-40B4-BE49-F238E27FC236}">
                <a16:creationId xmlns:a16="http://schemas.microsoft.com/office/drawing/2014/main" id="{FCB86703-5DB4-4611-B95E-57DF43231CE2}"/>
              </a:ext>
            </a:extLst>
          </p:cNvPr>
          <p:cNvSpPr>
            <a:spLocks xmlns:a="http://schemas.openxmlformats.org/drawingml/2006/main" noGrp="1"/>
          </p:cNvSpPr>
          <p:nvPr/>
        </p:nvSpPr>
        <p:spPr>
          <a:xfrm xmlns:a="http://schemas.openxmlformats.org/drawingml/2006/main">
            <a:off x="990600"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box may map to several services. The diagrams do not prescribe topology, product or network placement.</a:t>
            </a:r>
          </a:p>
        </p:txBody>
      </p:sp>
      <p:sp>
        <p:nvSpPr>
          <p:cNvPr id="8" name="">
            <a:extLst xmlns:a="http://schemas.openxmlformats.org/drawingml/2006/main">
              <a:ext uri="{FF2B5EF4-FFF2-40B4-BE49-F238E27FC236}">
                <a16:creationId xmlns:a16="http://schemas.microsoft.com/office/drawing/2014/main" id="{BAC47610-31A6-4C23-B3AB-402A2ED1070E}"/>
              </a:ext>
            </a:extLst>
          </p:cNvPr>
          <p:cNvSpPr>
            <a:spLocks xmlns:a="http://schemas.openxmlformats.org/drawingml/2006/main" noGrp="1"/>
          </p:cNvSpPr>
          <p:nvPr/>
        </p:nvSpPr>
        <p:spPr>
          <a:xfrm xmlns:a="http://schemas.openxmlformats.org/drawingml/2006/main">
            <a:off x="4429125" y="1666875"/>
            <a:ext cx="333375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1A80C808-F879-454C-BA5E-F8A571158375}"/>
              </a:ext>
            </a:extLst>
          </p:cNvPr>
          <p:cNvSpPr>
            <a:spLocks xmlns:a="http://schemas.openxmlformats.org/drawingml/2006/main" noGrp="1"/>
          </p:cNvSpPr>
          <p:nvPr/>
        </p:nvSpPr>
        <p:spPr>
          <a:xfrm xmlns:a="http://schemas.openxmlformats.org/drawingml/2006/main">
            <a:off x="4429125" y="1666875"/>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5727DF9-BC5D-4516-8EB9-E2699BAD9256}"/>
              </a:ext>
            </a:extLst>
          </p:cNvPr>
          <p:cNvSpPr>
            <a:spLocks xmlns:a="http://schemas.openxmlformats.org/drawingml/2006/main" noGrp="1"/>
          </p:cNvSpPr>
          <p:nvPr/>
        </p:nvSpPr>
        <p:spPr>
          <a:xfrm xmlns:a="http://schemas.openxmlformats.org/drawingml/2006/main">
            <a:off x="4657725"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Cybersecurity scope</a:t>
            </a:r>
          </a:p>
        </p:txBody>
      </p:sp>
      <p:sp>
        <p:nvSpPr>
          <p:cNvPr id="11" name="">
            <a:extLst xmlns:a="http://schemas.openxmlformats.org/drawingml/2006/main">
              <a:ext uri="{FF2B5EF4-FFF2-40B4-BE49-F238E27FC236}">
                <a16:creationId xmlns:a16="http://schemas.microsoft.com/office/drawing/2014/main" id="{EA6FA3EE-AE72-488C-A930-A73213004754}"/>
              </a:ext>
            </a:extLst>
          </p:cNvPr>
          <p:cNvSpPr>
            <a:spLocks xmlns:a="http://schemas.openxmlformats.org/drawingml/2006/main" noGrp="1"/>
          </p:cNvSpPr>
          <p:nvPr/>
        </p:nvSpPr>
        <p:spPr>
          <a:xfrm xmlns:a="http://schemas.openxmlformats.org/drawingml/2006/main">
            <a:off x="4657725"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series connects to privacy, safety and business-quality issues without claiming to cover them.</a:t>
            </a:r>
          </a:p>
        </p:txBody>
      </p:sp>
      <p:sp>
        <p:nvSpPr>
          <p:cNvPr id="12" name="">
            <a:extLst xmlns:a="http://schemas.openxmlformats.org/drawingml/2006/main">
              <a:ext uri="{FF2B5EF4-FFF2-40B4-BE49-F238E27FC236}">
                <a16:creationId xmlns:a16="http://schemas.microsoft.com/office/drawing/2014/main" id="{1C7334CB-D726-402C-9B57-3D11044A9245}"/>
              </a:ext>
            </a:extLst>
          </p:cNvPr>
          <p:cNvSpPr>
            <a:spLocks xmlns:a="http://schemas.openxmlformats.org/drawingml/2006/main" noGrp="1"/>
          </p:cNvSpPr>
          <p:nvPr/>
        </p:nvSpPr>
        <p:spPr>
          <a:xfrm xmlns:a="http://schemas.openxmlformats.org/drawingml/2006/main">
            <a:off x="8096250" y="1666875"/>
            <a:ext cx="333375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7A42DC20-5F92-493C-8250-4EDA547F76EC}"/>
              </a:ext>
            </a:extLst>
          </p:cNvPr>
          <p:cNvSpPr>
            <a:spLocks xmlns:a="http://schemas.openxmlformats.org/drawingml/2006/main" noGrp="1"/>
          </p:cNvSpPr>
          <p:nvPr/>
        </p:nvSpPr>
        <p:spPr>
          <a:xfrm xmlns:a="http://schemas.openxmlformats.org/drawingml/2006/main">
            <a:off x="8096250" y="1666875"/>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708287D-1E94-4753-A764-523A646C84AE}"/>
              </a:ext>
            </a:extLst>
          </p:cNvPr>
          <p:cNvSpPr>
            <a:spLocks xmlns:a="http://schemas.openxmlformats.org/drawingml/2006/main" noGrp="1"/>
          </p:cNvSpPr>
          <p:nvPr/>
        </p:nvSpPr>
        <p:spPr>
          <a:xfrm xmlns:a="http://schemas.openxmlformats.org/drawingml/2006/main">
            <a:off x="8324850"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Evidence before confidence</a:t>
            </a:r>
          </a:p>
        </p:txBody>
      </p:sp>
      <p:sp>
        <p:nvSpPr>
          <p:cNvPr id="15" name="">
            <a:extLst xmlns:a="http://schemas.openxmlformats.org/drawingml/2006/main">
              <a:ext uri="{FF2B5EF4-FFF2-40B4-BE49-F238E27FC236}">
                <a16:creationId xmlns:a16="http://schemas.microsoft.com/office/drawing/2014/main" id="{83BFE640-B7FE-4CB3-991C-F14DF160CF81}"/>
              </a:ext>
            </a:extLst>
          </p:cNvPr>
          <p:cNvSpPr>
            <a:spLocks xmlns:a="http://schemas.openxmlformats.org/drawingml/2006/main" noGrp="1"/>
          </p:cNvSpPr>
          <p:nvPr/>
        </p:nvSpPr>
        <p:spPr>
          <a:xfrm xmlns:a="http://schemas.openxmlformats.org/drawingml/2006/main">
            <a:off x="8324850"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model explanation, tool acknowledgement or favorable demonstration does not establish local effectiveness.</a:t>
            </a:r>
          </a:p>
        </p:txBody>
      </p:sp>
      <p:sp>
        <p:nvSpPr>
          <p:cNvPr id="16" name="">
            <a:extLst xmlns:a="http://schemas.openxmlformats.org/drawingml/2006/main">
              <a:ext uri="{FF2B5EF4-FFF2-40B4-BE49-F238E27FC236}">
                <a16:creationId xmlns:a16="http://schemas.microsoft.com/office/drawing/2014/main" id="{9130F1AA-12F3-4C15-B187-CA00A0D065E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7EB6A247-F11C-4A46-9A36-460520B25D7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34</a:t>
            </a:r>
          </a:p>
        </p:txBody>
      </p:sp>
    </p:spTree>
    <p:extLst>
      <p:ext uri="{BB962C8B-B14F-4D97-AF65-F5344CB8AC3E}">
        <p14:creationId xmlns:p14="http://schemas.microsoft.com/office/powerpoint/2010/main" val="34131486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DE91480-B349-4524-965E-40091B0E6AD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C71C6F8D-57D8-4C86-96FF-982D8CFD31C6}"/>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Appendix: terms used in this deck</a:t>
            </a:r>
          </a:p>
        </p:txBody>
      </p:sp>
      <p:sp>
        <p:nvSpPr>
          <p:cNvPr id="3" name="">
            <a:extLst xmlns:a="http://schemas.openxmlformats.org/drawingml/2006/main">
              <a:ext uri="{FF2B5EF4-FFF2-40B4-BE49-F238E27FC236}">
                <a16:creationId xmlns:a16="http://schemas.microsoft.com/office/drawing/2014/main" id="{54C32121-CCF2-4C81-8DD5-D48D4C39CAAD}"/>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618C69E-8CAA-487D-AAC3-3C30F2E429E9}"/>
              </a:ext>
            </a:extLst>
          </p:cNvPr>
          <p:cNvSpPr>
            <a:spLocks xmlns:a="http://schemas.openxmlformats.org/drawingml/2006/main" noGrp="1"/>
          </p:cNvSpPr>
          <p:nvPr/>
        </p:nvSpPr>
        <p:spPr>
          <a:xfrm xmlns:a="http://schemas.openxmlformats.org/drawingml/2006/main">
            <a:off x="933450" y="17145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Authorization</a:t>
            </a:r>
          </a:p>
        </p:txBody>
      </p:sp>
      <p:sp>
        <p:nvSpPr>
          <p:cNvPr id="5" name="">
            <a:extLst xmlns:a="http://schemas.openxmlformats.org/drawingml/2006/main">
              <a:ext uri="{FF2B5EF4-FFF2-40B4-BE49-F238E27FC236}">
                <a16:creationId xmlns:a16="http://schemas.microsoft.com/office/drawing/2014/main" id="{2EFE55EB-8262-4264-9DC5-CA0F2C7BE7FB}"/>
              </a:ext>
            </a:extLst>
          </p:cNvPr>
          <p:cNvSpPr>
            <a:spLocks xmlns:a="http://schemas.openxmlformats.org/drawingml/2006/main" noGrp="1"/>
          </p:cNvSpPr>
          <p:nvPr/>
        </p:nvSpPr>
        <p:spPr>
          <a:xfrm xmlns:a="http://schemas.openxmlformats.org/drawingml/2006/main">
            <a:off x="3695700" y="16954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Deciding whether an identity may perform an action on a target in the current context.</a:t>
            </a:r>
          </a:p>
        </p:txBody>
      </p:sp>
      <p:sp>
        <p:nvSpPr>
          <p:cNvPr id="6" name="">
            <a:extLst xmlns:a="http://schemas.openxmlformats.org/drawingml/2006/main">
              <a:ext uri="{FF2B5EF4-FFF2-40B4-BE49-F238E27FC236}">
                <a16:creationId xmlns:a16="http://schemas.microsoft.com/office/drawing/2014/main" id="{C3E72E00-68DD-4973-A0DA-3DB2130E3E32}"/>
              </a:ext>
            </a:extLst>
          </p:cNvPr>
          <p:cNvSpPr>
            <a:spLocks xmlns:a="http://schemas.openxmlformats.org/drawingml/2006/main" noGrp="1"/>
          </p:cNvSpPr>
          <p:nvPr/>
        </p:nvSpPr>
        <p:spPr>
          <a:xfrm xmlns:a="http://schemas.openxmlformats.org/drawingml/2006/main">
            <a:off x="933450" y="21812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9B64A5-269A-46F6-ADD1-B017F96A038F}"/>
              </a:ext>
            </a:extLst>
          </p:cNvPr>
          <p:cNvSpPr>
            <a:spLocks xmlns:a="http://schemas.openxmlformats.org/drawingml/2006/main" noGrp="1"/>
          </p:cNvSpPr>
          <p:nvPr/>
        </p:nvSpPr>
        <p:spPr>
          <a:xfrm xmlns:a="http://schemas.openxmlformats.org/drawingml/2006/main">
            <a:off x="933450" y="24574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Non-human identity</a:t>
            </a:r>
          </a:p>
        </p:txBody>
      </p:sp>
      <p:sp>
        <p:nvSpPr>
          <p:cNvPr id="8" name="">
            <a:extLst xmlns:a="http://schemas.openxmlformats.org/drawingml/2006/main">
              <a:ext uri="{FF2B5EF4-FFF2-40B4-BE49-F238E27FC236}">
                <a16:creationId xmlns:a16="http://schemas.microsoft.com/office/drawing/2014/main" id="{A856F468-A094-45DC-B224-26C0727CD8D3}"/>
              </a:ext>
            </a:extLst>
          </p:cNvPr>
          <p:cNvSpPr>
            <a:spLocks xmlns:a="http://schemas.openxmlformats.org/drawingml/2006/main" noGrp="1"/>
          </p:cNvSpPr>
          <p:nvPr/>
        </p:nvSpPr>
        <p:spPr>
          <a:xfrm xmlns:a="http://schemas.openxmlformats.org/drawingml/2006/main">
            <a:off x="3695700" y="24384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An identity assigned to an application or automated workflow.</a:t>
            </a:r>
          </a:p>
        </p:txBody>
      </p:sp>
      <p:sp>
        <p:nvSpPr>
          <p:cNvPr id="9" name="">
            <a:extLst xmlns:a="http://schemas.openxmlformats.org/drawingml/2006/main">
              <a:ext uri="{FF2B5EF4-FFF2-40B4-BE49-F238E27FC236}">
                <a16:creationId xmlns:a16="http://schemas.microsoft.com/office/drawing/2014/main" id="{81C6E3DC-D563-43BB-9D5B-B3EE1EBC8AFA}"/>
              </a:ext>
            </a:extLst>
          </p:cNvPr>
          <p:cNvSpPr>
            <a:spLocks xmlns:a="http://schemas.openxmlformats.org/drawingml/2006/main" noGrp="1"/>
          </p:cNvSpPr>
          <p:nvPr/>
        </p:nvSpPr>
        <p:spPr>
          <a:xfrm xmlns:a="http://schemas.openxmlformats.org/drawingml/2006/main">
            <a:off x="933450" y="29241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E572AF2-4761-4F8C-A5B4-567DE0DC11A1}"/>
              </a:ext>
            </a:extLst>
          </p:cNvPr>
          <p:cNvSpPr>
            <a:spLocks xmlns:a="http://schemas.openxmlformats.org/drawingml/2006/main" noGrp="1"/>
          </p:cNvSpPr>
          <p:nvPr/>
        </p:nvSpPr>
        <p:spPr>
          <a:xfrm xmlns:a="http://schemas.openxmlformats.org/drawingml/2006/main">
            <a:off x="933450" y="32004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Prompt injection</a:t>
            </a:r>
          </a:p>
        </p:txBody>
      </p:sp>
      <p:sp>
        <p:nvSpPr>
          <p:cNvPr id="11" name="">
            <a:extLst xmlns:a="http://schemas.openxmlformats.org/drawingml/2006/main">
              <a:ext uri="{FF2B5EF4-FFF2-40B4-BE49-F238E27FC236}">
                <a16:creationId xmlns:a16="http://schemas.microsoft.com/office/drawing/2014/main" id="{5918E2B7-C2DA-4321-98A2-382E1B7801EA}"/>
              </a:ext>
            </a:extLst>
          </p:cNvPr>
          <p:cNvSpPr>
            <a:spLocks xmlns:a="http://schemas.openxmlformats.org/drawingml/2006/main" noGrp="1"/>
          </p:cNvSpPr>
          <p:nvPr/>
        </p:nvSpPr>
        <p:spPr>
          <a:xfrm xmlns:a="http://schemas.openxmlformats.org/drawingml/2006/main">
            <a:off x="3695700" y="3181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Untrusted content that tries to redirect an AI workflow or misuse its permitted access.</a:t>
            </a:r>
          </a:p>
        </p:txBody>
      </p:sp>
      <p:sp>
        <p:nvSpPr>
          <p:cNvPr id="12" name="">
            <a:extLst xmlns:a="http://schemas.openxmlformats.org/drawingml/2006/main">
              <a:ext uri="{FF2B5EF4-FFF2-40B4-BE49-F238E27FC236}">
                <a16:creationId xmlns:a16="http://schemas.microsoft.com/office/drawing/2014/main" id="{E59FE0EA-16DD-4482-A03A-E64C269DFE4D}"/>
              </a:ext>
            </a:extLst>
          </p:cNvPr>
          <p:cNvSpPr>
            <a:spLocks xmlns:a="http://schemas.openxmlformats.org/drawingml/2006/main" noGrp="1"/>
          </p:cNvSpPr>
          <p:nvPr/>
        </p:nvSpPr>
        <p:spPr>
          <a:xfrm xmlns:a="http://schemas.openxmlformats.org/drawingml/2006/main">
            <a:off x="933450" y="36671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DA0B4BC-5612-41F3-8DFA-4E8054EE8394}"/>
              </a:ext>
            </a:extLst>
          </p:cNvPr>
          <p:cNvSpPr>
            <a:spLocks xmlns:a="http://schemas.openxmlformats.org/drawingml/2006/main" noGrp="1"/>
          </p:cNvSpPr>
          <p:nvPr/>
        </p:nvSpPr>
        <p:spPr>
          <a:xfrm xmlns:a="http://schemas.openxmlformats.org/drawingml/2006/main">
            <a:off x="933450" y="3943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61717D"/>
                </a:solidFill>
                <a:latin typeface="DejaVu Sans"/>
                <a:ea typeface="DejaVu Sans"/>
                <a:cs typeface="DejaVu Sans"/>
              </a:defRPr>
            </a:pPr>
            <a:r>
              <a:rPr sz="1125" b="1">
                <a:solidFill>
                  <a:srgbClr val="61717D"/>
                </a:solidFill>
                <a:latin typeface="DejaVu Sans"/>
                <a:ea typeface="DejaVu Sans"/>
                <a:cs typeface="DejaVu Sans"/>
              </a:rPr>
              <a:t>Provenance</a:t>
            </a:r>
          </a:p>
        </p:txBody>
      </p:sp>
      <p:sp>
        <p:nvSpPr>
          <p:cNvPr id="14" name="">
            <a:extLst xmlns:a="http://schemas.openxmlformats.org/drawingml/2006/main">
              <a:ext uri="{FF2B5EF4-FFF2-40B4-BE49-F238E27FC236}">
                <a16:creationId xmlns:a16="http://schemas.microsoft.com/office/drawing/2014/main" id="{B4F4CFFE-6EDE-4FF3-A122-B5DB63FF6A4C}"/>
              </a:ext>
            </a:extLst>
          </p:cNvPr>
          <p:cNvSpPr>
            <a:spLocks xmlns:a="http://schemas.openxmlformats.org/drawingml/2006/main" noGrp="1"/>
          </p:cNvSpPr>
          <p:nvPr/>
        </p:nvSpPr>
        <p:spPr>
          <a:xfrm xmlns:a="http://schemas.openxmlformats.org/drawingml/2006/main">
            <a:off x="3695700" y="39243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Where information came from and how it was obtained.</a:t>
            </a:r>
          </a:p>
        </p:txBody>
      </p:sp>
      <p:sp>
        <p:nvSpPr>
          <p:cNvPr id="15" name="">
            <a:extLst xmlns:a="http://schemas.openxmlformats.org/drawingml/2006/main">
              <a:ext uri="{FF2B5EF4-FFF2-40B4-BE49-F238E27FC236}">
                <a16:creationId xmlns:a16="http://schemas.microsoft.com/office/drawing/2014/main" id="{82872EB6-ACDF-4F55-A597-03419EAF9554}"/>
              </a:ext>
            </a:extLst>
          </p:cNvPr>
          <p:cNvSpPr>
            <a:spLocks xmlns:a="http://schemas.openxmlformats.org/drawingml/2006/main" noGrp="1"/>
          </p:cNvSpPr>
          <p:nvPr/>
        </p:nvSpPr>
        <p:spPr>
          <a:xfrm xmlns:a="http://schemas.openxmlformats.org/drawingml/2006/main">
            <a:off x="933450" y="44100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9A5144E-7D31-461C-AF4E-0906785D1009}"/>
              </a:ext>
            </a:extLst>
          </p:cNvPr>
          <p:cNvSpPr>
            <a:spLocks xmlns:a="http://schemas.openxmlformats.org/drawingml/2006/main" noGrp="1"/>
          </p:cNvSpPr>
          <p:nvPr/>
        </p:nvSpPr>
        <p:spPr>
          <a:xfrm xmlns:a="http://schemas.openxmlformats.org/drawingml/2006/main">
            <a:off x="933450" y="46863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Autonomy limit</a:t>
            </a:r>
          </a:p>
        </p:txBody>
      </p:sp>
      <p:sp>
        <p:nvSpPr>
          <p:cNvPr id="17" name="">
            <a:extLst xmlns:a="http://schemas.openxmlformats.org/drawingml/2006/main">
              <a:ext uri="{FF2B5EF4-FFF2-40B4-BE49-F238E27FC236}">
                <a16:creationId xmlns:a16="http://schemas.microsoft.com/office/drawing/2014/main" id="{324428BB-0366-4597-A88C-A1AF3EAD6DB5}"/>
              </a:ext>
            </a:extLst>
          </p:cNvPr>
          <p:cNvSpPr>
            <a:spLocks xmlns:a="http://schemas.openxmlformats.org/drawingml/2006/main" noGrp="1"/>
          </p:cNvSpPr>
          <p:nvPr/>
        </p:nvSpPr>
        <p:spPr>
          <a:xfrm xmlns:a="http://schemas.openxmlformats.org/drawingml/2006/main">
            <a:off x="3695700" y="46672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Actions a workflow may take without a new human decision.</a:t>
            </a:r>
          </a:p>
        </p:txBody>
      </p:sp>
      <p:sp>
        <p:nvSpPr>
          <p:cNvPr id="18" name="">
            <a:extLst xmlns:a="http://schemas.openxmlformats.org/drawingml/2006/main">
              <a:ext uri="{FF2B5EF4-FFF2-40B4-BE49-F238E27FC236}">
                <a16:creationId xmlns:a16="http://schemas.microsoft.com/office/drawing/2014/main" id="{6DFE6D65-D1C7-4087-BEE0-E299B2DD76D3}"/>
              </a:ext>
            </a:extLst>
          </p:cNvPr>
          <p:cNvSpPr>
            <a:spLocks xmlns:a="http://schemas.openxmlformats.org/drawingml/2006/main" noGrp="1"/>
          </p:cNvSpPr>
          <p:nvPr/>
        </p:nvSpPr>
        <p:spPr>
          <a:xfrm xmlns:a="http://schemas.openxmlformats.org/drawingml/2006/main">
            <a:off x="933450" y="51530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F44D63A-F291-4102-838A-2B4E8950C63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3202CA50-650D-49FB-AB2C-7695E200F51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35</a:t>
            </a:r>
          </a:p>
        </p:txBody>
      </p:sp>
    </p:spTree>
    <p:extLst>
      <p:ext uri="{BB962C8B-B14F-4D97-AF65-F5344CB8AC3E}">
        <p14:creationId xmlns:p14="http://schemas.microsoft.com/office/powerpoint/2010/main" val="43908245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8208D1-2C1A-4B6D-8245-28E2AC07CD0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A559DEB-5603-4905-BFEE-3D65D81B9CA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Appendix: source basis</a:t>
            </a:r>
          </a:p>
        </p:txBody>
      </p:sp>
      <p:sp>
        <p:nvSpPr>
          <p:cNvPr id="3" name="">
            <a:extLst xmlns:a="http://schemas.openxmlformats.org/drawingml/2006/main">
              <a:ext uri="{FF2B5EF4-FFF2-40B4-BE49-F238E27FC236}">
                <a16:creationId xmlns:a16="http://schemas.microsoft.com/office/drawing/2014/main" id="{F1E42864-2873-42D7-A584-EF9A236D0547}"/>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711A91-F771-4253-9F56-A72FFBA56F6F}"/>
              </a:ext>
            </a:extLst>
          </p:cNvPr>
          <p:cNvSpPr>
            <a:spLocks xmlns:a="http://schemas.openxmlformats.org/drawingml/2006/main" noGrp="1"/>
          </p:cNvSpPr>
          <p:nvPr/>
        </p:nvSpPr>
        <p:spPr>
          <a:xfrm xmlns:a="http://schemas.openxmlformats.org/drawingml/2006/main">
            <a:off x="876300" y="1638300"/>
            <a:ext cx="1009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182B3A"/>
                </a:solidFill>
                <a:latin typeface="DejaVu Sans"/>
                <a:ea typeface="DejaVu Sans"/>
                <a:cs typeface="DejaVu Sans"/>
              </a:defRPr>
            </a:pPr>
            <a:r>
              <a:rPr sz="1575">
                <a:solidFill>
                  <a:srgbClr val="182B3A"/>
                </a:solidFill>
                <a:latin typeface="DejaVu Sans"/>
                <a:ea typeface="DejaVu Sans"/>
                <a:cs typeface="DejaVu Sans"/>
              </a:rPr>
              <a:t>This series synthesizes proposed architecture patterns from its canonical Markdown and guides. The primary sources below inform risk selection and questions; they do not approve the design.</a:t>
            </a:r>
          </a:p>
        </p:txBody>
      </p:sp>
      <p:sp>
        <p:nvSpPr>
          <p:cNvPr id="5" name="">
            <a:extLst xmlns:a="http://schemas.openxmlformats.org/drawingml/2006/main">
              <a:ext uri="{FF2B5EF4-FFF2-40B4-BE49-F238E27FC236}">
                <a16:creationId xmlns:a16="http://schemas.microsoft.com/office/drawing/2014/main" id="{A00123DE-999D-4256-8645-EC3A58604201}"/>
              </a:ext>
            </a:extLst>
          </p:cNvPr>
          <p:cNvSpPr>
            <a:spLocks xmlns:a="http://schemas.openxmlformats.org/drawingml/2006/main" noGrp="1"/>
          </p:cNvSpPr>
          <p:nvPr/>
        </p:nvSpPr>
        <p:spPr>
          <a:xfrm xmlns:a="http://schemas.openxmlformats.org/drawingml/2006/main">
            <a:off x="1143000" y="2619375"/>
            <a:ext cx="9906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NIST Cyber AI Profile project</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MITRE ATT&amp;CK and ATLAS</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NCSC guidance on agentic AI and Cyber Shield</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OWASP GenAI LLM Top 10 and Agentic Applications Top 10</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CISA guidance on phishing-resistant MFA</a:t>
            </a:r>
          </a:p>
        </p:txBody>
      </p:sp>
      <p:sp>
        <p:nvSpPr>
          <p:cNvPr id="6" name="">
            <a:extLst xmlns:a="http://schemas.openxmlformats.org/drawingml/2006/main">
              <a:ext uri="{FF2B5EF4-FFF2-40B4-BE49-F238E27FC236}">
                <a16:creationId xmlns:a16="http://schemas.microsoft.com/office/drawing/2014/main" id="{7DE80E4F-E0DA-4631-ACB1-2EA43B6ABC4D}"/>
              </a:ext>
            </a:extLst>
          </p:cNvPr>
          <p:cNvSpPr>
            <a:spLocks xmlns:a="http://schemas.openxmlformats.org/drawingml/2006/main" noGrp="1"/>
          </p:cNvSpPr>
          <p:nvPr/>
        </p:nvSpPr>
        <p:spPr>
          <a:xfrm xmlns:a="http://schemas.openxmlformats.org/drawingml/2006/main">
            <a:off x="914400" y="5095875"/>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61717D"/>
                </a:solidFill>
                <a:latin typeface="DejaVu Sans"/>
                <a:ea typeface="DejaVu Sans"/>
                <a:cs typeface="DejaVu Sans"/>
              </a:defRPr>
            </a:pPr>
            <a:r>
              <a:rPr sz="1425">
                <a:solidFill>
                  <a:srgbClr val="61717D"/>
                </a:solidFill>
                <a:latin typeface="DejaVu Sans"/>
                <a:ea typeface="DejaVu Sans"/>
                <a:cs typeface="DejaVu Sans"/>
              </a:rPr>
              <a:t>Complete links and source-status notes appear in the canonical Markdown and detailed guides.</a:t>
            </a:r>
          </a:p>
        </p:txBody>
      </p:sp>
      <p:sp>
        <p:nvSpPr>
          <p:cNvPr id="7" name="">
            <a:extLst xmlns:a="http://schemas.openxmlformats.org/drawingml/2006/main">
              <a:ext uri="{FF2B5EF4-FFF2-40B4-BE49-F238E27FC236}">
                <a16:creationId xmlns:a16="http://schemas.microsoft.com/office/drawing/2014/main" id="{2BE75C8A-ED76-41B6-9F74-170A41F2915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8" name="">
            <a:extLst xmlns:a="http://schemas.openxmlformats.org/drawingml/2006/main">
              <a:ext uri="{FF2B5EF4-FFF2-40B4-BE49-F238E27FC236}">
                <a16:creationId xmlns:a16="http://schemas.microsoft.com/office/drawing/2014/main" id="{31660F21-33EE-4F68-B2D0-DCDFFB849E0A}"/>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36</a:t>
            </a:r>
          </a:p>
        </p:txBody>
      </p:sp>
    </p:spTree>
    <p:extLst>
      <p:ext uri="{BB962C8B-B14F-4D97-AF65-F5344CB8AC3E}">
        <p14:creationId xmlns:p14="http://schemas.microsoft.com/office/powerpoint/2010/main" val="29712492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6760BE-E62E-4C37-8008-1E5E9EE25CF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65BC14A5-0722-4367-A063-ECAB177089FD}"/>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Discussion guide</a:t>
            </a:r>
          </a:p>
        </p:txBody>
      </p:sp>
      <p:sp>
        <p:nvSpPr>
          <p:cNvPr id="3" name="">
            <a:extLst xmlns:a="http://schemas.openxmlformats.org/drawingml/2006/main">
              <a:ext uri="{FF2B5EF4-FFF2-40B4-BE49-F238E27FC236}">
                <a16:creationId xmlns:a16="http://schemas.microsoft.com/office/drawing/2014/main" id="{2B5F1814-FA7B-4E04-A885-40ACB3BF6580}"/>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9D29998-6FA8-4A9E-B239-8423CB059009}"/>
              </a:ext>
            </a:extLst>
          </p:cNvPr>
          <p:cNvSpPr>
            <a:spLocks xmlns:a="http://schemas.openxmlformats.org/drawingml/2006/main" noGrp="1"/>
          </p:cNvSpPr>
          <p:nvPr/>
        </p:nvSpPr>
        <p:spPr>
          <a:xfrm xmlns:a="http://schemas.openxmlformats.org/drawingml/2006/main">
            <a:off x="895350" y="179070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2324A"/>
                </a:solidFill>
                <a:latin typeface="DejaVu Sans"/>
                <a:ea typeface="DejaVu Sans"/>
                <a:cs typeface="DejaVu Sans"/>
              </a:defRPr>
            </a:pPr>
            <a:r>
              <a:rPr sz="2175" b="1">
                <a:solidFill>
                  <a:srgbClr val="12324A"/>
                </a:solidFill>
                <a:latin typeface="DejaVu Sans"/>
                <a:ea typeface="DejaVu Sans"/>
                <a:cs typeface="DejaVu Sans"/>
              </a:rPr>
              <a:t>A useful next conversation starts with one workflow or security task.</a:t>
            </a:r>
          </a:p>
        </p:txBody>
      </p:sp>
      <p:sp>
        <p:nvSpPr>
          <p:cNvPr id="5" name="">
            <a:extLst xmlns:a="http://schemas.openxmlformats.org/drawingml/2006/main">
              <a:ext uri="{FF2B5EF4-FFF2-40B4-BE49-F238E27FC236}">
                <a16:creationId xmlns:a16="http://schemas.microsoft.com/office/drawing/2014/main" id="{92121047-15AB-443A-9721-70DA387BF752}"/>
              </a:ext>
            </a:extLst>
          </p:cNvPr>
          <p:cNvSpPr>
            <a:spLocks xmlns:a="http://schemas.openxmlformats.org/drawingml/2006/main" noGrp="1"/>
          </p:cNvSpPr>
          <p:nvPr/>
        </p:nvSpPr>
        <p:spPr>
          <a:xfrm xmlns:a="http://schemas.openxmlformats.org/drawingml/2006/main">
            <a:off x="933450" y="2762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1</a:t>
            </a:r>
          </a:p>
        </p:txBody>
      </p:sp>
      <p:sp>
        <p:nvSpPr>
          <p:cNvPr id="6" name="">
            <a:extLst xmlns:a="http://schemas.openxmlformats.org/drawingml/2006/main">
              <a:ext uri="{FF2B5EF4-FFF2-40B4-BE49-F238E27FC236}">
                <a16:creationId xmlns:a16="http://schemas.microsoft.com/office/drawing/2014/main" id="{70AD3075-56EE-4B9D-8A56-E9BE7BE3A996}"/>
              </a:ext>
            </a:extLst>
          </p:cNvPr>
          <p:cNvSpPr>
            <a:spLocks xmlns:a="http://schemas.openxmlformats.org/drawingml/2006/main" noGrp="1"/>
          </p:cNvSpPr>
          <p:nvPr/>
        </p:nvSpPr>
        <p:spPr>
          <a:xfrm xmlns:a="http://schemas.openxmlformats.org/drawingml/2006/main">
            <a:off x="3695700" y="2743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outcome must the workflow or response protect?</a:t>
            </a:r>
          </a:p>
        </p:txBody>
      </p:sp>
      <p:sp>
        <p:nvSpPr>
          <p:cNvPr id="7" name="">
            <a:extLst xmlns:a="http://schemas.openxmlformats.org/drawingml/2006/main">
              <a:ext uri="{FF2B5EF4-FFF2-40B4-BE49-F238E27FC236}">
                <a16:creationId xmlns:a16="http://schemas.microsoft.com/office/drawing/2014/main" id="{C7C6DAC3-6F7C-4755-9FC1-5E1EECAEEFC1}"/>
              </a:ext>
            </a:extLst>
          </p:cNvPr>
          <p:cNvSpPr>
            <a:spLocks xmlns:a="http://schemas.openxmlformats.org/drawingml/2006/main" noGrp="1"/>
          </p:cNvSpPr>
          <p:nvPr/>
        </p:nvSpPr>
        <p:spPr>
          <a:xfrm xmlns:a="http://schemas.openxmlformats.org/drawingml/2006/main">
            <a:off x="933450" y="3228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F59080-01BF-47BA-BD0D-6FFC202608B6}"/>
              </a:ext>
            </a:extLst>
          </p:cNvPr>
          <p:cNvSpPr>
            <a:spLocks xmlns:a="http://schemas.openxmlformats.org/drawingml/2006/main" noGrp="1"/>
          </p:cNvSpPr>
          <p:nvPr/>
        </p:nvSpPr>
        <p:spPr>
          <a:xfrm xmlns:a="http://schemas.openxmlformats.org/drawingml/2006/main">
            <a:off x="933450" y="3524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2</a:t>
            </a:r>
          </a:p>
        </p:txBody>
      </p:sp>
      <p:sp>
        <p:nvSpPr>
          <p:cNvPr id="9" name="">
            <a:extLst xmlns:a="http://schemas.openxmlformats.org/drawingml/2006/main">
              <a:ext uri="{FF2B5EF4-FFF2-40B4-BE49-F238E27FC236}">
                <a16:creationId xmlns:a16="http://schemas.microsoft.com/office/drawing/2014/main" id="{A1719606-2267-49DC-8B79-17C5393D1085}"/>
              </a:ext>
            </a:extLst>
          </p:cNvPr>
          <p:cNvSpPr>
            <a:spLocks xmlns:a="http://schemas.openxmlformats.org/drawingml/2006/main" noGrp="1"/>
          </p:cNvSpPr>
          <p:nvPr/>
        </p:nvSpPr>
        <p:spPr>
          <a:xfrm xmlns:a="http://schemas.openxmlformats.org/drawingml/2006/main">
            <a:off x="3695700" y="3505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may the AI read, propose or do, and where does a person decide?</a:t>
            </a:r>
          </a:p>
        </p:txBody>
      </p:sp>
      <p:sp>
        <p:nvSpPr>
          <p:cNvPr id="10" name="">
            <a:extLst xmlns:a="http://schemas.openxmlformats.org/drawingml/2006/main">
              <a:ext uri="{FF2B5EF4-FFF2-40B4-BE49-F238E27FC236}">
                <a16:creationId xmlns:a16="http://schemas.microsoft.com/office/drawing/2014/main" id="{EA749184-4188-4B07-BD75-5C8401397C5E}"/>
              </a:ext>
            </a:extLst>
          </p:cNvPr>
          <p:cNvSpPr>
            <a:spLocks xmlns:a="http://schemas.openxmlformats.org/drawingml/2006/main" noGrp="1"/>
          </p:cNvSpPr>
          <p:nvPr/>
        </p:nvSpPr>
        <p:spPr>
          <a:xfrm xmlns:a="http://schemas.openxmlformats.org/drawingml/2006/main">
            <a:off x="933450" y="3990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D5AE20-085B-430E-A19E-45C4B50787E0}"/>
              </a:ext>
            </a:extLst>
          </p:cNvPr>
          <p:cNvSpPr>
            <a:spLocks xmlns:a="http://schemas.openxmlformats.org/drawingml/2006/main" noGrp="1"/>
          </p:cNvSpPr>
          <p:nvPr/>
        </p:nvSpPr>
        <p:spPr>
          <a:xfrm xmlns:a="http://schemas.openxmlformats.org/drawingml/2006/main">
            <a:off x="933450" y="4286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3</a:t>
            </a:r>
          </a:p>
        </p:txBody>
      </p:sp>
      <p:sp>
        <p:nvSpPr>
          <p:cNvPr id="12" name="">
            <a:extLst xmlns:a="http://schemas.openxmlformats.org/drawingml/2006/main">
              <a:ext uri="{FF2B5EF4-FFF2-40B4-BE49-F238E27FC236}">
                <a16:creationId xmlns:a16="http://schemas.microsoft.com/office/drawing/2014/main" id="{530D64C2-0871-48B5-BC61-2A4B0F67576C}"/>
              </a:ext>
            </a:extLst>
          </p:cNvPr>
          <p:cNvSpPr>
            <a:spLocks xmlns:a="http://schemas.openxmlformats.org/drawingml/2006/main" noGrp="1"/>
          </p:cNvSpPr>
          <p:nvPr/>
        </p:nvSpPr>
        <p:spPr>
          <a:xfrm xmlns:a="http://schemas.openxmlformats.org/drawingml/2006/main">
            <a:off x="3695700" y="4267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source evidence verifies the action and supports recovery if it goes wrong?</a:t>
            </a:r>
          </a:p>
        </p:txBody>
      </p:sp>
      <p:sp>
        <p:nvSpPr>
          <p:cNvPr id="13" name="">
            <a:extLst xmlns:a="http://schemas.openxmlformats.org/drawingml/2006/main">
              <a:ext uri="{FF2B5EF4-FFF2-40B4-BE49-F238E27FC236}">
                <a16:creationId xmlns:a16="http://schemas.microsoft.com/office/drawing/2014/main" id="{B9814E0E-BF68-420B-BE4A-E88F1C5F2491}"/>
              </a:ext>
            </a:extLst>
          </p:cNvPr>
          <p:cNvSpPr>
            <a:spLocks xmlns:a="http://schemas.openxmlformats.org/drawingml/2006/main" noGrp="1"/>
          </p:cNvSpPr>
          <p:nvPr/>
        </p:nvSpPr>
        <p:spPr>
          <a:xfrm xmlns:a="http://schemas.openxmlformats.org/drawingml/2006/main">
            <a:off x="933450" y="4752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8ADA4A-EB7E-48C1-AEC4-2E6AA5CC5B03}"/>
              </a:ext>
            </a:extLst>
          </p:cNvPr>
          <p:cNvSpPr>
            <a:spLocks xmlns:a="http://schemas.openxmlformats.org/drawingml/2006/main" noGrp="1"/>
          </p:cNvSpPr>
          <p:nvPr/>
        </p:nvSpPr>
        <p:spPr>
          <a:xfrm xmlns:a="http://schemas.openxmlformats.org/drawingml/2006/main">
            <a:off x="895350" y="531495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182B3A"/>
                </a:solidFill>
                <a:latin typeface="DejaVu Sans"/>
                <a:ea typeface="DejaVu Sans"/>
                <a:cs typeface="DejaVu Sans"/>
              </a:defRPr>
            </a:pPr>
            <a:r>
              <a:rPr sz="1500">
                <a:solidFill>
                  <a:srgbClr val="182B3A"/>
                </a:solidFill>
                <a:latin typeface="DejaVu Sans"/>
                <a:ea typeface="DejaVu Sans"/>
                <a:cs typeface="DejaVu Sans"/>
              </a:rPr>
              <a:t>Use the detailed guides to prepare the architecture, evidence and owner decisions for that single use case.</a:t>
            </a:r>
          </a:p>
        </p:txBody>
      </p:sp>
      <p:sp>
        <p:nvSpPr>
          <p:cNvPr id="15" name="">
            <a:extLst xmlns:a="http://schemas.openxmlformats.org/drawingml/2006/main">
              <a:ext uri="{FF2B5EF4-FFF2-40B4-BE49-F238E27FC236}">
                <a16:creationId xmlns:a16="http://schemas.microsoft.com/office/drawing/2014/main" id="{F8959AA6-5253-4405-B36C-12F4DFDBD22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6" name="">
            <a:extLst xmlns:a="http://schemas.openxmlformats.org/drawingml/2006/main">
              <a:ext uri="{FF2B5EF4-FFF2-40B4-BE49-F238E27FC236}">
                <a16:creationId xmlns:a16="http://schemas.microsoft.com/office/drawing/2014/main" id="{ECABF77A-3B44-4A43-9EE4-8DB8E7D41C8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37</a:t>
            </a:r>
          </a:p>
        </p:txBody>
      </p:sp>
    </p:spTree>
    <p:extLst>
      <p:ext uri="{BB962C8B-B14F-4D97-AF65-F5344CB8AC3E}">
        <p14:creationId xmlns:p14="http://schemas.microsoft.com/office/powerpoint/2010/main" val="4420902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2026-09-09T18:12:03.5130000Z</dcterms:created>
  <dcterms:modified xsi:type="dcterms:W3CDTF">2026-09-09T18:12:03.5130000Z</dcterms:modified>
</coreProperties>
</file>